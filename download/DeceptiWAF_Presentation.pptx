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afternoon everyone. Today I'm presenting DeceptiWAF — a deception-based Web Application Firewall built as our Software Engineering project at Kalyani University. The core idea is simple but powerful: instead of just blocking attackers, we trap them. DeceptiWAF pairs a scoring WAF with a brute-force honeypot that lies "Login Successful" to attackers and serves them a fake dashboard — then watches every move they make on the SOC feed. Over the next ten slides we'll walk through the threat landscape, our deception philosophy, the four-module architecture, the scoring engine, the honeypot flow, the live SOC dashboard, anti-evasion techniques, and our test results. Let's get started.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set the stage. Every public web form is a target. SQL injection, cross-site scripting, and path traversal are automated, scripted, and routinely fired at every endpoint on the internet — and they top the OWASP rankings year after year, with SQLi sitting at number one. Brute-force login attacks are even cheaper: parallel credential stuffing runs cost pennies and hammer auth endpoints around the clock. The numbers tell the rest of the story: eighty-three percent of web apps ship with at least one vulnerability, and the average breach goes undetected for one hundred and seventy-seven days. Traditional WAFs block-and-forget — they drop the request and move on, never learning who is behind it or what they're after. That intelligence gap is exactly what DeceptiWAF was built to close.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philosophy that shapes everything else in this deck. A traditional WAF blocks an attacker and moves on — the attacker simply retries from a new IP, a new payload, a new tool. We don't want that loop. So DeceptiWAF runs a scoring WAF in parallel with a deception honeypot. When a brute-forcer fails three times, the fourth attempt is told "Login Successful" and they're served a fully-rendered fake dashboard with a deterministic fake student profile. They think they're in. Meanwhile, every click, every form submission, every API call they make is streamed live to the SOC dashboard with their IP, geolocation, and fingerprint. Block, trap, and watch — three defenses working together instead of one alone.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DeceptiWAF is built as four cooperating modules, all stitched together by a single Socket.io event bus. Module 1 is the target app — an Express server mimicking the KLY University portal with a login page, student dashboard, and course search. This is the decoy surface attackers actually hit. Module 2 is the WAF middleware: fifty-plus regex rules across SQLi, XSS, path traversal, and malicious user agents, with a scoring engine that blocks when the request score exceeds four. Module 3 is CredShield, the honeypot. It tracks failed logins per IP, arms after three fails, and on the fourth attempt lies "Login Successful" and serves a deterministic fake profile. Module 4 is the SOC dashboard — a real-time feed with IP geolocation, the last five hundred events, top-attacker catalogs, and admin APIs. Every module emits Socket.io events that the SOC consumes 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WAF engine is built around two ideas: scoring and de-obfuscation. First, scoring. Every regex rule carries a point value, and a request's score is just the sum of every rule it triggers. The block threshold is four. This is deliberately forgiving — a single low-score indicator like a double dash in a legitimate comment won't trip the WAF, because real attacks almost always fire multiple high-score rules simultaneously. The table on the left shows this in action: plain UNION SELECT scores four and gets flagged, but adding a SQL comment pushes it to five and triggers a hard block. Second, de-obfuscation. Before any pattern matching runs, the input flows through a five-stage pipeline: triple URL decoding, HTML entity decoding, Unicode NFKC normalization, SQL comment stripping, and only then the fifty-plus rule pattern matcher. Together, these stages defeat eight known evasion techniques — double-encoded payloads, full-width Unicode, inline comments, and more.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CredShield is the heart of DeceptiWAF’s deception strategy. We track failed login attempts per IP address. The first two failures return a normal 401 — exactly what an attacker’s brute-force script expects to see. On the third failure, the honeypot silently arms: we now know this IP is malicious, but we never tell them that. On the fourth attempt, instead of another 401, we lie. We return 200 OK with “Login Successful” and serve a fake dashboard populated with a deterministic fake profile. The attacker thinks they cracked the password — but every click, every form submission, every API call they make is now logged and fingerprinted on the SOC feed. Two design choices matter: deterministic profiles mean the same username always yields the same fake student, so no real user data is ever exposed. And after 30 minutes of inactivity, the trap auto-disarms — so legitimate users sharing a NAT IP aren’t locked out forever.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SOC dashboard is where everything comes together for the defender. Through Socket.io, every WAF block, every brute-force attempt, every honeypot trap surfaces in real time — no refresh needed. Each block event shows the attacker’s IP, the attack family, the score, the matched rules with their point values, and the offending payload. Honeypot traps are highlighted in purple and include the fake identity we served — so admins can verify the deception is working as intended. We resolve every attacker IP through ip-api.com to get city, country, ISP, and a flag emoji, which makes attribution tangible: “this attack came from a datacenter in Ashburn, Virginia” is far more actionable than “10.0.0.7 hit us”. The top-attackers catalog and trapped-attackers panel let admins reset honeypot state on demand. Three admin-only REST APIs expose the same data programmatically.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Naïve WAFs run pattern matching against the raw request body — and attackers know this. They encode payloads to slip past regex. HTML entities like &lt;script&gt; look harmless to a rule looking for the literal &lt;script&gt; tag, so the attack reaches the page. Full-width Unicode characters like ＭＭＲＭ slip past SQL pattern rules. SQL comments like UNION slash-star star-slash SELECT break the contiguous pattern. Double URL-encoding like %2527 hides the apostrophe from a single decode pass. And whitespace padding breaks the literal UNION-SELECT match. Each of these defeats a single-pass WAF. DeceptiWAF’s pipeline runs five normalization layers — decodeURIComponent recursively, decode HTML entities, NFKC Unicode normalize, strip SQL comments, collapse whitespace — before matching. So no matter how the attacker encodes their payload, by the time we run our 50+ regex rules, the payload is in its canonical form and the rule fires.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quantify what we built. The WAF engine ships with over 50 regex rules covering four attack families: SQL injection, cross-site scripting, path traversal, and malicious user agents. The de-obfuscation pipeline defeats eight distinct evasion techniques. Our automated test suite is 28 out of 28 passing — every block rule, every evasion variant, every honeypot transition is verified. We seeded 18 demo users, all passwords SHA-256 hashed. The SOC dashboard caches the last 500 events in an in-memory ring buffer for instant history. And five admin-only REST APIs expose stats, recent events, and honeypot reset. End-to-end, we verified that the WAF blocks every attack family with a 403, the honeypot traps after three failures and lands attackers on /dashboard, fake profiles are deterministic per username, and the live SOC feed shows geo and fingerprinting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for your attention. We’ve walked through how DeceptiWAF combines a scoring WAF with a deception honeypot to not just block attackers — but to trap them. The project is fully running locally, and we’d love to show it live. Three demos are ready: hit /test for the cyber range and fire attacks with one click, log in as admin to see the SOC dashboard with its real-time Socket.io feed, or just brute-force any account four times and watch the honeypot trap spring in real time.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1.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1.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1.xml"/><Relationship Id="rId5"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0" b="0"/>
          <a:stretch/>
        </p:blipFill>
        <p:spPr>
          <a:xfrm>
            <a:off x="0" y="0"/>
            <a:ext cx="9144000" cy="5143500"/>
          </a:xfrm>
          <a:prstGeom prst="rect">
            <a:avLst/>
          </a:prstGeom>
        </p:spPr>
      </p:pic>
      <p:pic>
        <p:nvPicPr>
          <p:cNvPr id="3" name="Image 1" descr="preencoded.png">    </p:cNvPr>
          <p:cNvPicPr>
            <a:picLocks noChangeAspect="1"/>
          </p:cNvPicPr>
          <p:nvPr/>
        </p:nvPicPr>
        <p:blipFill>
          <a:blip r:embed="rId2"/>
          <a:stretch>
            <a:fillRect/>
          </a:stretch>
        </p:blipFill>
        <p:spPr>
          <a:xfrm>
            <a:off x="0" y="0"/>
            <a:ext cx="9144000" cy="5143500"/>
          </a:xfrm>
          <a:prstGeom prst="rect">
            <a:avLst/>
          </a:prstGeom>
        </p:spPr>
      </p:pic>
      <p:pic>
        <p:nvPicPr>
          <p:cNvPr id="4" name="Image 2" descr="preencoded.png">    </p:cNvPr>
          <p:cNvPicPr>
            <a:picLocks noChangeAspect="1"/>
          </p:cNvPicPr>
          <p:nvPr/>
        </p:nvPicPr>
        <p:blipFill>
          <a:blip r:embed="rId3"/>
          <a:stretch>
            <a:fillRect/>
          </a:stretch>
        </p:blipFill>
        <p:spPr>
          <a:xfrm>
            <a:off x="-914400" y="-914400"/>
            <a:ext cx="2743200" cy="2743200"/>
          </a:xfrm>
          <a:prstGeom prst="rect">
            <a:avLst/>
          </a:prstGeom>
        </p:spPr>
      </p:pic>
      <p:sp>
        <p:nvSpPr>
          <p:cNvPr id="5" name="Text 0"/>
          <p:cNvSpPr/>
          <p:nvPr/>
        </p:nvSpPr>
        <p:spPr>
          <a:xfrm>
            <a:off x="-914400" y="-914400"/>
            <a:ext cx="2743200" cy="2743200"/>
          </a:xfrm>
          <a:prstGeom prst="roundRect">
            <a:avLst>
              <a:gd name="adj" fmla="val 3471875"/>
            </a:avLst>
          </a:prstGeom>
          <a:solidFill>
            <a:srgbClr val="FFFFFF">
              <a:alpha val="0"/>
            </a:srgbClr>
          </a:solidFill>
          <a:ln/>
        </p:spPr>
        <p:txBody>
          <a:bodyPr wrap="square" rtlCol="0" anchor="ctr"/>
          <a:lstStyle/>
          <a:p>
            <a:pPr indent="0" marL="0">
              <a:buNone/>
            </a:pPr>
            <a:endParaRPr lang="en-US" dirty="0"/>
          </a:p>
        </p:txBody>
      </p:sp>
      <p:pic>
        <p:nvPicPr>
          <p:cNvPr id="6" name="Image 3" descr="preencoded.png">    </p:cNvPr>
          <p:cNvPicPr>
            <a:picLocks noChangeAspect="1"/>
          </p:cNvPicPr>
          <p:nvPr/>
        </p:nvPicPr>
        <p:blipFill>
          <a:blip r:embed="rId4"/>
          <a:stretch>
            <a:fillRect/>
          </a:stretch>
        </p:blipFill>
        <p:spPr>
          <a:xfrm>
            <a:off x="7086600" y="3086100"/>
            <a:ext cx="3200400" cy="3200400"/>
          </a:xfrm>
          <a:prstGeom prst="rect">
            <a:avLst/>
          </a:prstGeom>
        </p:spPr>
      </p:pic>
      <p:sp>
        <p:nvSpPr>
          <p:cNvPr id="7" name="Text 1"/>
          <p:cNvSpPr/>
          <p:nvPr/>
        </p:nvSpPr>
        <p:spPr>
          <a:xfrm>
            <a:off x="7086600" y="3086100"/>
            <a:ext cx="3200400" cy="3200400"/>
          </a:xfrm>
          <a:prstGeom prst="roundRect">
            <a:avLst>
              <a:gd name="adj" fmla="val 2975893"/>
            </a:avLst>
          </a:prstGeom>
          <a:solidFill>
            <a:srgbClr val="FFFFFF">
              <a:alpha val="0"/>
            </a:srgbClr>
          </a:solidFill>
          <a:ln/>
        </p:spPr>
        <p:txBody>
          <a:bodyPr wrap="square" rtlCol="0" anchor="ctr"/>
          <a:lstStyle/>
          <a:p>
            <a:pPr indent="0" marL="0">
              <a:buNone/>
            </a:pPr>
            <a:endParaRPr lang="en-US" dirty="0"/>
          </a:p>
        </p:txBody>
      </p:sp>
      <p:sp>
        <p:nvSpPr>
          <p:cNvPr id="8" name="Text 2"/>
          <p:cNvSpPr/>
          <p:nvPr/>
        </p:nvSpPr>
        <p:spPr>
          <a:xfrm>
            <a:off x="8601075" y="200025"/>
            <a:ext cx="342900" cy="342900"/>
          </a:xfrm>
          <a:prstGeom prst="roundRect">
            <a:avLst>
              <a:gd name="adj" fmla="val 27775000"/>
            </a:avLst>
          </a:prstGeom>
          <a:solidFill>
            <a:srgbClr val="EDE9FE"/>
          </a:solidFill>
          <a:ln/>
        </p:spPr>
        <p:txBody>
          <a:bodyPr wrap="square" rtlCol="0" anchor="ctr"/>
          <a:lstStyle/>
          <a:p>
            <a:pPr indent="0" marL="0">
              <a:buNone/>
            </a:pPr>
            <a:endParaRPr lang="en-US" dirty="0"/>
          </a:p>
        </p:txBody>
      </p:sp>
      <p:sp>
        <p:nvSpPr>
          <p:cNvPr id="9" name="Text 3"/>
          <p:cNvSpPr/>
          <p:nvPr/>
        </p:nvSpPr>
        <p:spPr>
          <a:xfrm>
            <a:off x="8627507" y="226457"/>
            <a:ext cx="290036" cy="290036"/>
          </a:xfrm>
          <a:prstGeom prst="rect">
            <a:avLst/>
          </a:prstGeom>
          <a:noFill/>
          <a:ln/>
        </p:spPr>
        <p:txBody>
          <a:bodyPr wrap="none" lIns="0" tIns="0" rIns="0" bIns="0" rtlCol="0" anchor="ctr"/>
          <a:lstStyle/>
          <a:p>
            <a:pPr algn="ctr" indent="0" marL="0">
              <a:buNone/>
            </a:pPr>
            <a:r>
              <a:rPr lang="en-US" sz="1969" dirty="0">
                <a:solidFill>
                  <a:srgbClr val="7C3AED"/>
                </a:solidFill>
                <a:latin typeface="Segoe UI Symbol" pitchFamily="34" charset="0"/>
                <a:ea typeface="Segoe UI Symbol" pitchFamily="34" charset="-122"/>
                <a:cs typeface="Segoe UI Symbol" pitchFamily="34" charset="-120"/>
              </a:rPr>
              <a:t>⛨</a:t>
            </a:r>
            <a:endParaRPr lang="en-US" sz="1969" dirty="0"/>
          </a:p>
        </p:txBody>
      </p:sp>
      <p:sp>
        <p:nvSpPr>
          <p:cNvPr id="10" name="Text 4"/>
          <p:cNvSpPr/>
          <p:nvPr/>
        </p:nvSpPr>
        <p:spPr>
          <a:xfrm>
            <a:off x="3727028" y="1356978"/>
            <a:ext cx="1689943" cy="175022"/>
          </a:xfrm>
          <a:prstGeom prst="roundRect">
            <a:avLst>
              <a:gd name="adj" fmla="val 5436731"/>
            </a:avLst>
          </a:prstGeom>
          <a:solidFill>
            <a:srgbClr val="EDE9FE"/>
          </a:solidFill>
          <a:ln/>
        </p:spPr>
        <p:txBody>
          <a:bodyPr wrap="square" rtlCol="0" anchor="ctr"/>
          <a:lstStyle/>
          <a:p>
            <a:pPr indent="0" marL="0">
              <a:buNone/>
            </a:pPr>
            <a:endParaRPr lang="en-US" dirty="0"/>
          </a:p>
        </p:txBody>
      </p:sp>
      <p:sp>
        <p:nvSpPr>
          <p:cNvPr id="11" name="Text 5"/>
          <p:cNvSpPr/>
          <p:nvPr/>
        </p:nvSpPr>
        <p:spPr>
          <a:xfrm>
            <a:off x="3727028" y="1356978"/>
            <a:ext cx="1689943" cy="244394"/>
          </a:xfrm>
          <a:prstGeom prst="rect">
            <a:avLst/>
          </a:prstGeom>
          <a:noFill/>
          <a:ln/>
        </p:spPr>
        <p:txBody>
          <a:bodyPr wrap="none" lIns="85725" tIns="28575" rIns="85725" bIns="28575" rtlCol="0" anchor="t"/>
          <a:lstStyle/>
          <a:p>
            <a:pPr algn="ctr" indent="0" marL="0">
              <a:lnSpc>
                <a:spcPts val="928"/>
              </a:lnSpc>
              <a:buNone/>
            </a:pPr>
            <a:r>
              <a:rPr lang="en-US" sz="619" spc="25" kern="0" dirty="0">
                <a:solidFill>
                  <a:srgbClr val="7C3AED"/>
                </a:solidFill>
                <a:latin typeface="Liberation Sans Narrow" pitchFamily="34" charset="0"/>
                <a:ea typeface="Liberation Sans Narrow" pitchFamily="34" charset="-122"/>
                <a:cs typeface="Liberation Sans Narrow" pitchFamily="34" charset="-120"/>
              </a:rPr>
              <a:t>CYBERSECURITY PROJECT · 2025</a:t>
            </a:r>
            <a:endParaRPr lang="en-US" sz="619" dirty="0"/>
          </a:p>
        </p:txBody>
      </p:sp>
      <p:sp>
        <p:nvSpPr>
          <p:cNvPr id="12" name="Text 6"/>
          <p:cNvSpPr/>
          <p:nvPr/>
        </p:nvSpPr>
        <p:spPr>
          <a:xfrm>
            <a:off x="274320" y="1760600"/>
            <a:ext cx="8595360" cy="678942"/>
          </a:xfrm>
          <a:prstGeom prst="rect">
            <a:avLst/>
          </a:prstGeom>
          <a:noFill/>
          <a:ln/>
        </p:spPr>
        <p:txBody>
          <a:bodyPr wrap="none" lIns="0" tIns="0" rIns="0" bIns="0" rtlCol="0" anchor="t"/>
          <a:lstStyle/>
          <a:p>
            <a:pPr algn="ctr" indent="0" marL="0">
              <a:lnSpc>
                <a:spcPts val="4950"/>
              </a:lnSpc>
              <a:buNone/>
            </a:pPr>
            <a:r>
              <a:rPr lang="en-US" sz="4950" b="1" spc="-173" kern="0" dirty="0">
                <a:solidFill>
                  <a:srgbClr val="7C3AED"/>
                </a:solidFill>
                <a:latin typeface="Carlito" pitchFamily="34" charset="0"/>
                <a:ea typeface="Carlito" pitchFamily="34" charset="-122"/>
                <a:cs typeface="Carlito" pitchFamily="34" charset="-120"/>
              </a:rPr>
              <a:t>DeceptiWAF</a:t>
            </a:r>
            <a:endParaRPr lang="en-US" sz="4950" dirty="0"/>
          </a:p>
        </p:txBody>
      </p:sp>
      <p:sp>
        <p:nvSpPr>
          <p:cNvPr id="13" name="Text 7"/>
          <p:cNvSpPr/>
          <p:nvPr/>
        </p:nvSpPr>
        <p:spPr>
          <a:xfrm>
            <a:off x="1428750" y="2560700"/>
            <a:ext cx="6286500" cy="583225"/>
          </a:xfrm>
          <a:prstGeom prst="rect">
            <a:avLst/>
          </a:prstGeom>
          <a:noFill/>
          <a:ln/>
        </p:spPr>
        <p:txBody>
          <a:bodyPr wrap="square" lIns="0" tIns="0" rIns="0" bIns="0" rtlCol="0" anchor="t"/>
          <a:lstStyle/>
          <a:p>
            <a:pPr algn="ctr" indent="0" marL="0">
              <a:lnSpc>
                <a:spcPts val="2126"/>
              </a:lnSpc>
              <a:buNone/>
            </a:pPr>
            <a:r>
              <a:rPr lang="en-US" sz="1575" dirty="0">
                <a:solidFill>
                  <a:srgbClr val="475569"/>
                </a:solidFill>
                <a:latin typeface="Carlito" pitchFamily="34" charset="0"/>
                <a:ea typeface="Carlito" pitchFamily="34" charset="-122"/>
                <a:cs typeface="Carlito" pitchFamily="34" charset="-120"/>
              </a:rPr>
              <a:t>A Deception-Based Web Application Firewall with Brute-Force Honeypot</a:t>
            </a:r>
            <a:endParaRPr lang="en-US" sz="1575" dirty="0"/>
          </a:p>
        </p:txBody>
      </p:sp>
      <p:sp>
        <p:nvSpPr>
          <p:cNvPr id="14" name="Text 8"/>
          <p:cNvSpPr/>
          <p:nvPr/>
        </p:nvSpPr>
        <p:spPr>
          <a:xfrm>
            <a:off x="3343721" y="3345096"/>
            <a:ext cx="723751" cy="304209"/>
          </a:xfrm>
          <a:prstGeom prst="roundRect">
            <a:avLst>
              <a:gd name="adj" fmla="val 31307580"/>
            </a:avLst>
          </a:prstGeom>
          <a:solidFill>
            <a:srgbClr val="FFFFFF"/>
          </a:solidFill>
          <a:ln w="7144">
            <a:solidFill>
              <a:srgbClr val="DDD6FE"/>
            </a:solidFill>
            <a:prstDash val="solid"/>
          </a:ln>
        </p:spPr>
        <p:txBody>
          <a:bodyPr wrap="square" rtlCol="0" anchor="ctr"/>
          <a:lstStyle/>
          <a:p>
            <a:pPr indent="0" marL="0">
              <a:buNone/>
            </a:pPr>
            <a:endParaRPr lang="en-US" dirty="0"/>
          </a:p>
        </p:txBody>
      </p:sp>
      <p:sp>
        <p:nvSpPr>
          <p:cNvPr id="15" name="Text 9"/>
          <p:cNvSpPr/>
          <p:nvPr/>
        </p:nvSpPr>
        <p:spPr>
          <a:xfrm>
            <a:off x="3343721" y="3357897"/>
            <a:ext cx="723751" cy="278606"/>
          </a:xfrm>
          <a:prstGeom prst="rect">
            <a:avLst/>
          </a:prstGeom>
          <a:noFill/>
          <a:ln/>
        </p:spPr>
        <p:txBody>
          <a:bodyPr wrap="none" lIns="0" tIns="0" rIns="0" bIns="0" rtlCol="0" anchor="ctr"/>
          <a:lstStyle/>
          <a:p>
            <a:pPr algn="ctr" indent="0" marL="0">
              <a:lnSpc>
                <a:spcPts val="1181"/>
              </a:lnSpc>
              <a:buNone/>
            </a:pPr>
            <a:r>
              <a:rPr lang="en-US" sz="800" dirty="0">
                <a:solidFill>
                  <a:srgbClr val="7C3AED"/>
                </a:solidFill>
                <a:latin typeface="Carlito" pitchFamily="34" charset="0"/>
                <a:ea typeface="Carlito" pitchFamily="34" charset="-122"/>
                <a:cs typeface="Carlito" pitchFamily="34" charset="-120"/>
              </a:rPr>
              <a:t>Node.js</a:t>
            </a:r>
            <a:endParaRPr lang="en-US" sz="800" dirty="0"/>
          </a:p>
        </p:txBody>
      </p:sp>
      <p:sp>
        <p:nvSpPr>
          <p:cNvPr id="16" name="Text 10"/>
          <p:cNvSpPr/>
          <p:nvPr/>
        </p:nvSpPr>
        <p:spPr>
          <a:xfrm>
            <a:off x="4153198" y="3345096"/>
            <a:ext cx="740718" cy="304209"/>
          </a:xfrm>
          <a:prstGeom prst="roundRect">
            <a:avLst>
              <a:gd name="adj" fmla="val 31307580"/>
            </a:avLst>
          </a:prstGeom>
          <a:solidFill>
            <a:srgbClr val="FFFFFF"/>
          </a:solidFill>
          <a:ln w="7144">
            <a:solidFill>
              <a:srgbClr val="DDD6FE"/>
            </a:solidFill>
            <a:prstDash val="solid"/>
          </a:ln>
        </p:spPr>
        <p:txBody>
          <a:bodyPr wrap="square" rtlCol="0" anchor="ctr"/>
          <a:lstStyle/>
          <a:p>
            <a:pPr indent="0" marL="0">
              <a:buNone/>
            </a:pPr>
            <a:endParaRPr lang="en-US" dirty="0"/>
          </a:p>
        </p:txBody>
      </p:sp>
      <p:sp>
        <p:nvSpPr>
          <p:cNvPr id="17" name="Text 11"/>
          <p:cNvSpPr/>
          <p:nvPr/>
        </p:nvSpPr>
        <p:spPr>
          <a:xfrm>
            <a:off x="4153198" y="3357897"/>
            <a:ext cx="740718" cy="278606"/>
          </a:xfrm>
          <a:prstGeom prst="rect">
            <a:avLst/>
          </a:prstGeom>
          <a:noFill/>
          <a:ln/>
        </p:spPr>
        <p:txBody>
          <a:bodyPr wrap="none" lIns="0" tIns="0" rIns="0" bIns="0" rtlCol="0" anchor="ctr"/>
          <a:lstStyle/>
          <a:p>
            <a:pPr algn="ctr" indent="0" marL="0">
              <a:lnSpc>
                <a:spcPts val="1181"/>
              </a:lnSpc>
              <a:buNone/>
            </a:pPr>
            <a:r>
              <a:rPr lang="en-US" sz="800" dirty="0">
                <a:solidFill>
                  <a:srgbClr val="7C3AED"/>
                </a:solidFill>
                <a:latin typeface="Carlito" pitchFamily="34" charset="0"/>
                <a:ea typeface="Carlito" pitchFamily="34" charset="-122"/>
                <a:cs typeface="Carlito" pitchFamily="34" charset="-120"/>
              </a:rPr>
              <a:t>Express</a:t>
            </a:r>
            <a:endParaRPr lang="en-US" sz="800" dirty="0"/>
          </a:p>
        </p:txBody>
      </p:sp>
      <p:sp>
        <p:nvSpPr>
          <p:cNvPr id="18" name="Text 12"/>
          <p:cNvSpPr/>
          <p:nvPr/>
        </p:nvSpPr>
        <p:spPr>
          <a:xfrm>
            <a:off x="4979640" y="3345096"/>
            <a:ext cx="820527" cy="304209"/>
          </a:xfrm>
          <a:prstGeom prst="roundRect">
            <a:avLst>
              <a:gd name="adj" fmla="val 31307580"/>
            </a:avLst>
          </a:prstGeom>
          <a:solidFill>
            <a:srgbClr val="FFFFFF"/>
          </a:solidFill>
          <a:ln w="7144">
            <a:solidFill>
              <a:srgbClr val="DDD6FE"/>
            </a:solidFill>
            <a:prstDash val="solid"/>
          </a:ln>
        </p:spPr>
        <p:txBody>
          <a:bodyPr wrap="square" rtlCol="0" anchor="ctr"/>
          <a:lstStyle/>
          <a:p>
            <a:pPr indent="0" marL="0">
              <a:buNone/>
            </a:pPr>
            <a:endParaRPr lang="en-US" dirty="0"/>
          </a:p>
        </p:txBody>
      </p:sp>
      <p:sp>
        <p:nvSpPr>
          <p:cNvPr id="19" name="Text 13"/>
          <p:cNvSpPr/>
          <p:nvPr/>
        </p:nvSpPr>
        <p:spPr>
          <a:xfrm>
            <a:off x="4979640" y="3357897"/>
            <a:ext cx="820527" cy="278606"/>
          </a:xfrm>
          <a:prstGeom prst="rect">
            <a:avLst/>
          </a:prstGeom>
          <a:noFill/>
          <a:ln/>
        </p:spPr>
        <p:txBody>
          <a:bodyPr wrap="none" lIns="0" tIns="0" rIns="0" bIns="0" rtlCol="0" anchor="ctr"/>
          <a:lstStyle/>
          <a:p>
            <a:pPr algn="ctr" indent="0" marL="0">
              <a:lnSpc>
                <a:spcPts val="1181"/>
              </a:lnSpc>
              <a:buNone/>
            </a:pPr>
            <a:r>
              <a:rPr lang="en-US" sz="800" dirty="0">
                <a:solidFill>
                  <a:srgbClr val="7C3AED"/>
                </a:solidFill>
                <a:latin typeface="Carlito" pitchFamily="34" charset="0"/>
                <a:ea typeface="Carlito" pitchFamily="34" charset="-122"/>
                <a:cs typeface="Carlito" pitchFamily="34" charset="-120"/>
              </a:rPr>
              <a:t>Socket.io</a:t>
            </a:r>
            <a:endParaRPr lang="en-US" sz="800" dirty="0"/>
          </a:p>
        </p:txBody>
      </p:sp>
      <p:sp>
        <p:nvSpPr>
          <p:cNvPr id="20" name="Text 14"/>
          <p:cNvSpPr/>
          <p:nvPr/>
        </p:nvSpPr>
        <p:spPr>
          <a:xfrm>
            <a:off x="457200" y="4593431"/>
            <a:ext cx="8229600" cy="164592"/>
          </a:xfrm>
          <a:prstGeom prst="rect">
            <a:avLst/>
          </a:prstGeom>
          <a:noFill/>
          <a:ln/>
        </p:spPr>
        <p:txBody>
          <a:bodyPr wrap="square" lIns="0" tIns="0" rIns="0" bIns="0" rtlCol="0" anchor="t"/>
          <a:lstStyle/>
          <a:p>
            <a:pPr algn="ctr" indent="0" marL="0">
              <a:lnSpc>
                <a:spcPts val="1181"/>
              </a:lnSpc>
              <a:buNone/>
            </a:pPr>
            <a:r>
              <a:rPr lang="en-US" sz="800" dirty="0">
                <a:solidFill>
                  <a:srgbClr val="64748B"/>
                </a:solidFill>
                <a:latin typeface="Carlito" pitchFamily="34" charset="0"/>
                <a:ea typeface="Carlito" pitchFamily="34" charset="-122"/>
                <a:cs typeface="Carlito" pitchFamily="34" charset="-120"/>
              </a:rPr>
              <a:t>Kalyani University · Software Engineering Project</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0" b="0"/>
          <a:stretch/>
        </p:blipFill>
        <p:spPr>
          <a:xfrm>
            <a:off x="0" y="0"/>
            <a:ext cx="9144000" cy="5143500"/>
          </a:xfrm>
          <a:prstGeom prst="rect">
            <a:avLst/>
          </a:prstGeom>
        </p:spPr>
      </p:pic>
      <p:pic>
        <p:nvPicPr>
          <p:cNvPr id="3" name="Image 1" descr="preencoded.png">    </p:cNvPr>
          <p:cNvPicPr>
            <a:picLocks noChangeAspect="1"/>
          </p:cNvPicPr>
          <p:nvPr/>
        </p:nvPicPr>
        <p:blipFill>
          <a:blip r:embed="rId2"/>
          <a:stretch>
            <a:fillRect/>
          </a:stretch>
        </p:blipFill>
        <p:spPr>
          <a:xfrm>
            <a:off x="0" y="0"/>
            <a:ext cx="9144000" cy="5143500"/>
          </a:xfrm>
          <a:prstGeom prst="rect">
            <a:avLst/>
          </a:prstGeom>
        </p:spPr>
      </p:pic>
      <p:sp>
        <p:nvSpPr>
          <p:cNvPr id="4" name="Text 0"/>
          <p:cNvSpPr/>
          <p:nvPr/>
        </p:nvSpPr>
        <p:spPr>
          <a:xfrm>
            <a:off x="8629650" y="200025"/>
            <a:ext cx="314325" cy="314325"/>
          </a:xfrm>
          <a:prstGeom prst="roundRect">
            <a:avLst>
              <a:gd name="adj" fmla="val 30300000"/>
            </a:avLst>
          </a:prstGeom>
          <a:solidFill>
            <a:srgbClr val="EDE9FE"/>
          </a:solidFill>
          <a:ln/>
        </p:spPr>
        <p:txBody>
          <a:bodyPr wrap="square" rtlCol="0" anchor="ctr"/>
          <a:lstStyle/>
          <a:p>
            <a:pPr indent="0" marL="0">
              <a:buNone/>
            </a:pPr>
            <a:endParaRPr lang="en-US" dirty="0"/>
          </a:p>
        </p:txBody>
      </p:sp>
      <p:sp>
        <p:nvSpPr>
          <p:cNvPr id="5" name="Text 1"/>
          <p:cNvSpPr/>
          <p:nvPr/>
        </p:nvSpPr>
        <p:spPr>
          <a:xfrm>
            <a:off x="8662511" y="232886"/>
            <a:ext cx="248602" cy="248602"/>
          </a:xfrm>
          <a:prstGeom prst="rect">
            <a:avLst/>
          </a:prstGeom>
          <a:noFill/>
          <a:ln/>
        </p:spPr>
        <p:txBody>
          <a:bodyPr wrap="none" lIns="0" tIns="0" rIns="0" bIns="0" rtlCol="0" anchor="ctr"/>
          <a:lstStyle/>
          <a:p>
            <a:pPr algn="ctr" indent="0" marL="0">
              <a:buNone/>
            </a:pPr>
            <a:r>
              <a:rPr lang="en-US" sz="1688" dirty="0">
                <a:solidFill>
                  <a:srgbClr val="7C3AED"/>
                </a:solidFill>
                <a:latin typeface="Segoe UI Symbol" pitchFamily="34" charset="0"/>
                <a:ea typeface="Segoe UI Symbol" pitchFamily="34" charset="-122"/>
                <a:cs typeface="Segoe UI Symbol" pitchFamily="34" charset="-120"/>
              </a:rPr>
              <a:t>⛨</a:t>
            </a:r>
            <a:endParaRPr lang="en-US" sz="1688" dirty="0"/>
          </a:p>
        </p:txBody>
      </p:sp>
      <p:sp>
        <p:nvSpPr>
          <p:cNvPr id="6" name="Text 2"/>
          <p:cNvSpPr/>
          <p:nvPr/>
        </p:nvSpPr>
        <p:spPr>
          <a:xfrm>
            <a:off x="434340" y="1620841"/>
            <a:ext cx="878971" cy="196025"/>
          </a:xfrm>
          <a:prstGeom prst="roundRect">
            <a:avLst>
              <a:gd name="adj" fmla="val 4854215"/>
            </a:avLst>
          </a:prstGeom>
          <a:solidFill>
            <a:srgbClr val="FFE4E6"/>
          </a:solidFill>
          <a:ln/>
        </p:spPr>
        <p:txBody>
          <a:bodyPr wrap="square" rtlCol="0" anchor="ctr"/>
          <a:lstStyle/>
          <a:p>
            <a:pPr indent="0" marL="0">
              <a:buNone/>
            </a:pPr>
            <a:endParaRPr lang="en-US" dirty="0"/>
          </a:p>
        </p:txBody>
      </p:sp>
      <p:sp>
        <p:nvSpPr>
          <p:cNvPr id="7" name="Text 3"/>
          <p:cNvSpPr/>
          <p:nvPr/>
        </p:nvSpPr>
        <p:spPr>
          <a:xfrm>
            <a:off x="457200" y="1631342"/>
            <a:ext cx="833251" cy="175022"/>
          </a:xfrm>
          <a:prstGeom prst="rect">
            <a:avLst/>
          </a:prstGeom>
          <a:noFill/>
          <a:ln/>
        </p:spPr>
        <p:txBody>
          <a:bodyPr wrap="none" lIns="0" tIns="0" rIns="0" bIns="0" rtlCol="0" anchor="ctr"/>
          <a:lstStyle/>
          <a:p>
            <a:pPr algn="ctr" indent="0" marL="0">
              <a:lnSpc>
                <a:spcPts val="928"/>
              </a:lnSpc>
              <a:buNone/>
            </a:pPr>
            <a:r>
              <a:rPr lang="en-US" sz="800" spc="25" kern="0" dirty="0">
                <a:solidFill>
                  <a:srgbClr val="BE123C"/>
                </a:solidFill>
                <a:latin typeface="Carlito" pitchFamily="34" charset="0"/>
                <a:ea typeface="Carlito" pitchFamily="34" charset="-122"/>
                <a:cs typeface="Carlito" pitchFamily="34" charset="-120"/>
              </a:rPr>
              <a:t>THE PROBLEM</a:t>
            </a:r>
            <a:endParaRPr lang="en-US" sz="800" dirty="0"/>
          </a:p>
        </p:txBody>
      </p:sp>
      <p:sp>
        <p:nvSpPr>
          <p:cNvPr id="8" name="Text 4"/>
          <p:cNvSpPr/>
          <p:nvPr/>
        </p:nvSpPr>
        <p:spPr>
          <a:xfrm>
            <a:off x="457200" y="1920664"/>
            <a:ext cx="5149650" cy="638678"/>
          </a:xfrm>
          <a:prstGeom prst="rect">
            <a:avLst/>
          </a:prstGeom>
          <a:noFill/>
          <a:ln/>
        </p:spPr>
        <p:txBody>
          <a:bodyPr wrap="square" lIns="0" tIns="0" rIns="0" bIns="0" rtlCol="0" anchor="t"/>
          <a:lstStyle/>
          <a:p>
            <a:pPr algn="l" indent="0" marL="0">
              <a:lnSpc>
                <a:spcPts val="2329"/>
              </a:lnSpc>
              <a:buNone/>
            </a:pPr>
            <a:r>
              <a:rPr lang="en-US" sz="2025" b="1" spc="-30" kern="0" dirty="0">
                <a:solidFill>
                  <a:srgbClr val="1E293B"/>
                </a:solidFill>
                <a:latin typeface="Carlito" pitchFamily="34" charset="0"/>
                <a:ea typeface="Carlito" pitchFamily="34" charset="-122"/>
                <a:cs typeface="Carlito" pitchFamily="34" charset="-120"/>
              </a:rPr>
              <a:t>Web apps face relentless automated attacks</a:t>
            </a:r>
            <a:endParaRPr lang="en-US" sz="2025" dirty="0"/>
          </a:p>
        </p:txBody>
      </p:sp>
      <p:sp>
        <p:nvSpPr>
          <p:cNvPr id="9" name="Text 5"/>
          <p:cNvSpPr/>
          <p:nvPr/>
        </p:nvSpPr>
        <p:spPr>
          <a:xfrm>
            <a:off x="457200" y="2712058"/>
            <a:ext cx="4681500" cy="848106"/>
          </a:xfrm>
          <a:prstGeom prst="rect">
            <a:avLst/>
          </a:prstGeom>
          <a:noFill/>
          <a:ln/>
        </p:spPr>
        <p:txBody>
          <a:bodyPr wrap="square" lIns="0" tIns="0" rIns="0" bIns="0" rtlCol="0" anchor="t"/>
          <a:lstStyle/>
          <a:p>
            <a:pPr algn="l" marL="342900" indent="-342900">
              <a:lnSpc>
                <a:spcPts val="1350"/>
              </a:lnSpc>
              <a:buSzPct val="100000"/>
              <a:buChar char="•"/>
            </a:pPr>
            <a:r>
              <a:rPr lang="en-US" sz="900" dirty="0">
                <a:solidFill>
                  <a:srgbClr val="1E1932"/>
                </a:solidFill>
                <a:latin typeface="Carlito" pitchFamily="34" charset="0"/>
                <a:ea typeface="Carlito" pitchFamily="34" charset="-122"/>
                <a:cs typeface="Carlito" pitchFamily="34" charset="-120"/>
              </a:rPr>
              <a:t>✦ SQL injection, XSS, and path traversal target every web form</a:t>
            </a:r>
            <a:endParaRPr lang="en-US" sz="900" dirty="0"/>
          </a:p>
          <a:p>
            <a:pPr algn="l" marL="342900" indent="-342900">
              <a:lnSpc>
                <a:spcPts val="1350"/>
              </a:lnSpc>
              <a:buSzPct val="100000"/>
              <a:buChar char="•"/>
            </a:pPr>
            <a:r>
              <a:rPr lang="en-US" sz="900" dirty="0">
                <a:solidFill>
                  <a:srgbClr val="1E1932"/>
                </a:solidFill>
                <a:latin typeface="Carlito" pitchFamily="34" charset="0"/>
                <a:ea typeface="Carlito" pitchFamily="34" charset="-122"/>
                <a:cs typeface="Carlito" pitchFamily="34" charset="-120"/>
              </a:rPr>
              <a:t>◯ Brute-force login attacks are automated, parallel, and cheap to run</a:t>
            </a:r>
            <a:endParaRPr lang="en-US" sz="900" dirty="0"/>
          </a:p>
          <a:p>
            <a:pPr algn="l" marL="342900" indent="-342900">
              <a:lnSpc>
                <a:spcPts val="1350"/>
              </a:lnSpc>
              <a:buSzPct val="100000"/>
              <a:buChar char="•"/>
            </a:pPr>
            <a:r>
              <a:rPr lang="en-US" sz="900" dirty="0">
                <a:solidFill>
                  <a:srgbClr val="1E1932"/>
                </a:solidFill>
                <a:latin typeface="Carlito" pitchFamily="34" charset="0"/>
                <a:ea typeface="Carlito" pitchFamily="34" charset="-122"/>
                <a:cs typeface="Carlito" pitchFamily="34" charset="-120"/>
              </a:rPr>
              <a:t>⊘ Traditional WAFs block-and-forget — they never learn who the attacker is</a:t>
            </a:r>
            <a:endParaRPr lang="en-US" sz="900" dirty="0"/>
          </a:p>
        </p:txBody>
      </p:sp>
      <p:sp>
        <p:nvSpPr>
          <p:cNvPr id="10" name="Text 6"/>
          <p:cNvSpPr/>
          <p:nvPr/>
        </p:nvSpPr>
        <p:spPr>
          <a:xfrm>
            <a:off x="5428022" y="1243794"/>
            <a:ext cx="3255094" cy="804342"/>
          </a:xfrm>
          <a:prstGeom prst="roundRect">
            <a:avLst>
              <a:gd name="adj" fmla="val 18947"/>
            </a:avLst>
          </a:prstGeom>
          <a:solidFill>
            <a:srgbClr val="FFFFFF"/>
          </a:solidFill>
          <a:ln w="7144">
            <a:solidFill>
              <a:srgbClr val="7C3AED"/>
            </a:solidFill>
            <a:prstDash val="solid"/>
          </a:ln>
          <a:effectLst>
            <a:outerShdw sx="100000" sy="100000" kx="0" ky="0" algn="bl" rotWithShape="0" blurRad="114300" dist="19050" dir="5400000">
              <a:srgbClr val="7C3AED">
                <a:alpha val="6000"/>
              </a:srgbClr>
            </a:outerShdw>
          </a:effectLst>
        </p:spPr>
        <p:txBody>
          <a:bodyPr wrap="square" rtlCol="0" anchor="ctr"/>
          <a:lstStyle/>
          <a:p>
            <a:pPr indent="0" marL="0">
              <a:buNone/>
            </a:pPr>
            <a:endParaRPr lang="en-US" dirty="0"/>
          </a:p>
        </p:txBody>
      </p:sp>
      <p:sp>
        <p:nvSpPr>
          <p:cNvPr id="11" name="Text 7"/>
          <p:cNvSpPr/>
          <p:nvPr/>
        </p:nvSpPr>
        <p:spPr>
          <a:xfrm>
            <a:off x="5574469" y="1390241"/>
            <a:ext cx="2962201" cy="339471"/>
          </a:xfrm>
          <a:prstGeom prst="rect">
            <a:avLst/>
          </a:prstGeom>
          <a:noFill/>
          <a:ln/>
        </p:spPr>
        <p:txBody>
          <a:bodyPr wrap="none" lIns="0" tIns="0" rIns="0" bIns="0" rtlCol="0" anchor="t"/>
          <a:lstStyle/>
          <a:p>
            <a:pPr algn="l" indent="0" marL="0">
              <a:lnSpc>
                <a:spcPts val="2475"/>
              </a:lnSpc>
              <a:buNone/>
            </a:pPr>
            <a:r>
              <a:rPr lang="en-US" sz="2475" b="1" dirty="0">
                <a:solidFill>
                  <a:srgbClr val="7C3AED"/>
                </a:solidFill>
                <a:latin typeface="Liberation Sans Narrow" pitchFamily="34" charset="0"/>
                <a:ea typeface="Liberation Sans Narrow" pitchFamily="34" charset="-122"/>
                <a:cs typeface="Liberation Sans Narrow" pitchFamily="34" charset="-120"/>
              </a:rPr>
              <a:t>83%</a:t>
            </a:r>
            <a:endParaRPr lang="en-US" sz="2475" dirty="0"/>
          </a:p>
        </p:txBody>
      </p:sp>
      <p:sp>
        <p:nvSpPr>
          <p:cNvPr id="12" name="Text 8"/>
          <p:cNvSpPr/>
          <p:nvPr/>
        </p:nvSpPr>
        <p:spPr>
          <a:xfrm>
            <a:off x="5574469" y="1761716"/>
            <a:ext cx="3071929" cy="139973"/>
          </a:xfrm>
          <a:prstGeom prst="rect">
            <a:avLst/>
          </a:prstGeom>
          <a:noFill/>
          <a:ln/>
        </p:spPr>
        <p:txBody>
          <a:bodyPr wrap="square" lIns="0" tIns="0" rIns="0" bIns="0" rtlCol="0" anchor="t"/>
          <a:lstStyle/>
          <a:p>
            <a:pPr algn="l" indent="0" marL="0">
              <a:lnSpc>
                <a:spcPts val="1103"/>
              </a:lnSpc>
              <a:buNone/>
            </a:pPr>
            <a:r>
              <a:rPr lang="en-US" sz="800" dirty="0">
                <a:solidFill>
                  <a:srgbClr val="475569"/>
                </a:solidFill>
                <a:latin typeface="Carlito" pitchFamily="34" charset="0"/>
                <a:ea typeface="Carlito" pitchFamily="34" charset="-122"/>
                <a:cs typeface="Carlito" pitchFamily="34" charset="-120"/>
              </a:rPr>
              <a:t>of web apps have vulnerabilities (OWASP)</a:t>
            </a:r>
            <a:endParaRPr lang="en-US" sz="800" dirty="0"/>
          </a:p>
        </p:txBody>
      </p:sp>
      <p:sp>
        <p:nvSpPr>
          <p:cNvPr id="13" name="Text 9"/>
          <p:cNvSpPr/>
          <p:nvPr/>
        </p:nvSpPr>
        <p:spPr>
          <a:xfrm>
            <a:off x="5428022" y="2169579"/>
            <a:ext cx="3255094" cy="804342"/>
          </a:xfrm>
          <a:prstGeom prst="roundRect">
            <a:avLst>
              <a:gd name="adj" fmla="val 18947"/>
            </a:avLst>
          </a:prstGeom>
          <a:solidFill>
            <a:srgbClr val="FFFFFF"/>
          </a:solidFill>
          <a:ln w="7144">
            <a:solidFill>
              <a:srgbClr val="7C3AED"/>
            </a:solidFill>
            <a:prstDash val="solid"/>
          </a:ln>
          <a:effectLst>
            <a:outerShdw sx="100000" sy="100000" kx="0" ky="0" algn="bl" rotWithShape="0" blurRad="114300" dist="19050" dir="5400000">
              <a:srgbClr val="7C3AED">
                <a:alpha val="6000"/>
              </a:srgbClr>
            </a:outerShdw>
          </a:effectLst>
        </p:spPr>
        <p:txBody>
          <a:bodyPr wrap="square" rtlCol="0" anchor="ctr"/>
          <a:lstStyle/>
          <a:p>
            <a:pPr indent="0" marL="0">
              <a:buNone/>
            </a:pPr>
            <a:endParaRPr lang="en-US" dirty="0"/>
          </a:p>
        </p:txBody>
      </p:sp>
      <p:sp>
        <p:nvSpPr>
          <p:cNvPr id="14" name="Text 10"/>
          <p:cNvSpPr/>
          <p:nvPr/>
        </p:nvSpPr>
        <p:spPr>
          <a:xfrm>
            <a:off x="5574469" y="2316026"/>
            <a:ext cx="2962201" cy="339471"/>
          </a:xfrm>
          <a:prstGeom prst="rect">
            <a:avLst/>
          </a:prstGeom>
          <a:noFill/>
          <a:ln/>
        </p:spPr>
        <p:txBody>
          <a:bodyPr wrap="none" lIns="0" tIns="0" rIns="0" bIns="0" rtlCol="0" anchor="t"/>
          <a:lstStyle/>
          <a:p>
            <a:pPr algn="l" indent="0" marL="0">
              <a:lnSpc>
                <a:spcPts val="2475"/>
              </a:lnSpc>
              <a:buNone/>
            </a:pPr>
            <a:r>
              <a:rPr lang="en-US" sz="2475" b="1" dirty="0">
                <a:solidFill>
                  <a:srgbClr val="EC4899"/>
                </a:solidFill>
                <a:latin typeface="Liberation Sans Narrow" pitchFamily="34" charset="0"/>
                <a:ea typeface="Liberation Sans Narrow" pitchFamily="34" charset="-122"/>
                <a:cs typeface="Liberation Sans Narrow" pitchFamily="34" charset="-120"/>
              </a:rPr>
              <a:t>#1</a:t>
            </a:r>
            <a:endParaRPr lang="en-US" sz="2475" dirty="0"/>
          </a:p>
        </p:txBody>
      </p:sp>
      <p:sp>
        <p:nvSpPr>
          <p:cNvPr id="15" name="Text 11"/>
          <p:cNvSpPr/>
          <p:nvPr/>
        </p:nvSpPr>
        <p:spPr>
          <a:xfrm>
            <a:off x="5574469" y="2687501"/>
            <a:ext cx="3071929" cy="139973"/>
          </a:xfrm>
          <a:prstGeom prst="rect">
            <a:avLst/>
          </a:prstGeom>
          <a:noFill/>
          <a:ln/>
        </p:spPr>
        <p:txBody>
          <a:bodyPr wrap="square" lIns="0" tIns="0" rIns="0" bIns="0" rtlCol="0" anchor="t"/>
          <a:lstStyle/>
          <a:p>
            <a:pPr algn="l" indent="0" marL="0">
              <a:lnSpc>
                <a:spcPts val="1103"/>
              </a:lnSpc>
              <a:buNone/>
            </a:pPr>
            <a:r>
              <a:rPr lang="en-US" sz="800" dirty="0">
                <a:solidFill>
                  <a:srgbClr val="475569"/>
                </a:solidFill>
                <a:latin typeface="Carlito" pitchFamily="34" charset="0"/>
                <a:ea typeface="Carlito" pitchFamily="34" charset="-122"/>
                <a:cs typeface="Carlito" pitchFamily="34" charset="-120"/>
              </a:rPr>
              <a:t>SQL injection in web attack rankings</a:t>
            </a:r>
            <a:endParaRPr lang="en-US" sz="800" dirty="0"/>
          </a:p>
        </p:txBody>
      </p:sp>
      <p:sp>
        <p:nvSpPr>
          <p:cNvPr id="16" name="Text 12"/>
          <p:cNvSpPr/>
          <p:nvPr/>
        </p:nvSpPr>
        <p:spPr>
          <a:xfrm>
            <a:off x="5428022" y="3095365"/>
            <a:ext cx="3255094" cy="804342"/>
          </a:xfrm>
          <a:prstGeom prst="roundRect">
            <a:avLst>
              <a:gd name="adj" fmla="val 18947"/>
            </a:avLst>
          </a:prstGeom>
          <a:solidFill>
            <a:srgbClr val="FFFFFF"/>
          </a:solidFill>
          <a:ln w="7144">
            <a:solidFill>
              <a:srgbClr val="7C3AED"/>
            </a:solidFill>
            <a:prstDash val="solid"/>
          </a:ln>
          <a:effectLst>
            <a:outerShdw sx="100000" sy="100000" kx="0" ky="0" algn="bl" rotWithShape="0" blurRad="114300" dist="19050" dir="5400000">
              <a:srgbClr val="7C3AED">
                <a:alpha val="6000"/>
              </a:srgbClr>
            </a:outerShdw>
          </a:effectLst>
        </p:spPr>
        <p:txBody>
          <a:bodyPr wrap="square" rtlCol="0" anchor="ctr"/>
          <a:lstStyle/>
          <a:p>
            <a:pPr indent="0" marL="0">
              <a:buNone/>
            </a:pPr>
            <a:endParaRPr lang="en-US" dirty="0"/>
          </a:p>
        </p:txBody>
      </p:sp>
      <p:sp>
        <p:nvSpPr>
          <p:cNvPr id="17" name="Text 13"/>
          <p:cNvSpPr/>
          <p:nvPr/>
        </p:nvSpPr>
        <p:spPr>
          <a:xfrm>
            <a:off x="5574469" y="3241811"/>
            <a:ext cx="2962201" cy="339471"/>
          </a:xfrm>
          <a:prstGeom prst="rect">
            <a:avLst/>
          </a:prstGeom>
          <a:noFill/>
          <a:ln/>
        </p:spPr>
        <p:txBody>
          <a:bodyPr wrap="none" lIns="0" tIns="0" rIns="0" bIns="0" rtlCol="0" anchor="t"/>
          <a:lstStyle/>
          <a:p>
            <a:pPr algn="l" indent="0" marL="0">
              <a:lnSpc>
                <a:spcPts val="2475"/>
              </a:lnSpc>
              <a:buNone/>
            </a:pPr>
            <a:r>
              <a:rPr lang="en-US" sz="2475" b="1" dirty="0">
                <a:solidFill>
                  <a:srgbClr val="D97706"/>
                </a:solidFill>
                <a:latin typeface="Liberation Sans Narrow" pitchFamily="34" charset="0"/>
                <a:ea typeface="Liberation Sans Narrow" pitchFamily="34" charset="-122"/>
                <a:cs typeface="Liberation Sans Narrow" pitchFamily="34" charset="-120"/>
              </a:rPr>
              <a:t>177</a:t>
            </a:r>
            <a:endParaRPr lang="en-US" sz="2475" dirty="0"/>
          </a:p>
        </p:txBody>
      </p:sp>
      <p:sp>
        <p:nvSpPr>
          <p:cNvPr id="18" name="Text 14"/>
          <p:cNvSpPr/>
          <p:nvPr/>
        </p:nvSpPr>
        <p:spPr>
          <a:xfrm>
            <a:off x="5574469" y="3613286"/>
            <a:ext cx="3071929" cy="139973"/>
          </a:xfrm>
          <a:prstGeom prst="rect">
            <a:avLst/>
          </a:prstGeom>
          <a:noFill/>
          <a:ln/>
        </p:spPr>
        <p:txBody>
          <a:bodyPr wrap="square" lIns="0" tIns="0" rIns="0" bIns="0" rtlCol="0" anchor="t"/>
          <a:lstStyle/>
          <a:p>
            <a:pPr algn="l" indent="0" marL="0">
              <a:lnSpc>
                <a:spcPts val="1103"/>
              </a:lnSpc>
              <a:buNone/>
            </a:pPr>
            <a:r>
              <a:rPr lang="en-US" sz="800" dirty="0">
                <a:solidFill>
                  <a:srgbClr val="475569"/>
                </a:solidFill>
                <a:latin typeface="Carlito" pitchFamily="34" charset="0"/>
                <a:ea typeface="Carlito" pitchFamily="34" charset="-122"/>
                <a:cs typeface="Carlito" pitchFamily="34" charset="-120"/>
              </a:rPr>
              <a:t>avg days to detect a breach (IBM)</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0" b="0"/>
          <a:stretch/>
        </p:blipFill>
        <p:spPr>
          <a:xfrm>
            <a:off x="0" y="0"/>
            <a:ext cx="9144000" cy="5143500"/>
          </a:xfrm>
          <a:prstGeom prst="rect">
            <a:avLst/>
          </a:prstGeom>
        </p:spPr>
      </p:pic>
      <p:pic>
        <p:nvPicPr>
          <p:cNvPr id="3" name="Image 1" descr="preencoded.png">    </p:cNvPr>
          <p:cNvPicPr>
            <a:picLocks noChangeAspect="1"/>
          </p:cNvPicPr>
          <p:nvPr/>
        </p:nvPicPr>
        <p:blipFill>
          <a:blip r:embed="rId2"/>
          <a:stretch>
            <a:fillRect/>
          </a:stretch>
        </p:blipFill>
        <p:spPr>
          <a:xfrm>
            <a:off x="0" y="0"/>
            <a:ext cx="9144000" cy="5143500"/>
          </a:xfrm>
          <a:prstGeom prst="rect">
            <a:avLst/>
          </a:prstGeom>
        </p:spPr>
      </p:pic>
      <p:pic>
        <p:nvPicPr>
          <p:cNvPr id="4" name="Image 2" descr="preencoded.png">    </p:cNvPr>
          <p:cNvPicPr>
            <a:picLocks noChangeAspect="1"/>
          </p:cNvPicPr>
          <p:nvPr/>
        </p:nvPicPr>
        <p:blipFill>
          <a:blip r:embed="rId3"/>
          <a:stretch>
            <a:fillRect/>
          </a:stretch>
        </p:blipFill>
        <p:spPr>
          <a:xfrm>
            <a:off x="6800850" y="-685800"/>
            <a:ext cx="2057400" cy="2057400"/>
          </a:xfrm>
          <a:prstGeom prst="rect">
            <a:avLst/>
          </a:prstGeom>
        </p:spPr>
      </p:pic>
      <p:sp>
        <p:nvSpPr>
          <p:cNvPr id="5" name="Text 0"/>
          <p:cNvSpPr/>
          <p:nvPr/>
        </p:nvSpPr>
        <p:spPr>
          <a:xfrm>
            <a:off x="6800850" y="-685800"/>
            <a:ext cx="2057400" cy="2057400"/>
          </a:xfrm>
          <a:prstGeom prst="roundRect">
            <a:avLst>
              <a:gd name="adj" fmla="val 4629167"/>
            </a:avLst>
          </a:prstGeom>
          <a:solidFill>
            <a:srgbClr val="FFFFFF">
              <a:alpha val="0"/>
            </a:srgbClr>
          </a:solidFill>
          <a:ln/>
        </p:spPr>
        <p:txBody>
          <a:bodyPr wrap="square" rtlCol="0" anchor="ctr"/>
          <a:lstStyle/>
          <a:p>
            <a:pPr indent="0" marL="0">
              <a:buNone/>
            </a:pPr>
            <a:endParaRPr lang="en-US" dirty="0"/>
          </a:p>
        </p:txBody>
      </p:sp>
      <p:pic>
        <p:nvPicPr>
          <p:cNvPr id="6" name="Image 3" descr="preencoded.png">    </p:cNvPr>
          <p:cNvPicPr>
            <a:picLocks noChangeAspect="1"/>
          </p:cNvPicPr>
          <p:nvPr/>
        </p:nvPicPr>
        <p:blipFill>
          <a:blip r:embed="rId4"/>
          <a:stretch>
            <a:fillRect/>
          </a:stretch>
        </p:blipFill>
        <p:spPr>
          <a:xfrm>
            <a:off x="-571500" y="3314700"/>
            <a:ext cx="2743200" cy="2743200"/>
          </a:xfrm>
          <a:prstGeom prst="rect">
            <a:avLst/>
          </a:prstGeom>
        </p:spPr>
      </p:pic>
      <p:sp>
        <p:nvSpPr>
          <p:cNvPr id="7" name="Text 1"/>
          <p:cNvSpPr/>
          <p:nvPr/>
        </p:nvSpPr>
        <p:spPr>
          <a:xfrm>
            <a:off x="-571500" y="3314700"/>
            <a:ext cx="2743200" cy="2743200"/>
          </a:xfrm>
          <a:prstGeom prst="roundRect">
            <a:avLst>
              <a:gd name="adj" fmla="val 3471875"/>
            </a:avLst>
          </a:prstGeom>
          <a:solidFill>
            <a:srgbClr val="FFFFFF">
              <a:alpha val="0"/>
            </a:srgbClr>
          </a:solidFill>
          <a:ln/>
        </p:spPr>
        <p:txBody>
          <a:bodyPr wrap="square" rtlCol="0" anchor="ctr"/>
          <a:lstStyle/>
          <a:p>
            <a:pPr indent="0" marL="0">
              <a:buNone/>
            </a:pPr>
            <a:endParaRPr lang="en-US" dirty="0"/>
          </a:p>
        </p:txBody>
      </p:sp>
      <p:sp>
        <p:nvSpPr>
          <p:cNvPr id="8" name="Text 2"/>
          <p:cNvSpPr/>
          <p:nvPr/>
        </p:nvSpPr>
        <p:spPr>
          <a:xfrm>
            <a:off x="8629650" y="200025"/>
            <a:ext cx="314325" cy="314325"/>
          </a:xfrm>
          <a:prstGeom prst="roundRect">
            <a:avLst>
              <a:gd name="adj" fmla="val 30300000"/>
            </a:avLst>
          </a:prstGeom>
          <a:solidFill>
            <a:srgbClr val="EDE9FE"/>
          </a:solidFill>
          <a:ln/>
        </p:spPr>
        <p:txBody>
          <a:bodyPr wrap="square" rtlCol="0" anchor="ctr"/>
          <a:lstStyle/>
          <a:p>
            <a:pPr indent="0" marL="0">
              <a:buNone/>
            </a:pPr>
            <a:endParaRPr lang="en-US" dirty="0"/>
          </a:p>
        </p:txBody>
      </p:sp>
      <p:sp>
        <p:nvSpPr>
          <p:cNvPr id="9" name="Text 3"/>
          <p:cNvSpPr/>
          <p:nvPr/>
        </p:nvSpPr>
        <p:spPr>
          <a:xfrm>
            <a:off x="8662511" y="232886"/>
            <a:ext cx="248602" cy="248602"/>
          </a:xfrm>
          <a:prstGeom prst="rect">
            <a:avLst/>
          </a:prstGeom>
          <a:noFill/>
          <a:ln/>
        </p:spPr>
        <p:txBody>
          <a:bodyPr wrap="none" lIns="0" tIns="0" rIns="0" bIns="0" rtlCol="0" anchor="ctr"/>
          <a:lstStyle/>
          <a:p>
            <a:pPr algn="ctr" indent="0" marL="0">
              <a:buNone/>
            </a:pPr>
            <a:r>
              <a:rPr lang="en-US" sz="1688" dirty="0">
                <a:solidFill>
                  <a:srgbClr val="7C3AED"/>
                </a:solidFill>
                <a:latin typeface="Segoe UI Symbol" pitchFamily="34" charset="0"/>
                <a:ea typeface="Segoe UI Symbol" pitchFamily="34" charset="-122"/>
                <a:cs typeface="Segoe UI Symbol" pitchFamily="34" charset="-120"/>
              </a:rPr>
              <a:t>⛨</a:t>
            </a:r>
            <a:endParaRPr lang="en-US" sz="1688" dirty="0"/>
          </a:p>
        </p:txBody>
      </p:sp>
      <p:sp>
        <p:nvSpPr>
          <p:cNvPr id="10" name="Text 4"/>
          <p:cNvSpPr/>
          <p:nvPr/>
        </p:nvSpPr>
        <p:spPr>
          <a:xfrm>
            <a:off x="4092498" y="1295019"/>
            <a:ext cx="958892" cy="196025"/>
          </a:xfrm>
          <a:prstGeom prst="roundRect">
            <a:avLst>
              <a:gd name="adj" fmla="val 4854215"/>
            </a:avLst>
          </a:prstGeom>
          <a:solidFill>
            <a:srgbClr val="EDE9FE"/>
          </a:solidFill>
          <a:ln/>
        </p:spPr>
        <p:txBody>
          <a:bodyPr wrap="square" rtlCol="0" anchor="ctr"/>
          <a:lstStyle/>
          <a:p>
            <a:pPr indent="0" marL="0">
              <a:buNone/>
            </a:pPr>
            <a:endParaRPr lang="en-US" dirty="0"/>
          </a:p>
        </p:txBody>
      </p:sp>
      <p:sp>
        <p:nvSpPr>
          <p:cNvPr id="11" name="Text 5"/>
          <p:cNvSpPr/>
          <p:nvPr/>
        </p:nvSpPr>
        <p:spPr>
          <a:xfrm>
            <a:off x="4115358" y="1305520"/>
            <a:ext cx="913172" cy="175022"/>
          </a:xfrm>
          <a:prstGeom prst="rect">
            <a:avLst/>
          </a:prstGeom>
          <a:noFill/>
          <a:ln/>
        </p:spPr>
        <p:txBody>
          <a:bodyPr wrap="none" lIns="0" tIns="0" rIns="0" bIns="0" rtlCol="0" anchor="ctr"/>
          <a:lstStyle/>
          <a:p>
            <a:pPr algn="ctr" indent="0" marL="0">
              <a:lnSpc>
                <a:spcPts val="928"/>
              </a:lnSpc>
              <a:buNone/>
            </a:pPr>
            <a:r>
              <a:rPr lang="en-US" sz="800" spc="25" kern="0" dirty="0">
                <a:solidFill>
                  <a:srgbClr val="7C3AED"/>
                </a:solidFill>
                <a:latin typeface="Carlito" pitchFamily="34" charset="0"/>
                <a:ea typeface="Carlito" pitchFamily="34" charset="-122"/>
                <a:cs typeface="Carlito" pitchFamily="34" charset="-120"/>
              </a:rPr>
              <a:t>OUR APPROACH</a:t>
            </a:r>
            <a:endParaRPr lang="en-US" sz="800" dirty="0"/>
          </a:p>
        </p:txBody>
      </p:sp>
      <p:sp>
        <p:nvSpPr>
          <p:cNvPr id="12" name="Text 6"/>
          <p:cNvSpPr/>
          <p:nvPr/>
        </p:nvSpPr>
        <p:spPr>
          <a:xfrm>
            <a:off x="274320" y="1680567"/>
            <a:ext cx="8595360" cy="829389"/>
          </a:xfrm>
          <a:prstGeom prst="rect">
            <a:avLst/>
          </a:prstGeom>
          <a:noFill/>
          <a:ln/>
        </p:spPr>
        <p:txBody>
          <a:bodyPr wrap="none" lIns="0" tIns="0" rIns="0" bIns="0" rtlCol="0" anchor="t"/>
          <a:lstStyle/>
          <a:p>
            <a:pPr algn="ctr" indent="0" marL="0">
              <a:lnSpc>
                <a:spcPts val="3024"/>
              </a:lnSpc>
              <a:buNone/>
            </a:pPr>
            <a:r>
              <a:rPr lang="en-US" sz="2700" b="1" spc="-54" kern="0" dirty="0">
                <a:solidFill>
                  <a:srgbClr val="1E293B"/>
                </a:solidFill>
                <a:latin typeface="Carlito" pitchFamily="34" charset="0"/>
                <a:ea typeface="Carlito" pitchFamily="34" charset="-122"/>
                <a:cs typeface="Carlito" pitchFamily="34" charset="-120"/>
              </a:rPr>
              <a:t>Don't just block attackers —</a:t>
            </a:r>
            <a:endParaRPr lang="en-US" sz="2700" dirty="0"/>
          </a:p>
          <a:p>
            <a:pPr algn="ctr" indent="0" marL="0">
              <a:lnSpc>
                <a:spcPts val="3024"/>
              </a:lnSpc>
              <a:buNone/>
            </a:pPr>
            <a:r>
              <a:rPr lang="en-US" sz="2700" b="1" spc="-54" kern="0" dirty="0">
                <a:solidFill>
                  <a:srgbClr val="7C3AED"/>
                </a:solidFill>
                <a:latin typeface="Carlito" pitchFamily="34" charset="0"/>
                <a:ea typeface="Carlito" pitchFamily="34" charset="-122"/>
                <a:cs typeface="Carlito" pitchFamily="34" charset="-120"/>
              </a:rPr>
              <a:t>trap them.</a:t>
            </a:r>
            <a:endParaRPr lang="en-US" sz="2700" dirty="0"/>
          </a:p>
        </p:txBody>
      </p:sp>
      <p:sp>
        <p:nvSpPr>
          <p:cNvPr id="13" name="Text 7"/>
          <p:cNvSpPr/>
          <p:nvPr/>
        </p:nvSpPr>
        <p:spPr>
          <a:xfrm>
            <a:off x="1714500" y="2648545"/>
            <a:ext cx="5715000" cy="717518"/>
          </a:xfrm>
          <a:prstGeom prst="rect">
            <a:avLst/>
          </a:prstGeom>
          <a:noFill/>
          <a:ln/>
        </p:spPr>
        <p:txBody>
          <a:bodyPr wrap="square" lIns="0" tIns="0" rIns="0" bIns="0" rtlCol="0" anchor="t"/>
          <a:lstStyle/>
          <a:p>
            <a:pPr algn="ctr" indent="0" marL="0">
              <a:lnSpc>
                <a:spcPts val="1744"/>
              </a:lnSpc>
              <a:buNone/>
            </a:pPr>
            <a:r>
              <a:rPr lang="en-US" sz="1125" dirty="0">
                <a:solidFill>
                  <a:srgbClr val="475569"/>
                </a:solidFill>
                <a:latin typeface="Carlito" pitchFamily="34" charset="0"/>
                <a:ea typeface="Carlito" pitchFamily="34" charset="-122"/>
                <a:cs typeface="Carlito" pitchFamily="34" charset="-120"/>
              </a:rPr>
              <a:t>DeceptiWAF combines a scoring WAF with a deception honeypot. Instead of rejecting brute-forcers with a 401, we lie "Login Successful" and serve a fake dashboard — then watch every move they make on the SOC feed.</a:t>
            </a:r>
            <a:endParaRPr lang="en-US" sz="1125" dirty="0"/>
          </a:p>
        </p:txBody>
      </p:sp>
      <p:sp>
        <p:nvSpPr>
          <p:cNvPr id="14" name="Text 8"/>
          <p:cNvSpPr/>
          <p:nvPr/>
        </p:nvSpPr>
        <p:spPr>
          <a:xfrm>
            <a:off x="2589833" y="3557287"/>
            <a:ext cx="1144339" cy="293494"/>
          </a:xfrm>
          <a:prstGeom prst="roundRect">
            <a:avLst>
              <a:gd name="adj" fmla="val 3242136"/>
            </a:avLst>
          </a:prstGeom>
          <a:solidFill>
            <a:srgbClr val="FFE4E6"/>
          </a:solidFill>
          <a:ln/>
        </p:spPr>
        <p:txBody>
          <a:bodyPr wrap="square" rtlCol="0" anchor="ctr"/>
          <a:lstStyle/>
          <a:p>
            <a:pPr indent="0" marL="0">
              <a:buNone/>
            </a:pPr>
            <a:endParaRPr lang="en-US" dirty="0"/>
          </a:p>
        </p:txBody>
      </p:sp>
      <p:sp>
        <p:nvSpPr>
          <p:cNvPr id="15" name="Text 9"/>
          <p:cNvSpPr/>
          <p:nvPr/>
        </p:nvSpPr>
        <p:spPr>
          <a:xfrm>
            <a:off x="2878676" y="3648670"/>
            <a:ext cx="738104" cy="126609"/>
          </a:xfrm>
          <a:prstGeom prst="rect">
            <a:avLst/>
          </a:prstGeom>
          <a:noFill/>
          <a:ln/>
        </p:spPr>
        <p:txBody>
          <a:bodyPr wrap="none" lIns="0" tIns="0" rIns="0" bIns="0" rtlCol="0" anchor="t"/>
          <a:lstStyle/>
          <a:p>
            <a:pPr algn="ctr" indent="0" marL="0">
              <a:lnSpc>
                <a:spcPts val="1097"/>
              </a:lnSpc>
              <a:buNone/>
            </a:pPr>
            <a:r>
              <a:rPr lang="en-US" sz="800" spc="29" kern="0" dirty="0">
                <a:solidFill>
                  <a:srgbClr val="BE123C"/>
                </a:solidFill>
                <a:latin typeface="Carlito" pitchFamily="34" charset="0"/>
                <a:ea typeface="Carlito" pitchFamily="34" charset="-122"/>
                <a:cs typeface="Carlito" pitchFamily="34" charset="-120"/>
              </a:rPr>
              <a:t>WAF BLOCKS</a:t>
            </a:r>
            <a:endParaRPr lang="en-US" sz="800" dirty="0"/>
          </a:p>
        </p:txBody>
      </p:sp>
      <p:sp>
        <p:nvSpPr>
          <p:cNvPr id="16" name="Text 10"/>
          <p:cNvSpPr/>
          <p:nvPr/>
        </p:nvSpPr>
        <p:spPr>
          <a:xfrm>
            <a:off x="2718420" y="3639741"/>
            <a:ext cx="128588" cy="128588"/>
          </a:xfrm>
          <a:prstGeom prst="rect">
            <a:avLst/>
          </a:prstGeom>
          <a:noFill/>
          <a:ln/>
        </p:spPr>
        <p:txBody>
          <a:bodyPr wrap="none" lIns="0" tIns="0" rIns="0" bIns="0" rtlCol="0" anchor="ctr"/>
          <a:lstStyle/>
          <a:p>
            <a:pPr algn="ctr" indent="0" marL="0">
              <a:buNone/>
            </a:pPr>
            <a:r>
              <a:rPr lang="en-US" sz="1266" dirty="0">
                <a:solidFill>
                  <a:srgbClr val="BE123C"/>
                </a:solidFill>
                <a:latin typeface="Segoe UI Symbol" pitchFamily="34" charset="0"/>
                <a:ea typeface="Segoe UI Symbol" pitchFamily="34" charset="-122"/>
                <a:cs typeface="Segoe UI Symbol" pitchFamily="34" charset="-120"/>
              </a:rPr>
              <a:t>⛨</a:t>
            </a:r>
            <a:endParaRPr lang="en-US" sz="1266" dirty="0"/>
          </a:p>
        </p:txBody>
      </p:sp>
      <p:sp>
        <p:nvSpPr>
          <p:cNvPr id="17" name="Text 11"/>
          <p:cNvSpPr/>
          <p:nvPr/>
        </p:nvSpPr>
        <p:spPr>
          <a:xfrm>
            <a:off x="3819897" y="3557287"/>
            <a:ext cx="1430089" cy="293494"/>
          </a:xfrm>
          <a:prstGeom prst="roundRect">
            <a:avLst>
              <a:gd name="adj" fmla="val 3242136"/>
            </a:avLst>
          </a:prstGeom>
          <a:solidFill>
            <a:srgbClr val="FCE7F3"/>
          </a:solidFill>
          <a:ln/>
        </p:spPr>
        <p:txBody>
          <a:bodyPr wrap="square" rtlCol="0" anchor="ctr"/>
          <a:lstStyle/>
          <a:p>
            <a:pPr indent="0" marL="0">
              <a:buNone/>
            </a:pPr>
            <a:endParaRPr lang="en-US" dirty="0"/>
          </a:p>
        </p:txBody>
      </p:sp>
      <p:sp>
        <p:nvSpPr>
          <p:cNvPr id="18" name="Text 12"/>
          <p:cNvSpPr/>
          <p:nvPr/>
        </p:nvSpPr>
        <p:spPr>
          <a:xfrm>
            <a:off x="4119935" y="3648670"/>
            <a:ext cx="1001464" cy="126609"/>
          </a:xfrm>
          <a:prstGeom prst="rect">
            <a:avLst/>
          </a:prstGeom>
          <a:noFill/>
          <a:ln/>
        </p:spPr>
        <p:txBody>
          <a:bodyPr wrap="none" lIns="0" tIns="0" rIns="0" bIns="0" rtlCol="0" anchor="t"/>
          <a:lstStyle/>
          <a:p>
            <a:pPr algn="ctr" indent="0" marL="0">
              <a:lnSpc>
                <a:spcPts val="1097"/>
              </a:lnSpc>
              <a:buNone/>
            </a:pPr>
            <a:r>
              <a:rPr lang="en-US" sz="800" spc="29" kern="0" dirty="0">
                <a:solidFill>
                  <a:srgbClr val="BE185D"/>
                </a:solidFill>
                <a:latin typeface="Carlito" pitchFamily="34" charset="0"/>
                <a:ea typeface="Carlito" pitchFamily="34" charset="-122"/>
                <a:cs typeface="Carlito" pitchFamily="34" charset="-120"/>
              </a:rPr>
              <a:t>HONEYPOT TRAPS</a:t>
            </a:r>
            <a:endParaRPr lang="en-US" sz="800" dirty="0"/>
          </a:p>
        </p:txBody>
      </p:sp>
      <p:sp>
        <p:nvSpPr>
          <p:cNvPr id="19" name="Text 13"/>
          <p:cNvSpPr/>
          <p:nvPr/>
        </p:nvSpPr>
        <p:spPr>
          <a:xfrm>
            <a:off x="3948485" y="3639741"/>
            <a:ext cx="128588" cy="128588"/>
          </a:xfrm>
          <a:prstGeom prst="rect">
            <a:avLst/>
          </a:prstGeom>
          <a:noFill/>
          <a:ln/>
        </p:spPr>
        <p:txBody>
          <a:bodyPr wrap="none" lIns="0" tIns="0" rIns="0" bIns="0" rtlCol="0" anchor="ctr"/>
          <a:lstStyle/>
          <a:p>
            <a:pPr algn="ctr" indent="0" marL="0">
              <a:buNone/>
            </a:pPr>
            <a:r>
              <a:rPr lang="en-US" sz="1266" dirty="0">
                <a:solidFill>
                  <a:srgbClr val="BE185D"/>
                </a:solidFill>
                <a:latin typeface="Segoe UI Symbol" pitchFamily="34" charset="0"/>
                <a:ea typeface="Segoe UI Symbol" pitchFamily="34" charset="-122"/>
                <a:cs typeface="Segoe UI Symbol" pitchFamily="34" charset="-120"/>
              </a:rPr>
              <a:t>✦</a:t>
            </a:r>
            <a:endParaRPr lang="en-US" sz="1266" dirty="0"/>
          </a:p>
        </p:txBody>
      </p:sp>
      <p:sp>
        <p:nvSpPr>
          <p:cNvPr id="20" name="Text 14"/>
          <p:cNvSpPr/>
          <p:nvPr/>
        </p:nvSpPr>
        <p:spPr>
          <a:xfrm>
            <a:off x="5335712" y="3557287"/>
            <a:ext cx="1218344" cy="293494"/>
          </a:xfrm>
          <a:prstGeom prst="roundRect">
            <a:avLst>
              <a:gd name="adj" fmla="val 3242136"/>
            </a:avLst>
          </a:prstGeom>
          <a:solidFill>
            <a:srgbClr val="EDE9FE"/>
          </a:solidFill>
          <a:ln/>
        </p:spPr>
        <p:txBody>
          <a:bodyPr wrap="square" rtlCol="0" anchor="ctr"/>
          <a:lstStyle/>
          <a:p>
            <a:pPr indent="0" marL="0">
              <a:buNone/>
            </a:pPr>
            <a:endParaRPr lang="en-US" dirty="0"/>
          </a:p>
        </p:txBody>
      </p:sp>
      <p:sp>
        <p:nvSpPr>
          <p:cNvPr id="21" name="Text 15"/>
          <p:cNvSpPr/>
          <p:nvPr/>
        </p:nvSpPr>
        <p:spPr>
          <a:xfrm>
            <a:off x="5624392" y="3648670"/>
            <a:ext cx="812434" cy="126609"/>
          </a:xfrm>
          <a:prstGeom prst="rect">
            <a:avLst/>
          </a:prstGeom>
          <a:noFill/>
          <a:ln/>
        </p:spPr>
        <p:txBody>
          <a:bodyPr wrap="none" lIns="0" tIns="0" rIns="0" bIns="0" rtlCol="0" anchor="t"/>
          <a:lstStyle/>
          <a:p>
            <a:pPr algn="ctr" indent="0" marL="0">
              <a:lnSpc>
                <a:spcPts val="1097"/>
              </a:lnSpc>
              <a:buNone/>
            </a:pPr>
            <a:r>
              <a:rPr lang="en-US" sz="800" spc="29" kern="0" dirty="0">
                <a:solidFill>
                  <a:srgbClr val="7C3AED"/>
                </a:solidFill>
                <a:latin typeface="Carlito" pitchFamily="34" charset="0"/>
                <a:ea typeface="Carlito" pitchFamily="34" charset="-122"/>
                <a:cs typeface="Carlito" pitchFamily="34" charset="-120"/>
              </a:rPr>
              <a:t>SOC WATCHES</a:t>
            </a:r>
            <a:endParaRPr lang="en-US" sz="800" dirty="0"/>
          </a:p>
        </p:txBody>
      </p:sp>
      <p:sp>
        <p:nvSpPr>
          <p:cNvPr id="22" name="Text 16"/>
          <p:cNvSpPr/>
          <p:nvPr/>
        </p:nvSpPr>
        <p:spPr>
          <a:xfrm>
            <a:off x="5464299" y="3639741"/>
            <a:ext cx="128588" cy="128588"/>
          </a:xfrm>
          <a:prstGeom prst="rect">
            <a:avLst/>
          </a:prstGeom>
          <a:noFill/>
          <a:ln/>
        </p:spPr>
        <p:txBody>
          <a:bodyPr wrap="none" lIns="0" tIns="0" rIns="0" bIns="0" rtlCol="0" anchor="ctr"/>
          <a:lstStyle/>
          <a:p>
            <a:pPr algn="ctr" indent="0" marL="0">
              <a:buNone/>
            </a:pPr>
            <a:r>
              <a:rPr lang="en-US" sz="1266" dirty="0">
                <a:solidFill>
                  <a:srgbClr val="7C3AED"/>
                </a:solidFill>
                <a:latin typeface="Segoe UI Symbol" pitchFamily="34" charset="0"/>
                <a:ea typeface="Segoe UI Symbol" pitchFamily="34" charset="-122"/>
                <a:cs typeface="Segoe UI Symbol" pitchFamily="34" charset="-120"/>
              </a:rPr>
              <a:t>◉</a:t>
            </a:r>
            <a:endParaRPr lang="en-US" sz="1266"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0" b="0"/>
          <a:stretch/>
        </p:blipFill>
        <p:spPr>
          <a:xfrm>
            <a:off x="0" y="0"/>
            <a:ext cx="9144000" cy="5143500"/>
          </a:xfrm>
          <a:prstGeom prst="rect">
            <a:avLst/>
          </a:prstGeom>
        </p:spPr>
      </p:pic>
      <p:pic>
        <p:nvPicPr>
          <p:cNvPr id="3" name="Image 1" descr="preencoded.png">    </p:cNvPr>
          <p:cNvPicPr>
            <a:picLocks noChangeAspect="1"/>
          </p:cNvPicPr>
          <p:nvPr/>
        </p:nvPicPr>
        <p:blipFill>
          <a:blip r:embed="rId2"/>
          <a:stretch>
            <a:fillRect/>
          </a:stretch>
        </p:blipFill>
        <p:spPr>
          <a:xfrm>
            <a:off x="0" y="0"/>
            <a:ext cx="9144000" cy="5143500"/>
          </a:xfrm>
          <a:prstGeom prst="rect">
            <a:avLst/>
          </a:prstGeom>
        </p:spPr>
      </p:pic>
      <p:sp>
        <p:nvSpPr>
          <p:cNvPr id="4" name="Text 0"/>
          <p:cNvSpPr/>
          <p:nvPr/>
        </p:nvSpPr>
        <p:spPr>
          <a:xfrm>
            <a:off x="8629650" y="200025"/>
            <a:ext cx="314325" cy="314325"/>
          </a:xfrm>
          <a:prstGeom prst="roundRect">
            <a:avLst>
              <a:gd name="adj" fmla="val 30300000"/>
            </a:avLst>
          </a:prstGeom>
          <a:solidFill>
            <a:srgbClr val="EDE9FE"/>
          </a:solidFill>
          <a:ln/>
        </p:spPr>
        <p:txBody>
          <a:bodyPr wrap="square" rtlCol="0" anchor="ctr"/>
          <a:lstStyle/>
          <a:p>
            <a:pPr indent="0" marL="0">
              <a:buNone/>
            </a:pPr>
            <a:endParaRPr lang="en-US" dirty="0"/>
          </a:p>
        </p:txBody>
      </p:sp>
      <p:sp>
        <p:nvSpPr>
          <p:cNvPr id="5" name="Text 1"/>
          <p:cNvSpPr/>
          <p:nvPr/>
        </p:nvSpPr>
        <p:spPr>
          <a:xfrm>
            <a:off x="8662511" y="232886"/>
            <a:ext cx="248602" cy="248602"/>
          </a:xfrm>
          <a:prstGeom prst="rect">
            <a:avLst/>
          </a:prstGeom>
          <a:noFill/>
          <a:ln/>
        </p:spPr>
        <p:txBody>
          <a:bodyPr wrap="none" lIns="0" tIns="0" rIns="0" bIns="0" rtlCol="0" anchor="ctr"/>
          <a:lstStyle/>
          <a:p>
            <a:pPr algn="ctr" indent="0" marL="0">
              <a:buNone/>
            </a:pPr>
            <a:r>
              <a:rPr lang="en-US" sz="1688" dirty="0">
                <a:solidFill>
                  <a:srgbClr val="7C3AED"/>
                </a:solidFill>
                <a:latin typeface="Segoe UI Symbol" pitchFamily="34" charset="0"/>
                <a:ea typeface="Segoe UI Symbol" pitchFamily="34" charset="-122"/>
                <a:cs typeface="Segoe UI Symbol" pitchFamily="34" charset="-120"/>
              </a:rPr>
              <a:t>⛨</a:t>
            </a:r>
            <a:endParaRPr lang="en-US" sz="1688" dirty="0"/>
          </a:p>
        </p:txBody>
      </p:sp>
      <p:sp>
        <p:nvSpPr>
          <p:cNvPr id="6" name="Text 2"/>
          <p:cNvSpPr/>
          <p:nvPr/>
        </p:nvSpPr>
        <p:spPr>
          <a:xfrm>
            <a:off x="457200" y="400050"/>
            <a:ext cx="8636000" cy="229743"/>
          </a:xfrm>
          <a:prstGeom prst="rect">
            <a:avLst/>
          </a:prstGeom>
          <a:noFill/>
          <a:ln/>
        </p:spPr>
        <p:txBody>
          <a:bodyPr wrap="none" lIns="0" tIns="0" rIns="0" bIns="0" rtlCol="0" anchor="t">
            <a:normAutofit/>
          </a:bodyPr>
          <a:lstStyle/>
          <a:p>
            <a:pPr algn="l" indent="0" marL="0">
              <a:lnSpc>
                <a:spcPts val="1800"/>
              </a:lnSpc>
              <a:buNone/>
            </a:pPr>
            <a:r>
              <a:rPr lang="en-US" sz="1800" b="1" spc="-36" kern="0" dirty="0">
                <a:solidFill>
                  <a:srgbClr val="7C3AED"/>
                </a:solidFill>
                <a:latin typeface="Carlito" pitchFamily="34" charset="0"/>
                <a:ea typeface="Carlito" pitchFamily="34" charset="-122"/>
                <a:cs typeface="Carlito" pitchFamily="34" charset="-120"/>
              </a:rPr>
              <a:t>Architecture</a:t>
            </a:r>
            <a:endParaRPr lang="en-US" sz="1800" dirty="0"/>
          </a:p>
        </p:txBody>
      </p:sp>
      <p:sp>
        <p:nvSpPr>
          <p:cNvPr id="7" name="Text 3"/>
          <p:cNvSpPr/>
          <p:nvPr/>
        </p:nvSpPr>
        <p:spPr>
          <a:xfrm>
            <a:off x="457200" y="657225"/>
            <a:ext cx="8636000" cy="164592"/>
          </a:xfrm>
          <a:prstGeom prst="rect">
            <a:avLst/>
          </a:prstGeom>
          <a:noFill/>
          <a:ln/>
        </p:spPr>
        <p:txBody>
          <a:bodyPr wrap="square" lIns="0" tIns="0" rIns="0" bIns="0" rtlCol="0" anchor="t"/>
          <a:lstStyle/>
          <a:p>
            <a:pPr algn="l" indent="0" marL="0">
              <a:lnSpc>
                <a:spcPts val="1181"/>
              </a:lnSpc>
              <a:buNone/>
            </a:pPr>
            <a:r>
              <a:rPr lang="en-US" sz="800" dirty="0">
                <a:solidFill>
                  <a:srgbClr val="64748B"/>
                </a:solidFill>
                <a:latin typeface="Carlito" pitchFamily="34" charset="0"/>
                <a:ea typeface="Carlito" pitchFamily="34" charset="-122"/>
                <a:cs typeface="Carlito" pitchFamily="34" charset="-120"/>
              </a:rPr>
              <a:t>Four modules · one Socket.io event bus</a:t>
            </a:r>
            <a:endParaRPr lang="en-US" sz="800" dirty="0"/>
          </a:p>
        </p:txBody>
      </p:sp>
      <p:sp>
        <p:nvSpPr>
          <p:cNvPr id="8" name="Text 4"/>
          <p:cNvSpPr/>
          <p:nvPr/>
        </p:nvSpPr>
        <p:spPr>
          <a:xfrm>
            <a:off x="460772" y="953691"/>
            <a:ext cx="4036219" cy="1818084"/>
          </a:xfrm>
          <a:prstGeom prst="roundRect">
            <a:avLst>
              <a:gd name="adj" fmla="val 8382"/>
            </a:avLst>
          </a:prstGeom>
          <a:solidFill>
            <a:srgbClr val="FFFFFF"/>
          </a:solidFill>
          <a:ln w="7144">
            <a:solidFill>
              <a:srgbClr val="7C3AED"/>
            </a:solidFill>
            <a:prstDash val="solid"/>
          </a:ln>
          <a:effectLst>
            <a:outerShdw sx="100000" sy="100000" kx="0" ky="0" algn="bl" rotWithShape="0" blurRad="114300" dist="19050" dir="5400000">
              <a:srgbClr val="7C3AED">
                <a:alpha val="6000"/>
              </a:srgbClr>
            </a:outerShdw>
          </a:effectLst>
        </p:spPr>
        <p:txBody>
          <a:bodyPr wrap="square" rtlCol="0" anchor="ctr"/>
          <a:lstStyle/>
          <a:p>
            <a:pPr indent="0" marL="0">
              <a:buNone/>
            </a:pPr>
            <a:endParaRPr lang="en-US" dirty="0"/>
          </a:p>
        </p:txBody>
      </p:sp>
      <p:sp>
        <p:nvSpPr>
          <p:cNvPr id="9" name="Text 5"/>
          <p:cNvSpPr/>
          <p:nvPr/>
        </p:nvSpPr>
        <p:spPr>
          <a:xfrm>
            <a:off x="607219" y="1100138"/>
            <a:ext cx="314325" cy="314325"/>
          </a:xfrm>
          <a:prstGeom prst="roundRect">
            <a:avLst>
              <a:gd name="adj" fmla="val 30300000"/>
            </a:avLst>
          </a:prstGeom>
          <a:solidFill>
            <a:srgbClr val="EDE9FE"/>
          </a:solidFill>
          <a:ln/>
        </p:spPr>
        <p:txBody>
          <a:bodyPr wrap="square" rtlCol="0" anchor="ctr"/>
          <a:lstStyle/>
          <a:p>
            <a:pPr indent="0" marL="0">
              <a:buNone/>
            </a:pPr>
            <a:endParaRPr lang="en-US" dirty="0"/>
          </a:p>
        </p:txBody>
      </p:sp>
      <p:sp>
        <p:nvSpPr>
          <p:cNvPr id="10" name="Text 6"/>
          <p:cNvSpPr/>
          <p:nvPr/>
        </p:nvSpPr>
        <p:spPr>
          <a:xfrm>
            <a:off x="650438" y="1143357"/>
            <a:ext cx="227886" cy="227886"/>
          </a:xfrm>
          <a:prstGeom prst="rect">
            <a:avLst/>
          </a:prstGeom>
          <a:noFill/>
          <a:ln/>
        </p:spPr>
        <p:txBody>
          <a:bodyPr wrap="none" lIns="0" tIns="0" rIns="0" bIns="0" rtlCol="0" anchor="ctr"/>
          <a:lstStyle/>
          <a:p>
            <a:pPr algn="ctr" indent="0" marL="0">
              <a:buNone/>
            </a:pPr>
            <a:r>
              <a:rPr lang="en-US" sz="1547" dirty="0">
                <a:solidFill>
                  <a:srgbClr val="7C3AED"/>
                </a:solidFill>
                <a:latin typeface="Segoe UI Symbol" pitchFamily="34" charset="0"/>
                <a:ea typeface="Segoe UI Symbol" pitchFamily="34" charset="-122"/>
                <a:cs typeface="Segoe UI Symbol" pitchFamily="34" charset="-120"/>
              </a:rPr>
              <a:t>✦</a:t>
            </a:r>
            <a:endParaRPr lang="en-US" sz="1547" dirty="0"/>
          </a:p>
        </p:txBody>
      </p:sp>
      <p:sp>
        <p:nvSpPr>
          <p:cNvPr id="11" name="Text 7"/>
          <p:cNvSpPr/>
          <p:nvPr/>
        </p:nvSpPr>
        <p:spPr>
          <a:xfrm>
            <a:off x="607219" y="1500188"/>
            <a:ext cx="3743325" cy="208312"/>
          </a:xfrm>
          <a:prstGeom prst="rect">
            <a:avLst/>
          </a:prstGeom>
          <a:noFill/>
          <a:ln/>
        </p:spPr>
        <p:txBody>
          <a:bodyPr wrap="none" lIns="0" tIns="0" rIns="0" bIns="0" rtlCol="0" anchor="t"/>
          <a:lstStyle/>
          <a:p>
            <a:pPr algn="l" indent="0" marL="0">
              <a:lnSpc>
                <a:spcPts val="1519"/>
              </a:lnSpc>
              <a:buNone/>
            </a:pPr>
            <a:r>
              <a:rPr lang="en-US" sz="1013" b="1" spc="-10" kern="0" dirty="0">
                <a:solidFill>
                  <a:srgbClr val="1E293B"/>
                </a:solidFill>
                <a:latin typeface="Liberation Sans Narrow" pitchFamily="34" charset="0"/>
                <a:ea typeface="Liberation Sans Narrow" pitchFamily="34" charset="-122"/>
                <a:cs typeface="Liberation Sans Narrow" pitchFamily="34" charset="-120"/>
              </a:rPr>
              <a:t>Module 1 — Target App</a:t>
            </a:r>
            <a:endParaRPr lang="en-US" sz="1013" dirty="0"/>
          </a:p>
        </p:txBody>
      </p:sp>
      <p:sp>
        <p:nvSpPr>
          <p:cNvPr id="12" name="Text 8"/>
          <p:cNvSpPr/>
          <p:nvPr/>
        </p:nvSpPr>
        <p:spPr>
          <a:xfrm>
            <a:off x="607219" y="1750219"/>
            <a:ext cx="3743325" cy="339961"/>
          </a:xfrm>
          <a:prstGeom prst="rect">
            <a:avLst/>
          </a:prstGeom>
          <a:noFill/>
          <a:ln/>
        </p:spPr>
        <p:txBody>
          <a:bodyPr wrap="square" lIns="0" tIns="0" rIns="0" bIns="0" rtlCol="0" anchor="t"/>
          <a:lstStyle/>
          <a:p>
            <a:pPr algn="l" indent="0" marL="0">
              <a:lnSpc>
                <a:spcPts val="1221"/>
              </a:lnSpc>
              <a:buNone/>
            </a:pPr>
            <a:r>
              <a:rPr lang="en-US" sz="800" dirty="0">
                <a:solidFill>
                  <a:srgbClr val="475569"/>
                </a:solidFill>
                <a:latin typeface="Carlito" pitchFamily="34" charset="0"/>
                <a:ea typeface="Carlito" pitchFamily="34" charset="-122"/>
                <a:cs typeface="Carlito" pitchFamily="34" charset="-120"/>
              </a:rPr>
              <a:t>Express server mimicking KLY University portal. Login page, student dashboard, course search — the decoy surface attackers hit.</a:t>
            </a:r>
            <a:endParaRPr lang="en-US" sz="800" dirty="0"/>
          </a:p>
        </p:txBody>
      </p:sp>
      <p:sp>
        <p:nvSpPr>
          <p:cNvPr id="13" name="Text 9"/>
          <p:cNvSpPr/>
          <p:nvPr/>
        </p:nvSpPr>
        <p:spPr>
          <a:xfrm>
            <a:off x="4647009" y="953691"/>
            <a:ext cx="4036219" cy="1818084"/>
          </a:xfrm>
          <a:prstGeom prst="roundRect">
            <a:avLst>
              <a:gd name="adj" fmla="val 8382"/>
            </a:avLst>
          </a:prstGeom>
          <a:solidFill>
            <a:srgbClr val="FFFFFF"/>
          </a:solidFill>
          <a:ln w="7144">
            <a:solidFill>
              <a:srgbClr val="7C3AED"/>
            </a:solidFill>
            <a:prstDash val="solid"/>
          </a:ln>
          <a:effectLst>
            <a:outerShdw sx="100000" sy="100000" kx="0" ky="0" algn="bl" rotWithShape="0" blurRad="114300" dist="19050" dir="5400000">
              <a:srgbClr val="7C3AED">
                <a:alpha val="6000"/>
              </a:srgbClr>
            </a:outerShdw>
          </a:effectLst>
        </p:spPr>
        <p:txBody>
          <a:bodyPr wrap="square" rtlCol="0" anchor="ctr"/>
          <a:lstStyle/>
          <a:p>
            <a:pPr indent="0" marL="0">
              <a:buNone/>
            </a:pPr>
            <a:endParaRPr lang="en-US" dirty="0"/>
          </a:p>
        </p:txBody>
      </p:sp>
      <p:sp>
        <p:nvSpPr>
          <p:cNvPr id="14" name="Text 10"/>
          <p:cNvSpPr/>
          <p:nvPr/>
        </p:nvSpPr>
        <p:spPr>
          <a:xfrm>
            <a:off x="4793456" y="1100138"/>
            <a:ext cx="314325" cy="314325"/>
          </a:xfrm>
          <a:prstGeom prst="roundRect">
            <a:avLst>
              <a:gd name="adj" fmla="val 30300000"/>
            </a:avLst>
          </a:prstGeom>
          <a:solidFill>
            <a:srgbClr val="FFE4E6"/>
          </a:solidFill>
          <a:ln/>
        </p:spPr>
        <p:txBody>
          <a:bodyPr wrap="square" rtlCol="0" anchor="ctr"/>
          <a:lstStyle/>
          <a:p>
            <a:pPr indent="0" marL="0">
              <a:buNone/>
            </a:pPr>
            <a:endParaRPr lang="en-US" dirty="0"/>
          </a:p>
        </p:txBody>
      </p:sp>
      <p:sp>
        <p:nvSpPr>
          <p:cNvPr id="15" name="Text 11"/>
          <p:cNvSpPr/>
          <p:nvPr/>
        </p:nvSpPr>
        <p:spPr>
          <a:xfrm>
            <a:off x="4836676" y="1143357"/>
            <a:ext cx="227886" cy="227886"/>
          </a:xfrm>
          <a:prstGeom prst="rect">
            <a:avLst/>
          </a:prstGeom>
          <a:noFill/>
          <a:ln/>
        </p:spPr>
        <p:txBody>
          <a:bodyPr wrap="none" lIns="0" tIns="0" rIns="0" bIns="0" rtlCol="0" anchor="ctr"/>
          <a:lstStyle/>
          <a:p>
            <a:pPr algn="ctr" indent="0" marL="0">
              <a:buNone/>
            </a:pPr>
            <a:r>
              <a:rPr lang="en-US" sz="1547" dirty="0">
                <a:solidFill>
                  <a:srgbClr val="E11D48"/>
                </a:solidFill>
                <a:latin typeface="Segoe UI Symbol" pitchFamily="34" charset="0"/>
                <a:ea typeface="Segoe UI Symbol" pitchFamily="34" charset="-122"/>
                <a:cs typeface="Segoe UI Symbol" pitchFamily="34" charset="-120"/>
              </a:rPr>
              <a:t>⛨</a:t>
            </a:r>
            <a:endParaRPr lang="en-US" sz="1547" dirty="0"/>
          </a:p>
        </p:txBody>
      </p:sp>
      <p:sp>
        <p:nvSpPr>
          <p:cNvPr id="16" name="Text 12"/>
          <p:cNvSpPr/>
          <p:nvPr/>
        </p:nvSpPr>
        <p:spPr>
          <a:xfrm>
            <a:off x="4793456" y="1500188"/>
            <a:ext cx="3743325" cy="208312"/>
          </a:xfrm>
          <a:prstGeom prst="rect">
            <a:avLst/>
          </a:prstGeom>
          <a:noFill/>
          <a:ln/>
        </p:spPr>
        <p:txBody>
          <a:bodyPr wrap="none" lIns="0" tIns="0" rIns="0" bIns="0" rtlCol="0" anchor="t"/>
          <a:lstStyle/>
          <a:p>
            <a:pPr algn="l" indent="0" marL="0">
              <a:lnSpc>
                <a:spcPts val="1519"/>
              </a:lnSpc>
              <a:buNone/>
            </a:pPr>
            <a:r>
              <a:rPr lang="en-US" sz="1013" b="1" spc="-10" kern="0" dirty="0">
                <a:solidFill>
                  <a:srgbClr val="1E293B"/>
                </a:solidFill>
                <a:latin typeface="Liberation Sans Narrow" pitchFamily="34" charset="0"/>
                <a:ea typeface="Liberation Sans Narrow" pitchFamily="34" charset="-122"/>
                <a:cs typeface="Liberation Sans Narrow" pitchFamily="34" charset="-120"/>
              </a:rPr>
              <a:t>Module 2 — WAF Middleware</a:t>
            </a:r>
            <a:endParaRPr lang="en-US" sz="1013" dirty="0"/>
          </a:p>
        </p:txBody>
      </p:sp>
      <p:sp>
        <p:nvSpPr>
          <p:cNvPr id="17" name="Text 13"/>
          <p:cNvSpPr/>
          <p:nvPr/>
        </p:nvSpPr>
        <p:spPr>
          <a:xfrm>
            <a:off x="4793456" y="1750219"/>
            <a:ext cx="3743325" cy="339961"/>
          </a:xfrm>
          <a:prstGeom prst="rect">
            <a:avLst/>
          </a:prstGeom>
          <a:noFill/>
          <a:ln/>
        </p:spPr>
        <p:txBody>
          <a:bodyPr wrap="square" lIns="0" tIns="0" rIns="0" bIns="0" rtlCol="0" anchor="t"/>
          <a:lstStyle/>
          <a:p>
            <a:pPr algn="l" indent="0" marL="0">
              <a:lnSpc>
                <a:spcPts val="1221"/>
              </a:lnSpc>
              <a:buNone/>
            </a:pPr>
            <a:r>
              <a:rPr lang="en-US" sz="800" dirty="0">
                <a:solidFill>
                  <a:srgbClr val="475569"/>
                </a:solidFill>
                <a:latin typeface="Carlito" pitchFamily="34" charset="0"/>
                <a:ea typeface="Carlito" pitchFamily="34" charset="-122"/>
                <a:cs typeface="Carlito" pitchFamily="34" charset="-120"/>
              </a:rPr>
              <a:t>50+ regex rules across SQLi/XSS/PathTraversal/MaliciousUAs. Scoring engine blocks at score &gt; 4. Multi-layer de-obfuscation pipeline.</a:t>
            </a:r>
            <a:endParaRPr lang="en-US" sz="800" dirty="0"/>
          </a:p>
        </p:txBody>
      </p:sp>
      <p:sp>
        <p:nvSpPr>
          <p:cNvPr id="18" name="Text 14"/>
          <p:cNvSpPr/>
          <p:nvPr/>
        </p:nvSpPr>
        <p:spPr>
          <a:xfrm>
            <a:off x="460772" y="2921794"/>
            <a:ext cx="4036219" cy="1818084"/>
          </a:xfrm>
          <a:prstGeom prst="roundRect">
            <a:avLst>
              <a:gd name="adj" fmla="val 8382"/>
            </a:avLst>
          </a:prstGeom>
          <a:solidFill>
            <a:srgbClr val="FFFFFF"/>
          </a:solidFill>
          <a:ln w="7144">
            <a:solidFill>
              <a:srgbClr val="7C3AED"/>
            </a:solidFill>
            <a:prstDash val="solid"/>
          </a:ln>
          <a:effectLst>
            <a:outerShdw sx="100000" sy="100000" kx="0" ky="0" algn="bl" rotWithShape="0" blurRad="114300" dist="19050" dir="5400000">
              <a:srgbClr val="7C3AED">
                <a:alpha val="6000"/>
              </a:srgbClr>
            </a:outerShdw>
          </a:effectLst>
        </p:spPr>
        <p:txBody>
          <a:bodyPr wrap="square" rtlCol="0" anchor="ctr"/>
          <a:lstStyle/>
          <a:p>
            <a:pPr indent="0" marL="0">
              <a:buNone/>
            </a:pPr>
            <a:endParaRPr lang="en-US" dirty="0"/>
          </a:p>
        </p:txBody>
      </p:sp>
      <p:sp>
        <p:nvSpPr>
          <p:cNvPr id="19" name="Text 15"/>
          <p:cNvSpPr/>
          <p:nvPr/>
        </p:nvSpPr>
        <p:spPr>
          <a:xfrm>
            <a:off x="607219" y="3068241"/>
            <a:ext cx="314325" cy="314325"/>
          </a:xfrm>
          <a:prstGeom prst="roundRect">
            <a:avLst>
              <a:gd name="adj" fmla="val 30300000"/>
            </a:avLst>
          </a:prstGeom>
          <a:solidFill>
            <a:srgbClr val="FCE7F3"/>
          </a:solidFill>
          <a:ln/>
        </p:spPr>
        <p:txBody>
          <a:bodyPr wrap="square" rtlCol="0" anchor="ctr"/>
          <a:lstStyle/>
          <a:p>
            <a:pPr indent="0" marL="0">
              <a:buNone/>
            </a:pPr>
            <a:endParaRPr lang="en-US" dirty="0"/>
          </a:p>
        </p:txBody>
      </p:sp>
      <p:sp>
        <p:nvSpPr>
          <p:cNvPr id="20" name="Text 16"/>
          <p:cNvSpPr/>
          <p:nvPr/>
        </p:nvSpPr>
        <p:spPr>
          <a:xfrm>
            <a:off x="650438" y="3111460"/>
            <a:ext cx="227886" cy="227886"/>
          </a:xfrm>
          <a:prstGeom prst="rect">
            <a:avLst/>
          </a:prstGeom>
          <a:noFill/>
          <a:ln/>
        </p:spPr>
        <p:txBody>
          <a:bodyPr wrap="none" lIns="0" tIns="0" rIns="0" bIns="0" rtlCol="0" anchor="ctr"/>
          <a:lstStyle/>
          <a:p>
            <a:pPr algn="ctr" indent="0" marL="0">
              <a:buNone/>
            </a:pPr>
            <a:r>
              <a:rPr lang="en-US" sz="1547" dirty="0">
                <a:solidFill>
                  <a:srgbClr val="BE185D"/>
                </a:solidFill>
                <a:latin typeface="Segoe UI Symbol" pitchFamily="34" charset="0"/>
                <a:ea typeface="Segoe UI Symbol" pitchFamily="34" charset="-122"/>
                <a:cs typeface="Segoe UI Symbol" pitchFamily="34" charset="-120"/>
              </a:rPr>
              <a:t>✦</a:t>
            </a:r>
            <a:endParaRPr lang="en-US" sz="1547" dirty="0"/>
          </a:p>
        </p:txBody>
      </p:sp>
      <p:sp>
        <p:nvSpPr>
          <p:cNvPr id="21" name="Text 17"/>
          <p:cNvSpPr/>
          <p:nvPr/>
        </p:nvSpPr>
        <p:spPr>
          <a:xfrm>
            <a:off x="607219" y="3468291"/>
            <a:ext cx="3853053" cy="208312"/>
          </a:xfrm>
          <a:prstGeom prst="rect">
            <a:avLst/>
          </a:prstGeom>
          <a:noFill/>
          <a:ln/>
        </p:spPr>
        <p:txBody>
          <a:bodyPr wrap="square" lIns="0" tIns="0" rIns="0" bIns="0" rtlCol="0" anchor="t"/>
          <a:lstStyle/>
          <a:p>
            <a:pPr algn="l" indent="0" marL="0">
              <a:lnSpc>
                <a:spcPts val="1519"/>
              </a:lnSpc>
              <a:buNone/>
            </a:pPr>
            <a:r>
              <a:rPr lang="en-US" sz="1013" b="1" spc="-10" kern="0" dirty="0">
                <a:solidFill>
                  <a:srgbClr val="1E293B"/>
                </a:solidFill>
                <a:latin typeface="Liberation Sans Narrow" pitchFamily="34" charset="0"/>
                <a:ea typeface="Liberation Sans Narrow" pitchFamily="34" charset="-122"/>
                <a:cs typeface="Liberation Sans Narrow" pitchFamily="34" charset="-120"/>
              </a:rPr>
              <a:t>Module 3 — CredShield Honeypot</a:t>
            </a:r>
            <a:endParaRPr lang="en-US" sz="1013" dirty="0"/>
          </a:p>
        </p:txBody>
      </p:sp>
      <p:sp>
        <p:nvSpPr>
          <p:cNvPr id="22" name="Text 18"/>
          <p:cNvSpPr/>
          <p:nvPr/>
        </p:nvSpPr>
        <p:spPr>
          <a:xfrm>
            <a:off x="607219" y="3718322"/>
            <a:ext cx="3743325" cy="339961"/>
          </a:xfrm>
          <a:prstGeom prst="rect">
            <a:avLst/>
          </a:prstGeom>
          <a:noFill/>
          <a:ln/>
        </p:spPr>
        <p:txBody>
          <a:bodyPr wrap="square" lIns="0" tIns="0" rIns="0" bIns="0" rtlCol="0" anchor="t"/>
          <a:lstStyle/>
          <a:p>
            <a:pPr algn="l" indent="0" marL="0">
              <a:lnSpc>
                <a:spcPts val="1221"/>
              </a:lnSpc>
              <a:buNone/>
            </a:pPr>
            <a:r>
              <a:rPr lang="en-US" sz="800" dirty="0">
                <a:solidFill>
                  <a:srgbClr val="475569"/>
                </a:solidFill>
                <a:latin typeface="Carlito" pitchFamily="34" charset="0"/>
                <a:ea typeface="Carlito" pitchFamily="34" charset="-122"/>
                <a:cs typeface="Carlito" pitchFamily="34" charset="-120"/>
              </a:rPr>
              <a:t>Tracks failed logins per IP. After 3 fails, honeypot arms. 4th attempt is "successful" — serves fake dashboard with deterministic fake profile.</a:t>
            </a:r>
            <a:endParaRPr lang="en-US" sz="800" dirty="0"/>
          </a:p>
        </p:txBody>
      </p:sp>
      <p:sp>
        <p:nvSpPr>
          <p:cNvPr id="23" name="Text 19"/>
          <p:cNvSpPr/>
          <p:nvPr/>
        </p:nvSpPr>
        <p:spPr>
          <a:xfrm>
            <a:off x="4647009" y="2921794"/>
            <a:ext cx="4036219" cy="1818084"/>
          </a:xfrm>
          <a:prstGeom prst="roundRect">
            <a:avLst>
              <a:gd name="adj" fmla="val 8382"/>
            </a:avLst>
          </a:prstGeom>
          <a:solidFill>
            <a:srgbClr val="FFFFFF"/>
          </a:solidFill>
          <a:ln w="7144">
            <a:solidFill>
              <a:srgbClr val="7C3AED"/>
            </a:solidFill>
            <a:prstDash val="solid"/>
          </a:ln>
          <a:effectLst>
            <a:outerShdw sx="100000" sy="100000" kx="0" ky="0" algn="bl" rotWithShape="0" blurRad="114300" dist="19050" dir="5400000">
              <a:srgbClr val="7C3AED">
                <a:alpha val="6000"/>
              </a:srgbClr>
            </a:outerShdw>
          </a:effectLst>
        </p:spPr>
        <p:txBody>
          <a:bodyPr wrap="square" rtlCol="0" anchor="ctr"/>
          <a:lstStyle/>
          <a:p>
            <a:pPr indent="0" marL="0">
              <a:buNone/>
            </a:pPr>
            <a:endParaRPr lang="en-US" dirty="0"/>
          </a:p>
        </p:txBody>
      </p:sp>
      <p:sp>
        <p:nvSpPr>
          <p:cNvPr id="24" name="Text 20"/>
          <p:cNvSpPr/>
          <p:nvPr/>
        </p:nvSpPr>
        <p:spPr>
          <a:xfrm>
            <a:off x="4793456" y="3068241"/>
            <a:ext cx="314325" cy="314325"/>
          </a:xfrm>
          <a:prstGeom prst="roundRect">
            <a:avLst>
              <a:gd name="adj" fmla="val 30300000"/>
            </a:avLst>
          </a:prstGeom>
          <a:solidFill>
            <a:srgbClr val="D1FAE5"/>
          </a:solidFill>
          <a:ln/>
        </p:spPr>
        <p:txBody>
          <a:bodyPr wrap="square" rtlCol="0" anchor="ctr"/>
          <a:lstStyle/>
          <a:p>
            <a:pPr indent="0" marL="0">
              <a:buNone/>
            </a:pPr>
            <a:endParaRPr lang="en-US" dirty="0"/>
          </a:p>
        </p:txBody>
      </p:sp>
      <p:sp>
        <p:nvSpPr>
          <p:cNvPr id="25" name="Text 21"/>
          <p:cNvSpPr/>
          <p:nvPr/>
        </p:nvSpPr>
        <p:spPr>
          <a:xfrm>
            <a:off x="4836676" y="3111460"/>
            <a:ext cx="227886" cy="227886"/>
          </a:xfrm>
          <a:prstGeom prst="rect">
            <a:avLst/>
          </a:prstGeom>
          <a:noFill/>
          <a:ln/>
        </p:spPr>
        <p:txBody>
          <a:bodyPr wrap="none" lIns="0" tIns="0" rIns="0" bIns="0" rtlCol="0" anchor="ctr"/>
          <a:lstStyle/>
          <a:p>
            <a:pPr algn="ctr" indent="0" marL="0">
              <a:buNone/>
            </a:pPr>
            <a:r>
              <a:rPr lang="en-US" sz="1547" dirty="0">
                <a:solidFill>
                  <a:srgbClr val="059669"/>
                </a:solidFill>
                <a:latin typeface="Segoe UI Symbol" pitchFamily="34" charset="0"/>
                <a:ea typeface="Segoe UI Symbol" pitchFamily="34" charset="-122"/>
                <a:cs typeface="Segoe UI Symbol" pitchFamily="34" charset="-120"/>
              </a:rPr>
              <a:t>⌇</a:t>
            </a:r>
            <a:endParaRPr lang="en-US" sz="1547" dirty="0"/>
          </a:p>
        </p:txBody>
      </p:sp>
      <p:sp>
        <p:nvSpPr>
          <p:cNvPr id="26" name="Text 22"/>
          <p:cNvSpPr/>
          <p:nvPr/>
        </p:nvSpPr>
        <p:spPr>
          <a:xfrm>
            <a:off x="4793456" y="3468291"/>
            <a:ext cx="3743325" cy="208312"/>
          </a:xfrm>
          <a:prstGeom prst="rect">
            <a:avLst/>
          </a:prstGeom>
          <a:noFill/>
          <a:ln/>
        </p:spPr>
        <p:txBody>
          <a:bodyPr wrap="none" lIns="0" tIns="0" rIns="0" bIns="0" rtlCol="0" anchor="t"/>
          <a:lstStyle/>
          <a:p>
            <a:pPr algn="l" indent="0" marL="0">
              <a:lnSpc>
                <a:spcPts val="1519"/>
              </a:lnSpc>
              <a:buNone/>
            </a:pPr>
            <a:r>
              <a:rPr lang="en-US" sz="1013" b="1" spc="-10" kern="0" dirty="0">
                <a:solidFill>
                  <a:srgbClr val="1E293B"/>
                </a:solidFill>
                <a:latin typeface="Liberation Sans Narrow" pitchFamily="34" charset="0"/>
                <a:ea typeface="Liberation Sans Narrow" pitchFamily="34" charset="-122"/>
                <a:cs typeface="Liberation Sans Narrow" pitchFamily="34" charset="-120"/>
              </a:rPr>
              <a:t>Module 4 — SOC Dashboard</a:t>
            </a:r>
            <a:endParaRPr lang="en-US" sz="1013" dirty="0"/>
          </a:p>
        </p:txBody>
      </p:sp>
      <p:sp>
        <p:nvSpPr>
          <p:cNvPr id="27" name="Text 23"/>
          <p:cNvSpPr/>
          <p:nvPr/>
        </p:nvSpPr>
        <p:spPr>
          <a:xfrm>
            <a:off x="4793456" y="3718322"/>
            <a:ext cx="3743325" cy="339961"/>
          </a:xfrm>
          <a:prstGeom prst="rect">
            <a:avLst/>
          </a:prstGeom>
          <a:noFill/>
          <a:ln/>
        </p:spPr>
        <p:txBody>
          <a:bodyPr wrap="square" lIns="0" tIns="0" rIns="0" bIns="0" rtlCol="0" anchor="t"/>
          <a:lstStyle/>
          <a:p>
            <a:pPr algn="l" indent="0" marL="0">
              <a:lnSpc>
                <a:spcPts val="1221"/>
              </a:lnSpc>
              <a:buNone/>
            </a:pPr>
            <a:r>
              <a:rPr lang="en-US" sz="800" dirty="0">
                <a:solidFill>
                  <a:srgbClr val="475569"/>
                </a:solidFill>
                <a:latin typeface="Carlito" pitchFamily="34" charset="0"/>
                <a:ea typeface="Carlito" pitchFamily="34" charset="-122"/>
                <a:cs typeface="Carlito" pitchFamily="34" charset="-120"/>
              </a:rPr>
              <a:t>Real-time Socket.io feed, IP geolocation via ip-api.com, event history (last 500), top attackers catalog, admin APIs.</a:t>
            </a:r>
            <a:endParaRPr lang="en-US" sz="800" dirty="0"/>
          </a:p>
        </p:txBody>
      </p:sp>
      <p:sp>
        <p:nvSpPr>
          <p:cNvPr id="28" name="Text 24"/>
          <p:cNvSpPr/>
          <p:nvPr/>
        </p:nvSpPr>
        <p:spPr>
          <a:xfrm>
            <a:off x="3847769" y="2717897"/>
            <a:ext cx="1448462" cy="257775"/>
          </a:xfrm>
          <a:prstGeom prst="roundRect">
            <a:avLst>
              <a:gd name="adj" fmla="val 3691388"/>
            </a:avLst>
          </a:prstGeom>
          <a:solidFill>
            <a:srgbClr val="FFFFFF"/>
          </a:solidFill>
          <a:ln w="7144">
            <a:solidFill>
              <a:srgbClr val="E2E8F0"/>
            </a:solidFill>
            <a:prstDash val="solid"/>
          </a:ln>
          <a:effectLst>
            <a:outerShdw sx="100000" sy="100000" kx="0" ky="0" algn="bl" rotWithShape="0" blurRad="101600" dist="50800" dir="16200000">
              <a:srgbClr val="FFFFFF">
                <a:alpha val="75000"/>
              </a:srgbClr>
            </a:outerShdw>
          </a:effectLst>
        </p:spPr>
        <p:txBody>
          <a:bodyPr wrap="square" rtlCol="0" anchor="ctr"/>
          <a:lstStyle/>
          <a:p>
            <a:pPr indent="0" marL="0">
              <a:buNone/>
            </a:pPr>
            <a:endParaRPr lang="en-US" dirty="0"/>
          </a:p>
        </p:txBody>
      </p:sp>
      <p:sp>
        <p:nvSpPr>
          <p:cNvPr id="29" name="Text 25"/>
          <p:cNvSpPr/>
          <p:nvPr/>
        </p:nvSpPr>
        <p:spPr>
          <a:xfrm>
            <a:off x="4120660" y="2794992"/>
            <a:ext cx="1045555" cy="129679"/>
          </a:xfrm>
          <a:prstGeom prst="rect">
            <a:avLst/>
          </a:prstGeom>
          <a:noFill/>
          <a:ln/>
        </p:spPr>
        <p:txBody>
          <a:bodyPr wrap="none" lIns="0" tIns="0" rIns="0" bIns="0" rtlCol="0" anchor="t"/>
          <a:lstStyle/>
          <a:p>
            <a:pPr algn="l" indent="0" marL="0">
              <a:lnSpc>
                <a:spcPts val="928"/>
              </a:lnSpc>
              <a:buNone/>
            </a:pPr>
            <a:r>
              <a:rPr lang="en-US" sz="619" spc="25" kern="0" dirty="0">
                <a:solidFill>
                  <a:srgbClr val="475569"/>
                </a:solidFill>
                <a:latin typeface="Carlito" pitchFamily="34" charset="0"/>
                <a:ea typeface="Carlito" pitchFamily="34" charset="-122"/>
                <a:cs typeface="Carlito" pitchFamily="34" charset="-120"/>
              </a:rPr>
              <a:t>SOCKET.IO EVENT BUS</a:t>
            </a:r>
            <a:endParaRPr lang="en-US" sz="619" dirty="0"/>
          </a:p>
        </p:txBody>
      </p:sp>
      <p:sp>
        <p:nvSpPr>
          <p:cNvPr id="30" name="Text 26"/>
          <p:cNvSpPr/>
          <p:nvPr/>
        </p:nvSpPr>
        <p:spPr>
          <a:xfrm>
            <a:off x="3977785" y="2796778"/>
            <a:ext cx="100013" cy="100013"/>
          </a:xfrm>
          <a:prstGeom prst="rect">
            <a:avLst/>
          </a:prstGeom>
          <a:noFill/>
          <a:ln/>
        </p:spPr>
        <p:txBody>
          <a:bodyPr wrap="none" lIns="0" tIns="0" rIns="0" bIns="0" rtlCol="0" anchor="ctr"/>
          <a:lstStyle/>
          <a:p>
            <a:pPr algn="ctr" indent="0" marL="0">
              <a:buNone/>
            </a:pPr>
            <a:r>
              <a:rPr lang="en-US" sz="984" dirty="0">
                <a:solidFill>
                  <a:srgbClr val="7C3AED"/>
                </a:solidFill>
                <a:latin typeface="Segoe UI Symbol" pitchFamily="34" charset="0"/>
                <a:ea typeface="Segoe UI Symbol" pitchFamily="34" charset="-122"/>
                <a:cs typeface="Segoe UI Symbol" pitchFamily="34" charset="-120"/>
              </a:rPr>
              <a:t>⚡</a:t>
            </a:r>
            <a:endParaRPr lang="en-US" sz="984"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0" b="0"/>
          <a:stretch/>
        </p:blipFill>
        <p:spPr>
          <a:xfrm>
            <a:off x="0" y="0"/>
            <a:ext cx="9144000" cy="5143500"/>
          </a:xfrm>
          <a:prstGeom prst="rect">
            <a:avLst/>
          </a:prstGeom>
        </p:spPr>
      </p:pic>
      <p:pic>
        <p:nvPicPr>
          <p:cNvPr id="3" name="Image 1" descr="preencoded.png">    </p:cNvPr>
          <p:cNvPicPr>
            <a:picLocks noChangeAspect="1"/>
          </p:cNvPicPr>
          <p:nvPr/>
        </p:nvPicPr>
        <p:blipFill>
          <a:blip r:embed="rId2"/>
          <a:stretch>
            <a:fillRect/>
          </a:stretch>
        </p:blipFill>
        <p:spPr>
          <a:xfrm>
            <a:off x="0" y="0"/>
            <a:ext cx="9144000" cy="5143500"/>
          </a:xfrm>
          <a:prstGeom prst="rect">
            <a:avLst/>
          </a:prstGeom>
        </p:spPr>
      </p:pic>
      <p:sp>
        <p:nvSpPr>
          <p:cNvPr id="4" name="Text 0"/>
          <p:cNvSpPr/>
          <p:nvPr/>
        </p:nvSpPr>
        <p:spPr>
          <a:xfrm>
            <a:off x="8629650" y="200025"/>
            <a:ext cx="314325" cy="314325"/>
          </a:xfrm>
          <a:prstGeom prst="roundRect">
            <a:avLst>
              <a:gd name="adj" fmla="val 30300000"/>
            </a:avLst>
          </a:prstGeom>
          <a:solidFill>
            <a:srgbClr val="EDE9FE"/>
          </a:solidFill>
          <a:ln/>
        </p:spPr>
        <p:txBody>
          <a:bodyPr wrap="square" rtlCol="0" anchor="ctr"/>
          <a:lstStyle/>
          <a:p>
            <a:pPr indent="0" marL="0">
              <a:buNone/>
            </a:pPr>
            <a:endParaRPr lang="en-US" dirty="0"/>
          </a:p>
        </p:txBody>
      </p:sp>
      <p:sp>
        <p:nvSpPr>
          <p:cNvPr id="5" name="Text 1"/>
          <p:cNvSpPr/>
          <p:nvPr/>
        </p:nvSpPr>
        <p:spPr>
          <a:xfrm>
            <a:off x="8662511" y="232886"/>
            <a:ext cx="248602" cy="248602"/>
          </a:xfrm>
          <a:prstGeom prst="rect">
            <a:avLst/>
          </a:prstGeom>
          <a:noFill/>
          <a:ln/>
        </p:spPr>
        <p:txBody>
          <a:bodyPr wrap="none" lIns="0" tIns="0" rIns="0" bIns="0" rtlCol="0" anchor="ctr"/>
          <a:lstStyle/>
          <a:p>
            <a:pPr algn="ctr" indent="0" marL="0">
              <a:buNone/>
            </a:pPr>
            <a:r>
              <a:rPr lang="en-US" sz="1688" dirty="0">
                <a:solidFill>
                  <a:srgbClr val="7C3AED"/>
                </a:solidFill>
                <a:latin typeface="Segoe UI Symbol" pitchFamily="34" charset="0"/>
                <a:ea typeface="Segoe UI Symbol" pitchFamily="34" charset="-122"/>
                <a:cs typeface="Segoe UI Symbol" pitchFamily="34" charset="-120"/>
              </a:rPr>
              <a:t>⛨</a:t>
            </a:r>
            <a:endParaRPr lang="en-US" sz="1688" dirty="0"/>
          </a:p>
        </p:txBody>
      </p:sp>
      <p:sp>
        <p:nvSpPr>
          <p:cNvPr id="6" name="Text 2"/>
          <p:cNvSpPr/>
          <p:nvPr/>
        </p:nvSpPr>
        <p:spPr>
          <a:xfrm>
            <a:off x="434340" y="418124"/>
            <a:ext cx="1385285" cy="196025"/>
          </a:xfrm>
          <a:prstGeom prst="roundRect">
            <a:avLst>
              <a:gd name="adj" fmla="val 4854215"/>
            </a:avLst>
          </a:prstGeom>
          <a:solidFill>
            <a:srgbClr val="FFE4E6"/>
          </a:solidFill>
          <a:ln/>
        </p:spPr>
        <p:txBody>
          <a:bodyPr wrap="square" rtlCol="0" anchor="ctr"/>
          <a:lstStyle/>
          <a:p>
            <a:pPr indent="0" marL="0">
              <a:buNone/>
            </a:pPr>
            <a:endParaRPr lang="en-US" dirty="0"/>
          </a:p>
        </p:txBody>
      </p:sp>
      <p:sp>
        <p:nvSpPr>
          <p:cNvPr id="7" name="Text 3"/>
          <p:cNvSpPr/>
          <p:nvPr/>
        </p:nvSpPr>
        <p:spPr>
          <a:xfrm>
            <a:off x="457200" y="428625"/>
            <a:ext cx="1339565" cy="175022"/>
          </a:xfrm>
          <a:prstGeom prst="rect">
            <a:avLst/>
          </a:prstGeom>
          <a:noFill/>
          <a:ln/>
        </p:spPr>
        <p:txBody>
          <a:bodyPr wrap="none" lIns="0" tIns="0" rIns="0" bIns="0" rtlCol="0" anchor="ctr"/>
          <a:lstStyle/>
          <a:p>
            <a:pPr algn="ctr" indent="0" marL="0">
              <a:lnSpc>
                <a:spcPts val="928"/>
              </a:lnSpc>
              <a:buNone/>
            </a:pPr>
            <a:r>
              <a:rPr lang="en-US" sz="800" spc="25" kern="0" dirty="0">
                <a:solidFill>
                  <a:srgbClr val="BE123C"/>
                </a:solidFill>
                <a:latin typeface="Liberation Sans Narrow" pitchFamily="34" charset="0"/>
                <a:ea typeface="Liberation Sans Narrow" pitchFamily="34" charset="-122"/>
                <a:cs typeface="Liberation Sans Narrow" pitchFamily="34" charset="-120"/>
              </a:rPr>
              <a:t>MODULE 2 · WAF ENGINE</a:t>
            </a:r>
            <a:endParaRPr lang="en-US" sz="800" dirty="0"/>
          </a:p>
        </p:txBody>
      </p:sp>
      <p:sp>
        <p:nvSpPr>
          <p:cNvPr id="8" name="Text 4"/>
          <p:cNvSpPr/>
          <p:nvPr/>
        </p:nvSpPr>
        <p:spPr>
          <a:xfrm>
            <a:off x="457200" y="689372"/>
            <a:ext cx="4400550" cy="248335"/>
          </a:xfrm>
          <a:prstGeom prst="rect">
            <a:avLst/>
          </a:prstGeom>
          <a:noFill/>
          <a:ln/>
        </p:spPr>
        <p:txBody>
          <a:bodyPr wrap="square" lIns="0" tIns="0" rIns="0" bIns="0" rtlCol="0" anchor="t"/>
          <a:lstStyle/>
          <a:p>
            <a:pPr algn="l" indent="0" marL="0">
              <a:lnSpc>
                <a:spcPts val="1811"/>
              </a:lnSpc>
              <a:buNone/>
            </a:pPr>
            <a:r>
              <a:rPr lang="en-US" sz="1575" b="1" spc="-24" kern="0" dirty="0">
                <a:solidFill>
                  <a:srgbClr val="1E293B"/>
                </a:solidFill>
                <a:latin typeface="Carlito" pitchFamily="34" charset="0"/>
                <a:ea typeface="Carlito" pitchFamily="34" charset="-122"/>
                <a:cs typeface="Carlito" pitchFamily="34" charset="-120"/>
              </a:rPr>
              <a:t>Scoring engine, not hard blocks</a:t>
            </a:r>
            <a:endParaRPr lang="en-US" sz="1575" dirty="0"/>
          </a:p>
        </p:txBody>
      </p:sp>
      <p:sp>
        <p:nvSpPr>
          <p:cNvPr id="9" name="Text 5"/>
          <p:cNvSpPr/>
          <p:nvPr/>
        </p:nvSpPr>
        <p:spPr>
          <a:xfrm>
            <a:off x="457200" y="1005036"/>
            <a:ext cx="4000500" cy="717518"/>
          </a:xfrm>
          <a:prstGeom prst="rect">
            <a:avLst/>
          </a:prstGeom>
          <a:noFill/>
          <a:ln/>
        </p:spPr>
        <p:txBody>
          <a:bodyPr wrap="square" lIns="0" tIns="0" rIns="0" bIns="0" rtlCol="0" anchor="t"/>
          <a:lstStyle/>
          <a:p>
            <a:pPr algn="l" indent="0" marL="0">
              <a:lnSpc>
                <a:spcPts val="1308"/>
              </a:lnSpc>
              <a:buNone/>
            </a:pPr>
            <a:r>
              <a:rPr lang="en-US" sz="844" dirty="0">
                <a:solidFill>
                  <a:srgbClr val="475569"/>
                </a:solidFill>
                <a:latin typeface="Carlito" pitchFamily="34" charset="0"/>
                <a:ea typeface="Carlito" pitchFamily="34" charset="-122"/>
                <a:cs typeface="Carlito" pitchFamily="34" charset="-120"/>
              </a:rPr>
              <a:t>Each regex rule has a point value. The request score is the sum of all matched rules. Block threshold = 4. This lets benign traffic with a single low-score indicator (like a </a:t>
            </a:r>
            <a:pPr algn="l" indent="0" marL="0">
              <a:lnSpc>
                <a:spcPts val="1308"/>
              </a:lnSpc>
              <a:buNone/>
            </a:pPr>
            <a:r>
              <a:rPr lang="en-US" sz="844" dirty="0">
                <a:solidFill>
                  <a:srgbClr val="475569"/>
                </a:solidFill>
                <a:latin typeface="Courier New" pitchFamily="34" charset="0"/>
                <a:ea typeface="Courier New" pitchFamily="34" charset="-122"/>
                <a:cs typeface="Courier New" pitchFamily="34" charset="-120"/>
              </a:rPr>
              <a:t>--</a:t>
            </a:r>
            <a:pPr algn="l" indent="0" marL="0">
              <a:lnSpc>
                <a:spcPts val="1308"/>
              </a:lnSpc>
              <a:buNone/>
            </a:pPr>
            <a:r>
              <a:rPr lang="en-US" sz="844" dirty="0">
                <a:solidFill>
                  <a:srgbClr val="475569"/>
                </a:solidFill>
                <a:latin typeface="Carlito" pitchFamily="34" charset="0"/>
                <a:ea typeface="Carlito" pitchFamily="34" charset="-122"/>
                <a:cs typeface="Carlito" pitchFamily="34" charset="-120"/>
              </a:rPr>
              <a:t> in a legitimate comment) pass through, while real attacks trigger multiple high-score rules.</a:t>
            </a:r>
            <a:endParaRPr lang="en-US" sz="844" dirty="0"/>
          </a:p>
        </p:txBody>
      </p:sp>
      <p:sp>
        <p:nvSpPr>
          <p:cNvPr id="10" name="Text 6"/>
          <p:cNvSpPr/>
          <p:nvPr/>
        </p:nvSpPr>
        <p:spPr>
          <a:xfrm>
            <a:off x="460772" y="1787277"/>
            <a:ext cx="3993356" cy="750094"/>
          </a:xfrm>
          <a:prstGeom prst="roundRect">
            <a:avLst>
              <a:gd name="adj" fmla="val 20317"/>
            </a:avLst>
          </a:prstGeom>
          <a:solidFill>
            <a:srgbClr val="FFFFFF"/>
          </a:solidFill>
          <a:ln w="7144">
            <a:solidFill>
              <a:srgbClr val="7C3AED"/>
            </a:solidFill>
            <a:prstDash val="solid"/>
          </a:ln>
          <a:effectLst>
            <a:outerShdw sx="100000" sy="100000" kx="0" ky="0" algn="bl" rotWithShape="0" blurRad="114300" dist="19050" dir="5400000">
              <a:srgbClr val="7C3AED">
                <a:alpha val="6000"/>
              </a:srgbClr>
            </a:outerShdw>
          </a:effectLst>
        </p:spPr>
        <p:txBody>
          <a:bodyPr wrap="square" rtlCol="0" anchor="ctr"/>
          <a:lstStyle/>
          <a:p>
            <a:pPr indent="0" marL="0">
              <a:buNone/>
            </a:pPr>
            <a:endParaRPr lang="en-US"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464344" y="1790849"/>
          <a:ext cx="3986213" cy="914400"/>
        </p:xfrm>
        <a:graphic>
          <a:graphicData uri="http://schemas.openxmlformats.org/drawingml/2006/table">
            <a:tbl>
              <a:tblPr/>
              <a:tblGrid>
                <a:gridCol w="1471836"/>
                <a:gridCol w="1359880"/>
                <a:gridCol w="465237"/>
                <a:gridCol w="689260"/>
              </a:tblGrid>
              <a:tr h="0">
                <a:tc>
                  <a:txBody>
                    <a:bodyPr/>
                    <a:lstStyle/>
                    <a:p>
                      <a:pPr algn="l" indent="0" marL="0">
                        <a:buNone/>
                      </a:pPr>
                      <a:r>
                        <a:rPr lang="en-US" sz="800" b="1" dirty="0">
                          <a:solidFill>
                            <a:srgbClr val="475569"/>
                          </a:solidFill>
                          <a:latin typeface="Courier New" pitchFamily="34" charset="0"/>
                          <a:ea typeface="Courier New" pitchFamily="34" charset="-122"/>
                          <a:cs typeface="Courier New" pitchFamily="34" charset="-120"/>
                        </a:rPr>
                        <a:t>Payload</a:t>
                      </a:r>
                      <a:endParaRPr lang="en-US" sz="800" dirty="0">
                        <a:latin typeface="Courier New" charset="0"/>
                        <a:ea typeface="Courier New" charset="0"/>
                        <a:cs typeface="Courier New" charset="0"/>
                      </a:endParaRPr>
                    </a:p>
                  </a:txBody>
                  <a:tcPr marL="57150" marR="85725" marT="85725" marB="57150" anchor="ctr">
                    <a:lnL w="6350" cap="flat" cmpd="sng" algn="ctr">
                      <a:solidFill>
                        <a:srgbClr val="7C3AED"/>
                      </a:solidFill>
                      <a:prstDash val="solid"/>
                      <a:round/>
                      <a:headEnd type="none" w="med" len="med"/>
                      <a:tailEnd type="none" w="med" len="med"/>
                    </a:lnL>
                    <a:lnR w="6350" cap="flat" cmpd="sng" algn="ctr">
                      <a:solidFill>
                        <a:srgbClr val="7C3AED"/>
                      </a:solidFill>
                      <a:prstDash val="solid"/>
                      <a:round/>
                      <a:headEnd type="none" w="med" len="med"/>
                      <a:tailEnd type="none" w="med" len="med"/>
                    </a:lnR>
                    <a:lnT w="6350" cap="flat" cmpd="sng" algn="ctr">
                      <a:solidFill>
                        <a:srgbClr val="7C3AED"/>
                      </a:solidFill>
                      <a:prstDash val="solid"/>
                      <a:round/>
                      <a:headEnd type="none" w="med" len="med"/>
                      <a:tailEnd type="none" w="med" len="med"/>
                    </a:lnT>
                    <a:lnB w="6350" cap="flat" cmpd="sng" algn="ctr">
                      <a:solidFill>
                        <a:srgbClr val="7C3AED"/>
                      </a:solidFill>
                      <a:prstDash val="solid"/>
                      <a:round/>
                      <a:headEnd type="none" w="med" len="med"/>
                      <a:tailEnd type="none" w="med" len="med"/>
                    </a:lnB>
                  </a:tcPr>
                </a:tc>
                <a:tc>
                  <a:txBody>
                    <a:bodyPr/>
                    <a:lstStyle/>
                    <a:p>
                      <a:pPr algn="l" indent="0" marL="0">
                        <a:buNone/>
                      </a:pPr>
                      <a:r>
                        <a:rPr lang="en-US" sz="800" b="1" dirty="0">
                          <a:solidFill>
                            <a:srgbClr val="475569"/>
                          </a:solidFill>
                          <a:latin typeface="Courier New" pitchFamily="34" charset="0"/>
                          <a:ea typeface="Courier New" pitchFamily="34" charset="-122"/>
                          <a:cs typeface="Courier New" pitchFamily="34" charset="-120"/>
                        </a:rPr>
                        <a:t>Rules hit</a:t>
                      </a:r>
                      <a:endParaRPr lang="en-US" sz="800" dirty="0">
                        <a:latin typeface="Courier New" charset="0"/>
                        <a:ea typeface="Courier New" charset="0"/>
                        <a:cs typeface="Courier New" charset="0"/>
                      </a:endParaRPr>
                    </a:p>
                  </a:txBody>
                  <a:tcPr marL="57150" marR="85725" marT="85725" marB="57150" anchor="ctr">
                    <a:lnL w="6350" cap="flat" cmpd="sng" algn="ctr">
                      <a:solidFill>
                        <a:srgbClr val="7C3AED"/>
                      </a:solidFill>
                      <a:prstDash val="solid"/>
                      <a:round/>
                      <a:headEnd type="none" w="med" len="med"/>
                      <a:tailEnd type="none" w="med" len="med"/>
                    </a:lnL>
                    <a:lnR w="6350" cap="flat" cmpd="sng" algn="ctr">
                      <a:solidFill>
                        <a:srgbClr val="7C3AED"/>
                      </a:solidFill>
                      <a:prstDash val="solid"/>
                      <a:round/>
                      <a:headEnd type="none" w="med" len="med"/>
                      <a:tailEnd type="none" w="med" len="med"/>
                    </a:lnR>
                    <a:lnT w="6350" cap="flat" cmpd="sng" algn="ctr">
                      <a:solidFill>
                        <a:srgbClr val="7C3AED"/>
                      </a:solidFill>
                      <a:prstDash val="solid"/>
                      <a:round/>
                      <a:headEnd type="none" w="med" len="med"/>
                      <a:tailEnd type="none" w="med" len="med"/>
                    </a:lnT>
                    <a:lnB w="6350" cap="flat" cmpd="sng" algn="ctr">
                      <a:solidFill>
                        <a:srgbClr val="7C3AED"/>
                      </a:solidFill>
                      <a:prstDash val="solid"/>
                      <a:round/>
                      <a:headEnd type="none" w="med" len="med"/>
                      <a:tailEnd type="none" w="med" len="med"/>
                    </a:lnB>
                  </a:tcPr>
                </a:tc>
                <a:tc>
                  <a:txBody>
                    <a:bodyPr/>
                    <a:lstStyle/>
                    <a:p>
                      <a:pPr algn="l" indent="0" marL="0">
                        <a:buNone/>
                      </a:pPr>
                      <a:r>
                        <a:rPr lang="en-US" sz="800" b="1" dirty="0">
                          <a:solidFill>
                            <a:srgbClr val="475569"/>
                          </a:solidFill>
                          <a:latin typeface="Courier New" pitchFamily="34" charset="0"/>
                          <a:ea typeface="Courier New" pitchFamily="34" charset="-122"/>
                          <a:cs typeface="Courier New" pitchFamily="34" charset="-120"/>
                        </a:rPr>
                        <a:t>Score</a:t>
                      </a:r>
                      <a:endParaRPr lang="en-US" sz="800" dirty="0">
                        <a:latin typeface="Courier New" charset="0"/>
                        <a:ea typeface="Courier New" charset="0"/>
                        <a:cs typeface="Courier New" charset="0"/>
                      </a:endParaRPr>
                    </a:p>
                  </a:txBody>
                  <a:tcPr marL="57150" marR="85725" marT="85725" marB="57150" anchor="ctr">
                    <a:lnL w="6350" cap="flat" cmpd="sng" algn="ctr">
                      <a:solidFill>
                        <a:srgbClr val="7C3AED"/>
                      </a:solidFill>
                      <a:prstDash val="solid"/>
                      <a:round/>
                      <a:headEnd type="none" w="med" len="med"/>
                      <a:tailEnd type="none" w="med" len="med"/>
                    </a:lnL>
                    <a:lnR w="6350" cap="flat" cmpd="sng" algn="ctr">
                      <a:solidFill>
                        <a:srgbClr val="7C3AED"/>
                      </a:solidFill>
                      <a:prstDash val="solid"/>
                      <a:round/>
                      <a:headEnd type="none" w="med" len="med"/>
                      <a:tailEnd type="none" w="med" len="med"/>
                    </a:lnR>
                    <a:lnT w="6350" cap="flat" cmpd="sng" algn="ctr">
                      <a:solidFill>
                        <a:srgbClr val="7C3AED"/>
                      </a:solidFill>
                      <a:prstDash val="solid"/>
                      <a:round/>
                      <a:headEnd type="none" w="med" len="med"/>
                      <a:tailEnd type="none" w="med" len="med"/>
                    </a:lnT>
                    <a:lnB w="6350" cap="flat" cmpd="sng" algn="ctr">
                      <a:solidFill>
                        <a:srgbClr val="7C3AED"/>
                      </a:solidFill>
                      <a:prstDash val="solid"/>
                      <a:round/>
                      <a:headEnd type="none" w="med" len="med"/>
                      <a:tailEnd type="none" w="med" len="med"/>
                    </a:lnB>
                  </a:tcPr>
                </a:tc>
                <a:tc>
                  <a:txBody>
                    <a:bodyPr/>
                    <a:lstStyle/>
                    <a:p>
                      <a:pPr algn="l" indent="0" marL="0">
                        <a:buNone/>
                      </a:pPr>
                      <a:r>
                        <a:rPr lang="en-US" sz="800" b="1" dirty="0">
                          <a:solidFill>
                            <a:srgbClr val="475569"/>
                          </a:solidFill>
                          <a:latin typeface="Courier New" pitchFamily="34" charset="0"/>
                          <a:ea typeface="Courier New" pitchFamily="34" charset="-122"/>
                          <a:cs typeface="Courier New" pitchFamily="34" charset="-120"/>
                        </a:rPr>
                        <a:t>Result</a:t>
                      </a:r>
                      <a:endParaRPr lang="en-US" sz="800" dirty="0">
                        <a:latin typeface="Courier New" charset="0"/>
                        <a:ea typeface="Courier New" charset="0"/>
                        <a:cs typeface="Courier New" charset="0"/>
                      </a:endParaRPr>
                    </a:p>
                  </a:txBody>
                  <a:tcPr marL="57150" marR="85725" marT="85725" marB="57150" anchor="ctr">
                    <a:lnL w="6350" cap="flat" cmpd="sng" algn="ctr">
                      <a:solidFill>
                        <a:srgbClr val="7C3AED"/>
                      </a:solidFill>
                      <a:prstDash val="solid"/>
                      <a:round/>
                      <a:headEnd type="none" w="med" len="med"/>
                      <a:tailEnd type="none" w="med" len="med"/>
                    </a:lnL>
                    <a:lnR w="6350" cap="flat" cmpd="sng" algn="ctr">
                      <a:solidFill>
                        <a:srgbClr val="7C3AED"/>
                      </a:solidFill>
                      <a:prstDash val="solid"/>
                      <a:round/>
                      <a:headEnd type="none" w="med" len="med"/>
                      <a:tailEnd type="none" w="med" len="med"/>
                    </a:lnR>
                    <a:lnT w="6350" cap="flat" cmpd="sng" algn="ctr">
                      <a:solidFill>
                        <a:srgbClr val="7C3AED"/>
                      </a:solidFill>
                      <a:prstDash val="solid"/>
                      <a:round/>
                      <a:headEnd type="none" w="med" len="med"/>
                      <a:tailEnd type="none" w="med" len="med"/>
                    </a:lnT>
                    <a:lnB w="6350" cap="flat" cmpd="sng" algn="ctr">
                      <a:solidFill>
                        <a:srgbClr val="7C3AED"/>
                      </a:solidFill>
                      <a:prstDash val="solid"/>
                      <a:round/>
                      <a:headEnd type="none" w="med" len="med"/>
                      <a:tailEnd type="none" w="med" len="med"/>
                    </a:lnB>
                  </a:tcPr>
                </a:tc>
              </a:tr>
              <a:tr h="0">
                <a:tc>
                  <a:txBody>
                    <a:bodyPr/>
                    <a:lstStyle/>
                    <a:p>
                      <a:pPr algn="l" indent="0" marL="0">
                        <a:buNone/>
                      </a:pPr>
                      <a:r>
                        <a:rPr lang="en-US" sz="800" dirty="0">
                          <a:solidFill>
                            <a:srgbClr val="334155"/>
                          </a:solidFill>
                          <a:latin typeface="Courier New" pitchFamily="34" charset="0"/>
                          <a:ea typeface="Courier New" pitchFamily="34" charset="-122"/>
                          <a:cs typeface="Courier New" pitchFamily="34" charset="-120"/>
                        </a:rPr>
                        <a:t>UNION SELECT</a:t>
                      </a:r>
                      <a:endParaRPr lang="en-US" sz="800" dirty="0">
                        <a:latin typeface="Courier New" charset="0"/>
                        <a:ea typeface="Courier New" charset="0"/>
                        <a:cs typeface="Courier New" charset="0"/>
                      </a:endParaRPr>
                    </a:p>
                  </a:txBody>
                  <a:tcPr marL="57150" marR="85725" marT="85725" marB="57150" anchor="ctr">
                    <a:lnL w="6350" cap="flat" cmpd="sng" algn="ctr">
                      <a:solidFill>
                        <a:srgbClr val="7C3AED"/>
                      </a:solidFill>
                      <a:prstDash val="solid"/>
                      <a:round/>
                      <a:headEnd type="none" w="med" len="med"/>
                      <a:tailEnd type="none" w="med" len="med"/>
                    </a:lnL>
                    <a:lnR w="6350" cap="flat" cmpd="sng" algn="ctr">
                      <a:solidFill>
                        <a:srgbClr val="7C3AED"/>
                      </a:solidFill>
                      <a:prstDash val="solid"/>
                      <a:round/>
                      <a:headEnd type="none" w="med" len="med"/>
                      <a:tailEnd type="none" w="med" len="med"/>
                    </a:lnR>
                    <a:lnT w="6350" cap="flat" cmpd="sng" algn="ctr">
                      <a:solidFill>
                        <a:srgbClr val="7C3AED"/>
                      </a:solidFill>
                      <a:prstDash val="solid"/>
                      <a:round/>
                      <a:headEnd type="none" w="med" len="med"/>
                      <a:tailEnd type="none" w="med" len="med"/>
                    </a:lnT>
                    <a:lnB w="6350" cap="flat" cmpd="sng" algn="ctr">
                      <a:solidFill>
                        <a:srgbClr val="7C3AED"/>
                      </a:solidFill>
                      <a:prstDash val="solid"/>
                      <a:round/>
                      <a:headEnd type="none" w="med" len="med"/>
                      <a:tailEnd type="none" w="med" len="med"/>
                    </a:lnB>
                  </a:tcPr>
                </a:tc>
                <a:tc>
                  <a:txBody>
                    <a:bodyPr/>
                    <a:lstStyle/>
                    <a:p>
                      <a:pPr algn="l" indent="0" marL="0">
                        <a:buNone/>
                      </a:pPr>
                      <a:r>
                        <a:rPr lang="en-US" sz="800" dirty="0">
                          <a:solidFill>
                            <a:srgbClr val="64748B"/>
                          </a:solidFill>
                          <a:latin typeface="Courier New" pitchFamily="34" charset="0"/>
                          <a:ea typeface="Courier New" pitchFamily="34" charset="-122"/>
                          <a:cs typeface="Courier New" pitchFamily="34" charset="-120"/>
                        </a:rPr>
                        <a:t>sqli_union_select (4)</a:t>
                      </a:r>
                      <a:endParaRPr lang="en-US" sz="800" dirty="0">
                        <a:latin typeface="Courier New" charset="0"/>
                        <a:ea typeface="Courier New" charset="0"/>
                        <a:cs typeface="Courier New" charset="0"/>
                      </a:endParaRPr>
                    </a:p>
                  </a:txBody>
                  <a:tcPr marL="57150" marR="85725" marT="85725" marB="57150" anchor="ctr">
                    <a:lnL w="6350" cap="flat" cmpd="sng" algn="ctr">
                      <a:solidFill>
                        <a:srgbClr val="7C3AED"/>
                      </a:solidFill>
                      <a:prstDash val="solid"/>
                      <a:round/>
                      <a:headEnd type="none" w="med" len="med"/>
                      <a:tailEnd type="none" w="med" len="med"/>
                    </a:lnL>
                    <a:lnR w="6350" cap="flat" cmpd="sng" algn="ctr">
                      <a:solidFill>
                        <a:srgbClr val="7C3AED"/>
                      </a:solidFill>
                      <a:prstDash val="solid"/>
                      <a:round/>
                      <a:headEnd type="none" w="med" len="med"/>
                      <a:tailEnd type="none" w="med" len="med"/>
                    </a:lnR>
                    <a:lnT w="6350" cap="flat" cmpd="sng" algn="ctr">
                      <a:solidFill>
                        <a:srgbClr val="7C3AED"/>
                      </a:solidFill>
                      <a:prstDash val="solid"/>
                      <a:round/>
                      <a:headEnd type="none" w="med" len="med"/>
                      <a:tailEnd type="none" w="med" len="med"/>
                    </a:lnT>
                    <a:lnB w="6350" cap="flat" cmpd="sng" algn="ctr">
                      <a:solidFill>
                        <a:srgbClr val="7C3AED"/>
                      </a:solidFill>
                      <a:prstDash val="solid"/>
                      <a:round/>
                      <a:headEnd type="none" w="med" len="med"/>
                      <a:tailEnd type="none" w="med" len="med"/>
                    </a:lnB>
                  </a:tcPr>
                </a:tc>
                <a:tc>
                  <a:txBody>
                    <a:bodyPr/>
                    <a:lstStyle/>
                    <a:p>
                      <a:pPr algn="l" indent="0" marL="0">
                        <a:buNone/>
                      </a:pPr>
                      <a:r>
                        <a:rPr lang="en-US" sz="800" dirty="0">
                          <a:solidFill>
                            <a:srgbClr val="334155"/>
                          </a:solidFill>
                          <a:latin typeface="Courier New" pitchFamily="34" charset="0"/>
                          <a:ea typeface="Courier New" pitchFamily="34" charset="-122"/>
                          <a:cs typeface="Courier New" pitchFamily="34" charset="-120"/>
                        </a:rPr>
                        <a:t>4</a:t>
                      </a:r>
                      <a:endParaRPr lang="en-US" sz="800" dirty="0">
                        <a:latin typeface="Courier New" charset="0"/>
                        <a:ea typeface="Courier New" charset="0"/>
                        <a:cs typeface="Courier New" charset="0"/>
                      </a:endParaRPr>
                    </a:p>
                  </a:txBody>
                  <a:tcPr marL="57150" marR="85725" marT="85725" marB="57150" anchor="ctr">
                    <a:lnL w="6350" cap="flat" cmpd="sng" algn="ctr">
                      <a:solidFill>
                        <a:srgbClr val="7C3AED"/>
                      </a:solidFill>
                      <a:prstDash val="solid"/>
                      <a:round/>
                      <a:headEnd type="none" w="med" len="med"/>
                      <a:tailEnd type="none" w="med" len="med"/>
                    </a:lnL>
                    <a:lnR w="6350" cap="flat" cmpd="sng" algn="ctr">
                      <a:solidFill>
                        <a:srgbClr val="7C3AED"/>
                      </a:solidFill>
                      <a:prstDash val="solid"/>
                      <a:round/>
                      <a:headEnd type="none" w="med" len="med"/>
                      <a:tailEnd type="none" w="med" len="med"/>
                    </a:lnR>
                    <a:lnT w="6350" cap="flat" cmpd="sng" algn="ctr">
                      <a:solidFill>
                        <a:srgbClr val="7C3AED"/>
                      </a:solidFill>
                      <a:prstDash val="solid"/>
                      <a:round/>
                      <a:headEnd type="none" w="med" len="med"/>
                      <a:tailEnd type="none" w="med" len="med"/>
                    </a:lnT>
                    <a:lnB w="6350" cap="flat" cmpd="sng" algn="ctr">
                      <a:solidFill>
                        <a:srgbClr val="7C3AED"/>
                      </a:solidFill>
                      <a:prstDash val="solid"/>
                      <a:round/>
                      <a:headEnd type="none" w="med" len="med"/>
                      <a:tailEnd type="none" w="med" len="med"/>
                    </a:lnB>
                  </a:tcPr>
                </a:tc>
                <a:tc>
                  <a:txBody>
                    <a:bodyPr/>
                    <a:lstStyle/>
                    <a:p>
                      <a:pPr algn="l" indent="0" marL="0">
                        <a:buNone/>
                      </a:pPr>
                      <a:r>
                        <a:rPr lang="en-US" sz="800" dirty="0">
                          <a:solidFill>
                            <a:srgbClr val="D97706"/>
                          </a:solidFill>
                          <a:latin typeface="Courier New" pitchFamily="34" charset="0"/>
                          <a:ea typeface="Courier New" pitchFamily="34" charset="-122"/>
                          <a:cs typeface="Courier New" pitchFamily="34" charset="-120"/>
                        </a:rPr>
                        <a:t>✗ flagged</a:t>
                      </a:r>
                      <a:endParaRPr lang="en-US" sz="800" dirty="0">
                        <a:latin typeface="Courier New" charset="0"/>
                        <a:ea typeface="Courier New" charset="0"/>
                        <a:cs typeface="Courier New" charset="0"/>
                      </a:endParaRPr>
                    </a:p>
                  </a:txBody>
                  <a:tcPr marL="57150" marR="85725" marT="85725" marB="57150" anchor="ctr">
                    <a:lnL w="6350" cap="flat" cmpd="sng" algn="ctr">
                      <a:solidFill>
                        <a:srgbClr val="7C3AED"/>
                      </a:solidFill>
                      <a:prstDash val="solid"/>
                      <a:round/>
                      <a:headEnd type="none" w="med" len="med"/>
                      <a:tailEnd type="none" w="med" len="med"/>
                    </a:lnL>
                    <a:lnR w="6350" cap="flat" cmpd="sng" algn="ctr">
                      <a:solidFill>
                        <a:srgbClr val="7C3AED"/>
                      </a:solidFill>
                      <a:prstDash val="solid"/>
                      <a:round/>
                      <a:headEnd type="none" w="med" len="med"/>
                      <a:tailEnd type="none" w="med" len="med"/>
                    </a:lnR>
                    <a:lnT w="6350" cap="flat" cmpd="sng" algn="ctr">
                      <a:solidFill>
                        <a:srgbClr val="7C3AED"/>
                      </a:solidFill>
                      <a:prstDash val="solid"/>
                      <a:round/>
                      <a:headEnd type="none" w="med" len="med"/>
                      <a:tailEnd type="none" w="med" len="med"/>
                    </a:lnT>
                    <a:lnB w="6350" cap="flat" cmpd="sng" algn="ctr">
                      <a:solidFill>
                        <a:srgbClr val="7C3AED"/>
                      </a:solidFill>
                      <a:prstDash val="solid"/>
                      <a:round/>
                      <a:headEnd type="none" w="med" len="med"/>
                      <a:tailEnd type="none" w="med" len="med"/>
                    </a:lnB>
                  </a:tcPr>
                </a:tc>
              </a:tr>
              <a:tr h="0">
                <a:tc>
                  <a:txBody>
                    <a:bodyPr/>
                    <a:lstStyle/>
                    <a:p>
                      <a:pPr algn="l" indent="0" marL="0">
                        <a:buNone/>
                      </a:pPr>
                      <a:r>
                        <a:rPr lang="en-US" sz="800" dirty="0">
                          <a:solidFill>
                            <a:srgbClr val="334155"/>
                          </a:solidFill>
                          <a:latin typeface="Courier New" pitchFamily="34" charset="0"/>
                          <a:ea typeface="Courier New" pitchFamily="34" charset="-122"/>
                          <a:cs typeface="Courier New" pitchFamily="34" charset="-120"/>
                        </a:rPr>
                        <a:t>' UNION SELECT 1,2,3 --</a:t>
                      </a:r>
                      <a:endParaRPr lang="en-US" sz="800" dirty="0">
                        <a:latin typeface="Courier New" charset="0"/>
                        <a:ea typeface="Courier New" charset="0"/>
                        <a:cs typeface="Courier New" charset="0"/>
                      </a:endParaRPr>
                    </a:p>
                  </a:txBody>
                  <a:tcPr marL="57150" marR="85725" marT="85725" marB="57150" anchor="ctr">
                    <a:lnL w="6350" cap="flat" cmpd="sng" algn="ctr">
                      <a:solidFill>
                        <a:srgbClr val="7C3AED"/>
                      </a:solidFill>
                      <a:prstDash val="solid"/>
                      <a:round/>
                      <a:headEnd type="none" w="med" len="med"/>
                      <a:tailEnd type="none" w="med" len="med"/>
                    </a:lnL>
                    <a:lnR w="6350" cap="flat" cmpd="sng" algn="ctr">
                      <a:solidFill>
                        <a:srgbClr val="7C3AED"/>
                      </a:solidFill>
                      <a:prstDash val="solid"/>
                      <a:round/>
                      <a:headEnd type="none" w="med" len="med"/>
                      <a:tailEnd type="none" w="med" len="med"/>
                    </a:lnR>
                    <a:lnT w="6350" cap="flat" cmpd="sng" algn="ctr">
                      <a:solidFill>
                        <a:srgbClr val="7C3AED"/>
                      </a:solidFill>
                      <a:prstDash val="solid"/>
                      <a:round/>
                      <a:headEnd type="none" w="med" len="med"/>
                      <a:tailEnd type="none" w="med" len="med"/>
                    </a:lnT>
                    <a:lnB w="6350" cap="flat" cmpd="sng" algn="ctr">
                      <a:solidFill>
                        <a:srgbClr val="7C3AED"/>
                      </a:solidFill>
                      <a:prstDash val="solid"/>
                      <a:round/>
                      <a:headEnd type="none" w="med" len="med"/>
                      <a:tailEnd type="none" w="med" len="med"/>
                    </a:lnB>
                  </a:tcPr>
                </a:tc>
                <a:tc>
                  <a:txBody>
                    <a:bodyPr/>
                    <a:lstStyle/>
                    <a:p>
                      <a:pPr algn="l" indent="0" marL="0">
                        <a:buNone/>
                      </a:pPr>
                      <a:r>
                        <a:rPr lang="en-US" sz="800" dirty="0">
                          <a:solidFill>
                            <a:srgbClr val="64748B"/>
                          </a:solidFill>
                          <a:latin typeface="Courier New" pitchFamily="34" charset="0"/>
                          <a:ea typeface="Courier New" pitchFamily="34" charset="-122"/>
                          <a:cs typeface="Courier New" pitchFamily="34" charset="-120"/>
                        </a:rPr>
                        <a:t>union(4) + comment(1)</a:t>
                      </a:r>
                      <a:endParaRPr lang="en-US" sz="800" dirty="0">
                        <a:latin typeface="Courier New" charset="0"/>
                        <a:ea typeface="Courier New" charset="0"/>
                        <a:cs typeface="Courier New" charset="0"/>
                      </a:endParaRPr>
                    </a:p>
                  </a:txBody>
                  <a:tcPr marL="57150" marR="85725" marT="85725" marB="57150" anchor="ctr">
                    <a:lnL w="6350" cap="flat" cmpd="sng" algn="ctr">
                      <a:solidFill>
                        <a:srgbClr val="7C3AED"/>
                      </a:solidFill>
                      <a:prstDash val="solid"/>
                      <a:round/>
                      <a:headEnd type="none" w="med" len="med"/>
                      <a:tailEnd type="none" w="med" len="med"/>
                    </a:lnL>
                    <a:lnR w="6350" cap="flat" cmpd="sng" algn="ctr">
                      <a:solidFill>
                        <a:srgbClr val="7C3AED"/>
                      </a:solidFill>
                      <a:prstDash val="solid"/>
                      <a:round/>
                      <a:headEnd type="none" w="med" len="med"/>
                      <a:tailEnd type="none" w="med" len="med"/>
                    </a:lnR>
                    <a:lnT w="6350" cap="flat" cmpd="sng" algn="ctr">
                      <a:solidFill>
                        <a:srgbClr val="7C3AED"/>
                      </a:solidFill>
                      <a:prstDash val="solid"/>
                      <a:round/>
                      <a:headEnd type="none" w="med" len="med"/>
                      <a:tailEnd type="none" w="med" len="med"/>
                    </a:lnT>
                    <a:lnB w="6350" cap="flat" cmpd="sng" algn="ctr">
                      <a:solidFill>
                        <a:srgbClr val="7C3AED"/>
                      </a:solidFill>
                      <a:prstDash val="solid"/>
                      <a:round/>
                      <a:headEnd type="none" w="med" len="med"/>
                      <a:tailEnd type="none" w="med" len="med"/>
                    </a:lnB>
                  </a:tcPr>
                </a:tc>
                <a:tc>
                  <a:txBody>
                    <a:bodyPr/>
                    <a:lstStyle/>
                    <a:p>
                      <a:pPr algn="l" indent="0" marL="0">
                        <a:buNone/>
                      </a:pPr>
                      <a:r>
                        <a:rPr lang="en-US" sz="800" b="1" dirty="0">
                          <a:solidFill>
                            <a:srgbClr val="EC4899"/>
                          </a:solidFill>
                          <a:latin typeface="Courier New" pitchFamily="34" charset="0"/>
                          <a:ea typeface="Courier New" pitchFamily="34" charset="-122"/>
                          <a:cs typeface="Courier New" pitchFamily="34" charset="-120"/>
                        </a:rPr>
                        <a:t>5</a:t>
                      </a:r>
                      <a:endParaRPr lang="en-US" sz="800" dirty="0">
                        <a:latin typeface="Courier New" charset="0"/>
                        <a:ea typeface="Courier New" charset="0"/>
                        <a:cs typeface="Courier New" charset="0"/>
                      </a:endParaRPr>
                    </a:p>
                  </a:txBody>
                  <a:tcPr marL="57150" marR="85725" marT="85725" marB="57150" anchor="ctr">
                    <a:lnL w="6350" cap="flat" cmpd="sng" algn="ctr">
                      <a:solidFill>
                        <a:srgbClr val="7C3AED"/>
                      </a:solidFill>
                      <a:prstDash val="solid"/>
                      <a:round/>
                      <a:headEnd type="none" w="med" len="med"/>
                      <a:tailEnd type="none" w="med" len="med"/>
                    </a:lnL>
                    <a:lnR w="6350" cap="flat" cmpd="sng" algn="ctr">
                      <a:solidFill>
                        <a:srgbClr val="7C3AED"/>
                      </a:solidFill>
                      <a:prstDash val="solid"/>
                      <a:round/>
                      <a:headEnd type="none" w="med" len="med"/>
                      <a:tailEnd type="none" w="med" len="med"/>
                    </a:lnR>
                    <a:lnT w="6350" cap="flat" cmpd="sng" algn="ctr">
                      <a:solidFill>
                        <a:srgbClr val="7C3AED"/>
                      </a:solidFill>
                      <a:prstDash val="solid"/>
                      <a:round/>
                      <a:headEnd type="none" w="med" len="med"/>
                      <a:tailEnd type="none" w="med" len="med"/>
                    </a:lnT>
                    <a:lnB w="6350" cap="flat" cmpd="sng" algn="ctr">
                      <a:solidFill>
                        <a:srgbClr val="7C3AED"/>
                      </a:solidFill>
                      <a:prstDash val="solid"/>
                      <a:round/>
                      <a:headEnd type="none" w="med" len="med"/>
                      <a:tailEnd type="none" w="med" len="med"/>
                    </a:lnB>
                  </a:tcPr>
                </a:tc>
                <a:tc>
                  <a:txBody>
                    <a:bodyPr/>
                    <a:lstStyle/>
                    <a:p>
                      <a:pPr algn="l" indent="0" marL="0">
                        <a:buNone/>
                      </a:pPr>
                      <a:r>
                        <a:rPr lang="en-US" sz="800" b="1" dirty="0">
                          <a:solidFill>
                            <a:srgbClr val="059669"/>
                          </a:solidFill>
                          <a:latin typeface="Courier New" pitchFamily="34" charset="0"/>
                          <a:ea typeface="Courier New" pitchFamily="34" charset="-122"/>
                          <a:cs typeface="Courier New" pitchFamily="34" charset="-120"/>
                        </a:rPr>
                        <a:t>✓ BLOCKED</a:t>
                      </a:r>
                      <a:endParaRPr lang="en-US" sz="800" dirty="0">
                        <a:latin typeface="Courier New" charset="0"/>
                        <a:ea typeface="Courier New" charset="0"/>
                        <a:cs typeface="Courier New" charset="0"/>
                      </a:endParaRPr>
                    </a:p>
                  </a:txBody>
                  <a:tcPr marL="57150" marR="85725" marT="85725" marB="57150" anchor="ctr">
                    <a:lnL w="6350" cap="flat" cmpd="sng" algn="ctr">
                      <a:solidFill>
                        <a:srgbClr val="7C3AED"/>
                      </a:solidFill>
                      <a:prstDash val="solid"/>
                      <a:round/>
                      <a:headEnd type="none" w="med" len="med"/>
                      <a:tailEnd type="none" w="med" len="med"/>
                    </a:lnL>
                    <a:lnR w="6350" cap="flat" cmpd="sng" algn="ctr">
                      <a:solidFill>
                        <a:srgbClr val="7C3AED"/>
                      </a:solidFill>
                      <a:prstDash val="solid"/>
                      <a:round/>
                      <a:headEnd type="none" w="med" len="med"/>
                      <a:tailEnd type="none" w="med" len="med"/>
                    </a:lnR>
                    <a:lnT w="6350" cap="flat" cmpd="sng" algn="ctr">
                      <a:solidFill>
                        <a:srgbClr val="7C3AED"/>
                      </a:solidFill>
                      <a:prstDash val="solid"/>
                      <a:round/>
                      <a:headEnd type="none" w="med" len="med"/>
                      <a:tailEnd type="none" w="med" len="med"/>
                    </a:lnT>
                    <a:lnB w="6350" cap="flat" cmpd="sng" algn="ctr">
                      <a:solidFill>
                        <a:srgbClr val="7C3AED"/>
                      </a:solidFill>
                      <a:prstDash val="solid"/>
                      <a:round/>
                      <a:headEnd type="none" w="med" len="med"/>
                      <a:tailEnd type="none" w="med" len="med"/>
                    </a:lnB>
                  </a:tcPr>
                </a:tc>
              </a:tr>
            </a:tbl>
          </a:graphicData>
        </a:graphic>
      </p:graphicFrame>
      <p:sp>
        <p:nvSpPr>
          <p:cNvPr id="12" name="Text 7"/>
          <p:cNvSpPr/>
          <p:nvPr/>
        </p:nvSpPr>
        <p:spPr>
          <a:xfrm>
            <a:off x="4686300" y="428625"/>
            <a:ext cx="4200525" cy="208312"/>
          </a:xfrm>
          <a:prstGeom prst="rect">
            <a:avLst/>
          </a:prstGeom>
          <a:noFill/>
          <a:ln/>
        </p:spPr>
        <p:txBody>
          <a:bodyPr wrap="none" lIns="0" tIns="0" rIns="0" bIns="0" rtlCol="0" anchor="t"/>
          <a:lstStyle/>
          <a:p>
            <a:pPr algn="l" indent="0" marL="0">
              <a:lnSpc>
                <a:spcPts val="1519"/>
              </a:lnSpc>
              <a:buNone/>
            </a:pPr>
            <a:r>
              <a:rPr lang="en-US" sz="1013" b="1" spc="-10" kern="0" dirty="0">
                <a:solidFill>
                  <a:srgbClr val="1E293B"/>
                </a:solidFill>
                <a:latin typeface="Carlito" pitchFamily="34" charset="0"/>
                <a:ea typeface="Carlito" pitchFamily="34" charset="-122"/>
                <a:cs typeface="Carlito" pitchFamily="34" charset="-120"/>
              </a:rPr>
              <a:t>De-obfuscation pipeline</a:t>
            </a:r>
            <a:endParaRPr lang="en-US" sz="1013" dirty="0"/>
          </a:p>
        </p:txBody>
      </p:sp>
      <p:sp>
        <p:nvSpPr>
          <p:cNvPr id="13" name="Text 8"/>
          <p:cNvSpPr/>
          <p:nvPr/>
        </p:nvSpPr>
        <p:spPr>
          <a:xfrm>
            <a:off x="4689872" y="710803"/>
            <a:ext cx="3993356" cy="260747"/>
          </a:xfrm>
          <a:prstGeom prst="roundRect">
            <a:avLst>
              <a:gd name="adj" fmla="val 58447"/>
            </a:avLst>
          </a:prstGeom>
          <a:solidFill>
            <a:srgbClr val="FFFFFF"/>
          </a:solidFill>
          <a:ln w="7144">
            <a:solidFill>
              <a:srgbClr val="7C3AED"/>
            </a:solidFill>
            <a:prstDash val="solid"/>
          </a:ln>
          <a:effectLst>
            <a:outerShdw sx="100000" sy="100000" kx="0" ky="0" algn="bl" rotWithShape="0" blurRad="114300" dist="19050" dir="5400000">
              <a:srgbClr val="7C3AED">
                <a:alpha val="6000"/>
              </a:srgbClr>
            </a:outerShdw>
          </a:effectLst>
        </p:spPr>
        <p:txBody>
          <a:bodyPr wrap="square" rtlCol="0" anchor="ctr"/>
          <a:lstStyle/>
          <a:p>
            <a:pPr indent="0" marL="0">
              <a:buNone/>
            </a:pPr>
            <a:endParaRPr lang="en-US" dirty="0"/>
          </a:p>
        </p:txBody>
      </p:sp>
      <p:sp>
        <p:nvSpPr>
          <p:cNvPr id="14" name="Text 9"/>
          <p:cNvSpPr/>
          <p:nvPr/>
        </p:nvSpPr>
        <p:spPr>
          <a:xfrm>
            <a:off x="4686300" y="707231"/>
            <a:ext cx="4000500" cy="267891"/>
          </a:xfrm>
          <a:prstGeom prst="rect">
            <a:avLst/>
          </a:prstGeom>
          <a:noFill/>
          <a:ln/>
        </p:spPr>
        <p:txBody>
          <a:bodyPr wrap="none" lIns="0" tIns="0" rIns="0" bIns="0" rtlCol="0" anchor="ctr"/>
          <a:lstStyle/>
          <a:p>
            <a:pPr algn="ctr" indent="0" marL="0">
              <a:lnSpc>
                <a:spcPts val="1097"/>
              </a:lnSpc>
              <a:buNone/>
            </a:pPr>
            <a:r>
              <a:rPr lang="en-US" sz="800" dirty="0">
                <a:solidFill>
                  <a:srgbClr val="475569"/>
                </a:solidFill>
                <a:latin typeface="Courier New" pitchFamily="34" charset="0"/>
                <a:ea typeface="Courier New" pitchFamily="34" charset="-122"/>
                <a:cs typeface="Courier New" pitchFamily="34" charset="-120"/>
              </a:rPr>
              <a:t>Raw input</a:t>
            </a:r>
            <a:endParaRPr lang="en-US" sz="800" dirty="0"/>
          </a:p>
        </p:txBody>
      </p:sp>
      <p:sp>
        <p:nvSpPr>
          <p:cNvPr id="15" name="Text 10"/>
          <p:cNvSpPr/>
          <p:nvPr/>
        </p:nvSpPr>
        <p:spPr>
          <a:xfrm>
            <a:off x="6629400" y="1003697"/>
            <a:ext cx="114300" cy="114300"/>
          </a:xfrm>
          <a:prstGeom prst="rect">
            <a:avLst/>
          </a:prstGeom>
          <a:noFill/>
          <a:ln/>
        </p:spPr>
        <p:txBody>
          <a:bodyPr wrap="none" lIns="0" tIns="0" rIns="0" bIns="0" rtlCol="0" anchor="ctr"/>
          <a:lstStyle/>
          <a:p>
            <a:pPr algn="ctr" indent="0" marL="0">
              <a:buNone/>
            </a:pPr>
            <a:r>
              <a:rPr lang="en-US" sz="1125" dirty="0">
                <a:solidFill>
                  <a:srgbClr val="8A87A0"/>
                </a:solidFill>
                <a:latin typeface="Segoe UI Symbol" pitchFamily="34" charset="0"/>
                <a:ea typeface="Segoe UI Symbol" pitchFamily="34" charset="-122"/>
                <a:cs typeface="Segoe UI Symbol" pitchFamily="34" charset="-120"/>
              </a:rPr>
              <a:t>↓</a:t>
            </a:r>
            <a:endParaRPr lang="en-US" sz="1125" dirty="0"/>
          </a:p>
        </p:txBody>
      </p:sp>
      <p:sp>
        <p:nvSpPr>
          <p:cNvPr id="16" name="Text 11"/>
          <p:cNvSpPr/>
          <p:nvPr/>
        </p:nvSpPr>
        <p:spPr>
          <a:xfrm>
            <a:off x="4689872" y="1150144"/>
            <a:ext cx="3993356" cy="260747"/>
          </a:xfrm>
          <a:prstGeom prst="roundRect">
            <a:avLst>
              <a:gd name="adj" fmla="val 58447"/>
            </a:avLst>
          </a:prstGeom>
          <a:solidFill>
            <a:srgbClr val="FFFFFF"/>
          </a:solidFill>
          <a:ln w="7144">
            <a:solidFill>
              <a:srgbClr val="7C3AED"/>
            </a:solidFill>
            <a:prstDash val="solid"/>
          </a:ln>
          <a:effectLst>
            <a:outerShdw sx="100000" sy="100000" kx="0" ky="0" algn="bl" rotWithShape="0" blurRad="114300" dist="19050" dir="5400000">
              <a:srgbClr val="7C3AED">
                <a:alpha val="6000"/>
              </a:srgbClr>
            </a:outerShdw>
          </a:effectLst>
        </p:spPr>
        <p:txBody>
          <a:bodyPr wrap="square" rtlCol="0" anchor="ctr"/>
          <a:lstStyle/>
          <a:p>
            <a:pPr indent="0" marL="0">
              <a:buNone/>
            </a:pPr>
            <a:endParaRPr lang="en-US" dirty="0"/>
          </a:p>
        </p:txBody>
      </p:sp>
      <p:sp>
        <p:nvSpPr>
          <p:cNvPr id="17" name="Text 12"/>
          <p:cNvSpPr/>
          <p:nvPr/>
        </p:nvSpPr>
        <p:spPr>
          <a:xfrm>
            <a:off x="4807744" y="1225153"/>
            <a:ext cx="1353071" cy="125016"/>
          </a:xfrm>
          <a:prstGeom prst="rect">
            <a:avLst/>
          </a:prstGeom>
          <a:noFill/>
          <a:ln/>
        </p:spPr>
        <p:txBody>
          <a:bodyPr wrap="none" lIns="0" tIns="0" rIns="0" bIns="0" rtlCol="0" anchor="t"/>
          <a:lstStyle/>
          <a:p>
            <a:pPr algn="l" indent="0" marL="0">
              <a:lnSpc>
                <a:spcPts val="1097"/>
              </a:lnSpc>
              <a:buNone/>
            </a:pPr>
            <a:r>
              <a:rPr lang="en-US" sz="800" dirty="0">
                <a:solidFill>
                  <a:srgbClr val="7C3AED"/>
                </a:solidFill>
                <a:latin typeface="Liberation Sans Narrow" pitchFamily="34" charset="0"/>
                <a:ea typeface="Liberation Sans Narrow" pitchFamily="34" charset="-122"/>
                <a:cs typeface="Liberation Sans Narrow" pitchFamily="34" charset="-120"/>
              </a:rPr>
              <a:t>decodeURIComponent × 3</a:t>
            </a:r>
            <a:endParaRPr lang="en-US" sz="800" dirty="0"/>
          </a:p>
        </p:txBody>
      </p:sp>
      <p:sp>
        <p:nvSpPr>
          <p:cNvPr id="18" name="Text 13"/>
          <p:cNvSpPr/>
          <p:nvPr/>
        </p:nvSpPr>
        <p:spPr>
          <a:xfrm>
            <a:off x="6150880" y="1225153"/>
            <a:ext cx="1310685" cy="125016"/>
          </a:xfrm>
          <a:prstGeom prst="rect">
            <a:avLst/>
          </a:prstGeom>
          <a:noFill/>
          <a:ln/>
        </p:spPr>
        <p:txBody>
          <a:bodyPr wrap="none" lIns="0" tIns="0" rIns="0" bIns="0" rtlCol="0" anchor="t"/>
          <a:lstStyle/>
          <a:p>
            <a:pPr algn="l" indent="0" marL="0">
              <a:lnSpc>
                <a:spcPts val="1097"/>
              </a:lnSpc>
              <a:buNone/>
            </a:pPr>
            <a:r>
              <a:rPr lang="en-US" sz="800" dirty="0">
                <a:solidFill>
                  <a:srgbClr val="94A3B8"/>
                </a:solidFill>
                <a:latin typeface="Liberation Sans Narrow" pitchFamily="34" charset="0"/>
                <a:ea typeface="Liberation Sans Narrow" pitchFamily="34" charset="-122"/>
                <a:cs typeface="Liberation Sans Narrow" pitchFamily="34" charset="-120"/>
              </a:rPr>
              <a:t>— catches %27, %2527</a:t>
            </a:r>
            <a:endParaRPr lang="en-US" sz="800" dirty="0"/>
          </a:p>
        </p:txBody>
      </p:sp>
      <p:sp>
        <p:nvSpPr>
          <p:cNvPr id="19" name="Text 14"/>
          <p:cNvSpPr/>
          <p:nvPr/>
        </p:nvSpPr>
        <p:spPr>
          <a:xfrm>
            <a:off x="6629400" y="1443038"/>
            <a:ext cx="114300" cy="114300"/>
          </a:xfrm>
          <a:prstGeom prst="rect">
            <a:avLst/>
          </a:prstGeom>
          <a:noFill/>
          <a:ln/>
        </p:spPr>
        <p:txBody>
          <a:bodyPr wrap="none" lIns="0" tIns="0" rIns="0" bIns="0" rtlCol="0" anchor="ctr"/>
          <a:lstStyle/>
          <a:p>
            <a:pPr algn="ctr" indent="0" marL="0">
              <a:buNone/>
            </a:pPr>
            <a:r>
              <a:rPr lang="en-US" sz="1125" dirty="0">
                <a:solidFill>
                  <a:srgbClr val="8A87A0"/>
                </a:solidFill>
                <a:latin typeface="Segoe UI Symbol" pitchFamily="34" charset="0"/>
                <a:ea typeface="Segoe UI Symbol" pitchFamily="34" charset="-122"/>
                <a:cs typeface="Segoe UI Symbol" pitchFamily="34" charset="-120"/>
              </a:rPr>
              <a:t>↓</a:t>
            </a:r>
            <a:endParaRPr lang="en-US" sz="1125" dirty="0"/>
          </a:p>
        </p:txBody>
      </p:sp>
      <p:sp>
        <p:nvSpPr>
          <p:cNvPr id="20" name="Text 15"/>
          <p:cNvSpPr/>
          <p:nvPr/>
        </p:nvSpPr>
        <p:spPr>
          <a:xfrm>
            <a:off x="4689872" y="1589484"/>
            <a:ext cx="3993356" cy="260747"/>
          </a:xfrm>
          <a:prstGeom prst="roundRect">
            <a:avLst>
              <a:gd name="adj" fmla="val 58447"/>
            </a:avLst>
          </a:prstGeom>
          <a:solidFill>
            <a:srgbClr val="FFFFFF"/>
          </a:solidFill>
          <a:ln w="7144">
            <a:solidFill>
              <a:srgbClr val="7C3AED"/>
            </a:solidFill>
            <a:prstDash val="solid"/>
          </a:ln>
          <a:effectLst>
            <a:outerShdw sx="100000" sy="100000" kx="0" ky="0" algn="bl" rotWithShape="0" blurRad="114300" dist="19050" dir="5400000">
              <a:srgbClr val="7C3AED">
                <a:alpha val="6000"/>
              </a:srgbClr>
            </a:outerShdw>
          </a:effectLst>
        </p:spPr>
        <p:txBody>
          <a:bodyPr wrap="square" rtlCol="0" anchor="ctr"/>
          <a:lstStyle/>
          <a:p>
            <a:pPr indent="0" marL="0">
              <a:buNone/>
            </a:pPr>
            <a:endParaRPr lang="en-US" dirty="0"/>
          </a:p>
        </p:txBody>
      </p:sp>
      <p:sp>
        <p:nvSpPr>
          <p:cNvPr id="21" name="Text 16"/>
          <p:cNvSpPr/>
          <p:nvPr/>
        </p:nvSpPr>
        <p:spPr>
          <a:xfrm>
            <a:off x="4807744" y="1664494"/>
            <a:ext cx="1179603" cy="125016"/>
          </a:xfrm>
          <a:prstGeom prst="rect">
            <a:avLst/>
          </a:prstGeom>
          <a:noFill/>
          <a:ln/>
        </p:spPr>
        <p:txBody>
          <a:bodyPr wrap="none" lIns="0" tIns="0" rIns="0" bIns="0" rtlCol="0" anchor="t"/>
          <a:lstStyle/>
          <a:p>
            <a:pPr algn="l" indent="0" marL="0">
              <a:lnSpc>
                <a:spcPts val="1097"/>
              </a:lnSpc>
              <a:buNone/>
            </a:pPr>
            <a:r>
              <a:rPr lang="en-US" sz="800" dirty="0">
                <a:solidFill>
                  <a:srgbClr val="7C3AED"/>
                </a:solidFill>
                <a:latin typeface="Courier New" pitchFamily="34" charset="0"/>
                <a:ea typeface="Courier New" pitchFamily="34" charset="-122"/>
                <a:cs typeface="Courier New" pitchFamily="34" charset="-120"/>
              </a:rPr>
              <a:t>decodeHtmlEntities</a:t>
            </a:r>
            <a:endParaRPr lang="en-US" sz="800" dirty="0"/>
          </a:p>
        </p:txBody>
      </p:sp>
      <p:sp>
        <p:nvSpPr>
          <p:cNvPr id="22" name="Text 17"/>
          <p:cNvSpPr/>
          <p:nvPr/>
        </p:nvSpPr>
        <p:spPr>
          <a:xfrm>
            <a:off x="5927303" y="1664494"/>
            <a:ext cx="982981" cy="125016"/>
          </a:xfrm>
          <a:prstGeom prst="rect">
            <a:avLst/>
          </a:prstGeom>
          <a:noFill/>
          <a:ln/>
        </p:spPr>
        <p:txBody>
          <a:bodyPr wrap="none" lIns="0" tIns="0" rIns="0" bIns="0" rtlCol="0" anchor="t"/>
          <a:lstStyle/>
          <a:p>
            <a:pPr algn="l" indent="0" marL="0">
              <a:lnSpc>
                <a:spcPts val="1097"/>
              </a:lnSpc>
              <a:buNone/>
            </a:pPr>
            <a:r>
              <a:rPr lang="en-US" sz="800" dirty="0">
                <a:solidFill>
                  <a:srgbClr val="94A3B8"/>
                </a:solidFill>
                <a:latin typeface="Courier New" pitchFamily="34" charset="0"/>
                <a:ea typeface="Courier New" pitchFamily="34" charset="-122"/>
                <a:cs typeface="Courier New" pitchFamily="34" charset="-120"/>
              </a:rPr>
              <a:t>— catches &lt; &lt; &lt;</a:t>
            </a:r>
            <a:endParaRPr lang="en-US" sz="800" dirty="0"/>
          </a:p>
        </p:txBody>
      </p:sp>
      <p:sp>
        <p:nvSpPr>
          <p:cNvPr id="23" name="Text 18"/>
          <p:cNvSpPr/>
          <p:nvPr/>
        </p:nvSpPr>
        <p:spPr>
          <a:xfrm>
            <a:off x="6629400" y="1882378"/>
            <a:ext cx="114300" cy="114300"/>
          </a:xfrm>
          <a:prstGeom prst="rect">
            <a:avLst/>
          </a:prstGeom>
          <a:noFill/>
          <a:ln/>
        </p:spPr>
        <p:txBody>
          <a:bodyPr wrap="none" lIns="0" tIns="0" rIns="0" bIns="0" rtlCol="0" anchor="ctr"/>
          <a:lstStyle/>
          <a:p>
            <a:pPr algn="ctr" indent="0" marL="0">
              <a:buNone/>
            </a:pPr>
            <a:r>
              <a:rPr lang="en-US" sz="1125" dirty="0">
                <a:solidFill>
                  <a:srgbClr val="8A87A0"/>
                </a:solidFill>
                <a:latin typeface="Segoe UI Symbol" pitchFamily="34" charset="0"/>
                <a:ea typeface="Segoe UI Symbol" pitchFamily="34" charset="-122"/>
                <a:cs typeface="Segoe UI Symbol" pitchFamily="34" charset="-120"/>
              </a:rPr>
              <a:t>↓</a:t>
            </a:r>
            <a:endParaRPr lang="en-US" sz="1125" dirty="0"/>
          </a:p>
        </p:txBody>
      </p:sp>
      <p:sp>
        <p:nvSpPr>
          <p:cNvPr id="24" name="Text 19"/>
          <p:cNvSpPr/>
          <p:nvPr/>
        </p:nvSpPr>
        <p:spPr>
          <a:xfrm>
            <a:off x="4689872" y="2028825"/>
            <a:ext cx="3993356" cy="260747"/>
          </a:xfrm>
          <a:prstGeom prst="roundRect">
            <a:avLst>
              <a:gd name="adj" fmla="val 58447"/>
            </a:avLst>
          </a:prstGeom>
          <a:solidFill>
            <a:srgbClr val="FFFFFF"/>
          </a:solidFill>
          <a:ln w="7144">
            <a:solidFill>
              <a:srgbClr val="7C3AED"/>
            </a:solidFill>
            <a:prstDash val="solid"/>
          </a:ln>
          <a:effectLst>
            <a:outerShdw sx="100000" sy="100000" kx="0" ky="0" algn="bl" rotWithShape="0" blurRad="114300" dist="19050" dir="5400000">
              <a:srgbClr val="7C3AED">
                <a:alpha val="6000"/>
              </a:srgbClr>
            </a:outerShdw>
          </a:effectLst>
        </p:spPr>
        <p:txBody>
          <a:bodyPr wrap="square" rtlCol="0" anchor="ctr"/>
          <a:lstStyle/>
          <a:p>
            <a:pPr indent="0" marL="0">
              <a:buNone/>
            </a:pPr>
            <a:endParaRPr lang="en-US" dirty="0"/>
          </a:p>
        </p:txBody>
      </p:sp>
      <p:sp>
        <p:nvSpPr>
          <p:cNvPr id="25" name="Text 20"/>
          <p:cNvSpPr/>
          <p:nvPr/>
        </p:nvSpPr>
        <p:spPr>
          <a:xfrm>
            <a:off x="4807744" y="2103834"/>
            <a:ext cx="1114062" cy="125016"/>
          </a:xfrm>
          <a:prstGeom prst="rect">
            <a:avLst/>
          </a:prstGeom>
          <a:noFill/>
          <a:ln/>
        </p:spPr>
        <p:txBody>
          <a:bodyPr wrap="none" lIns="0" tIns="0" rIns="0" bIns="0" rtlCol="0" anchor="t"/>
          <a:lstStyle/>
          <a:p>
            <a:pPr algn="l" indent="0" marL="0">
              <a:lnSpc>
                <a:spcPts val="1097"/>
              </a:lnSpc>
              <a:buNone/>
            </a:pPr>
            <a:r>
              <a:rPr lang="en-US" sz="800" dirty="0">
                <a:solidFill>
                  <a:srgbClr val="7C3AED"/>
                </a:solidFill>
                <a:latin typeface="Courier New" pitchFamily="34" charset="0"/>
                <a:ea typeface="Courier New" pitchFamily="34" charset="-122"/>
                <a:cs typeface="Courier New" pitchFamily="34" charset="-120"/>
              </a:rPr>
              <a:t>normalize("NFKC")</a:t>
            </a:r>
            <a:endParaRPr lang="en-US" sz="800" dirty="0"/>
          </a:p>
        </p:txBody>
      </p:sp>
      <p:sp>
        <p:nvSpPr>
          <p:cNvPr id="26" name="Text 21"/>
          <p:cNvSpPr/>
          <p:nvPr/>
        </p:nvSpPr>
        <p:spPr>
          <a:xfrm>
            <a:off x="5871381" y="2103834"/>
            <a:ext cx="1199619" cy="125016"/>
          </a:xfrm>
          <a:prstGeom prst="rect">
            <a:avLst/>
          </a:prstGeom>
          <a:noFill/>
          <a:ln/>
        </p:spPr>
        <p:txBody>
          <a:bodyPr wrap="none" lIns="0" tIns="0" rIns="0" bIns="0" rtlCol="0" anchor="t"/>
          <a:lstStyle/>
          <a:p>
            <a:pPr algn="l" indent="0" marL="0">
              <a:lnSpc>
                <a:spcPts val="1097"/>
              </a:lnSpc>
              <a:buNone/>
            </a:pPr>
            <a:r>
              <a:rPr lang="en-US" sz="800" dirty="0">
                <a:solidFill>
                  <a:srgbClr val="94A3B8"/>
                </a:solidFill>
                <a:latin typeface="Courier New" pitchFamily="34" charset="0"/>
                <a:ea typeface="Courier New" pitchFamily="34" charset="-122"/>
                <a:cs typeface="Courier New" pitchFamily="34" charset="-120"/>
              </a:rPr>
              <a:t>— catches ＵＮＩＯＮ</a:t>
            </a:r>
            <a:endParaRPr lang="en-US" sz="800" dirty="0"/>
          </a:p>
        </p:txBody>
      </p:sp>
      <p:sp>
        <p:nvSpPr>
          <p:cNvPr id="27" name="Text 22"/>
          <p:cNvSpPr/>
          <p:nvPr/>
        </p:nvSpPr>
        <p:spPr>
          <a:xfrm>
            <a:off x="6629400" y="2321719"/>
            <a:ext cx="114300" cy="114300"/>
          </a:xfrm>
          <a:prstGeom prst="rect">
            <a:avLst/>
          </a:prstGeom>
          <a:noFill/>
          <a:ln/>
        </p:spPr>
        <p:txBody>
          <a:bodyPr wrap="none" lIns="0" tIns="0" rIns="0" bIns="0" rtlCol="0" anchor="ctr"/>
          <a:lstStyle/>
          <a:p>
            <a:pPr algn="ctr" indent="0" marL="0">
              <a:buNone/>
            </a:pPr>
            <a:r>
              <a:rPr lang="en-US" sz="1125" dirty="0">
                <a:solidFill>
                  <a:srgbClr val="8A87A0"/>
                </a:solidFill>
                <a:latin typeface="Segoe UI Symbol" pitchFamily="34" charset="0"/>
                <a:ea typeface="Segoe UI Symbol" pitchFamily="34" charset="-122"/>
                <a:cs typeface="Segoe UI Symbol" pitchFamily="34" charset="-120"/>
              </a:rPr>
              <a:t>↓</a:t>
            </a:r>
            <a:endParaRPr lang="en-US" sz="1125" dirty="0"/>
          </a:p>
        </p:txBody>
      </p:sp>
      <p:sp>
        <p:nvSpPr>
          <p:cNvPr id="28" name="Text 23"/>
          <p:cNvSpPr/>
          <p:nvPr/>
        </p:nvSpPr>
        <p:spPr>
          <a:xfrm>
            <a:off x="4689872" y="2468166"/>
            <a:ext cx="3993356" cy="260747"/>
          </a:xfrm>
          <a:prstGeom prst="roundRect">
            <a:avLst>
              <a:gd name="adj" fmla="val 58447"/>
            </a:avLst>
          </a:prstGeom>
          <a:solidFill>
            <a:srgbClr val="FFFFFF"/>
          </a:solidFill>
          <a:ln w="7144">
            <a:solidFill>
              <a:srgbClr val="7C3AED"/>
            </a:solidFill>
            <a:prstDash val="solid"/>
          </a:ln>
          <a:effectLst>
            <a:outerShdw sx="100000" sy="100000" kx="0" ky="0" algn="bl" rotWithShape="0" blurRad="114300" dist="19050" dir="5400000">
              <a:srgbClr val="7C3AED">
                <a:alpha val="6000"/>
              </a:srgbClr>
            </a:outerShdw>
          </a:effectLst>
        </p:spPr>
        <p:txBody>
          <a:bodyPr wrap="square" rtlCol="0" anchor="ctr"/>
          <a:lstStyle/>
          <a:p>
            <a:pPr indent="0" marL="0">
              <a:buNone/>
            </a:pPr>
            <a:endParaRPr lang="en-US" dirty="0"/>
          </a:p>
        </p:txBody>
      </p:sp>
      <p:sp>
        <p:nvSpPr>
          <p:cNvPr id="29" name="Text 24"/>
          <p:cNvSpPr/>
          <p:nvPr/>
        </p:nvSpPr>
        <p:spPr>
          <a:xfrm>
            <a:off x="4807744" y="2543175"/>
            <a:ext cx="1310685" cy="125016"/>
          </a:xfrm>
          <a:prstGeom prst="rect">
            <a:avLst/>
          </a:prstGeom>
          <a:noFill/>
          <a:ln/>
        </p:spPr>
        <p:txBody>
          <a:bodyPr wrap="none" lIns="0" tIns="0" rIns="0" bIns="0" rtlCol="0" anchor="t"/>
          <a:lstStyle/>
          <a:p>
            <a:pPr algn="l" indent="0" marL="0">
              <a:lnSpc>
                <a:spcPts val="1097"/>
              </a:lnSpc>
              <a:buNone/>
            </a:pPr>
            <a:r>
              <a:rPr lang="en-US" sz="800" dirty="0">
                <a:solidFill>
                  <a:srgbClr val="7C3AED"/>
                </a:solidFill>
                <a:latin typeface="Courier New" pitchFamily="34" charset="0"/>
                <a:ea typeface="Courier New" pitchFamily="34" charset="-122"/>
                <a:cs typeface="Courier New" pitchFamily="34" charset="-120"/>
              </a:rPr>
              <a:t>strip /* comments */</a:t>
            </a:r>
            <a:endParaRPr lang="en-US" sz="800" dirty="0"/>
          </a:p>
        </p:txBody>
      </p:sp>
      <p:sp>
        <p:nvSpPr>
          <p:cNvPr id="30" name="Text 25"/>
          <p:cNvSpPr/>
          <p:nvPr/>
        </p:nvSpPr>
        <p:spPr>
          <a:xfrm>
            <a:off x="6039148" y="2543175"/>
            <a:ext cx="1509657" cy="125016"/>
          </a:xfrm>
          <a:prstGeom prst="rect">
            <a:avLst/>
          </a:prstGeom>
          <a:noFill/>
          <a:ln/>
        </p:spPr>
        <p:txBody>
          <a:bodyPr wrap="square" lIns="0" tIns="0" rIns="0" bIns="0" rtlCol="0" anchor="t"/>
          <a:lstStyle/>
          <a:p>
            <a:pPr algn="l" indent="0" marL="0">
              <a:lnSpc>
                <a:spcPts val="1097"/>
              </a:lnSpc>
              <a:buNone/>
            </a:pPr>
            <a:r>
              <a:rPr lang="en-US" sz="731" dirty="0">
                <a:solidFill>
                  <a:srgbClr val="94A3B8"/>
                </a:solidFill>
                <a:latin typeface="Courier New" pitchFamily="34" charset="0"/>
                <a:ea typeface="Courier New" pitchFamily="34" charset="-122"/>
                <a:cs typeface="Courier New" pitchFamily="34" charset="-120"/>
              </a:rPr>
              <a:t>— catches UNION/**/SELECT</a:t>
            </a:r>
            <a:endParaRPr lang="en-US" sz="731" dirty="0"/>
          </a:p>
        </p:txBody>
      </p:sp>
      <p:sp>
        <p:nvSpPr>
          <p:cNvPr id="31" name="Text 26"/>
          <p:cNvSpPr/>
          <p:nvPr/>
        </p:nvSpPr>
        <p:spPr>
          <a:xfrm>
            <a:off x="6629400" y="2761059"/>
            <a:ext cx="114300" cy="114300"/>
          </a:xfrm>
          <a:prstGeom prst="rect">
            <a:avLst/>
          </a:prstGeom>
          <a:noFill/>
          <a:ln/>
        </p:spPr>
        <p:txBody>
          <a:bodyPr wrap="none" lIns="0" tIns="0" rIns="0" bIns="0" rtlCol="0" anchor="ctr"/>
          <a:lstStyle/>
          <a:p>
            <a:pPr algn="ctr" indent="0" marL="0">
              <a:buNone/>
            </a:pPr>
            <a:r>
              <a:rPr lang="en-US" sz="1125" dirty="0">
                <a:solidFill>
                  <a:srgbClr val="8A87A0"/>
                </a:solidFill>
                <a:latin typeface="Segoe UI Symbol" pitchFamily="34" charset="0"/>
                <a:ea typeface="Segoe UI Symbol" pitchFamily="34" charset="-122"/>
                <a:cs typeface="Segoe UI Symbol" pitchFamily="34" charset="-120"/>
              </a:rPr>
              <a:t>↓</a:t>
            </a:r>
            <a:endParaRPr lang="en-US" sz="1125" dirty="0"/>
          </a:p>
        </p:txBody>
      </p:sp>
      <p:sp>
        <p:nvSpPr>
          <p:cNvPr id="32" name="Text 27"/>
          <p:cNvSpPr/>
          <p:nvPr/>
        </p:nvSpPr>
        <p:spPr>
          <a:xfrm>
            <a:off x="4689872" y="2907506"/>
            <a:ext cx="3993356" cy="260747"/>
          </a:xfrm>
          <a:prstGeom prst="roundRect">
            <a:avLst>
              <a:gd name="adj" fmla="val 51142"/>
            </a:avLst>
          </a:prstGeom>
          <a:solidFill>
            <a:srgbClr val="FDF2F8"/>
          </a:solidFill>
          <a:ln w="7144">
            <a:solidFill>
              <a:srgbClr val="FCE7F3"/>
            </a:solidFill>
            <a:prstDash val="solid"/>
          </a:ln>
        </p:spPr>
        <p:txBody>
          <a:bodyPr wrap="square" rtlCol="0" anchor="ctr"/>
          <a:lstStyle/>
          <a:p>
            <a:pPr indent="0" marL="0">
              <a:buNone/>
            </a:pPr>
            <a:endParaRPr lang="en-US" dirty="0"/>
          </a:p>
        </p:txBody>
      </p:sp>
      <p:sp>
        <p:nvSpPr>
          <p:cNvPr id="33" name="Text 28"/>
          <p:cNvSpPr/>
          <p:nvPr/>
        </p:nvSpPr>
        <p:spPr>
          <a:xfrm>
            <a:off x="4686300" y="2903934"/>
            <a:ext cx="4000500" cy="316523"/>
          </a:xfrm>
          <a:prstGeom prst="rect">
            <a:avLst/>
          </a:prstGeom>
          <a:noFill/>
          <a:ln/>
        </p:spPr>
        <p:txBody>
          <a:bodyPr wrap="square" lIns="114300" tIns="57150" rIns="114300" bIns="57150" rtlCol="0" anchor="t"/>
          <a:lstStyle/>
          <a:p>
            <a:pPr algn="ctr" indent="0" marL="0">
              <a:lnSpc>
                <a:spcPts val="1097"/>
              </a:lnSpc>
              <a:buNone/>
            </a:pPr>
            <a:r>
              <a:rPr lang="en-US" sz="800" b="1" dirty="0">
                <a:solidFill>
                  <a:srgbClr val="EC4899"/>
                </a:solidFill>
                <a:latin typeface="Courier New" pitchFamily="34" charset="0"/>
                <a:ea typeface="Courier New" pitchFamily="34" charset="-122"/>
                <a:cs typeface="Courier New" pitchFamily="34" charset="-120"/>
              </a:rPr>
              <a:t>Pattern match (50+ rules) — final detection</a:t>
            </a:r>
            <a:endParaRPr lang="en-US" sz="800" dirty="0"/>
          </a:p>
        </p:txBody>
      </p:sp>
      <p:sp>
        <p:nvSpPr>
          <p:cNvPr id="34" name="Text 29"/>
          <p:cNvSpPr/>
          <p:nvPr/>
        </p:nvSpPr>
        <p:spPr>
          <a:xfrm>
            <a:off x="4686300" y="3257550"/>
            <a:ext cx="4000500" cy="164592"/>
          </a:xfrm>
          <a:prstGeom prst="rect">
            <a:avLst/>
          </a:prstGeom>
          <a:noFill/>
          <a:ln/>
        </p:spPr>
        <p:txBody>
          <a:bodyPr wrap="square" lIns="0" tIns="0" rIns="0" bIns="0" rtlCol="0" anchor="t"/>
          <a:lstStyle/>
          <a:p>
            <a:pPr algn="r" indent="0" marL="0">
              <a:lnSpc>
                <a:spcPts val="1013"/>
              </a:lnSpc>
              <a:buNone/>
            </a:pPr>
            <a:r>
              <a:rPr lang="en-US" sz="800" dirty="0">
                <a:solidFill>
                  <a:srgbClr val="64748B"/>
                </a:solidFill>
                <a:latin typeface="Carlito" pitchFamily="34" charset="0"/>
                <a:ea typeface="Carlito" pitchFamily="34" charset="-122"/>
                <a:cs typeface="Carlito" pitchFamily="34" charset="-120"/>
              </a:rPr>
              <a:t>50+ rules · 4 attack families · 8 evasion techniques defeated</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0" b="0"/>
          <a:stretch/>
        </p:blipFill>
        <p:spPr>
          <a:xfrm>
            <a:off x="0" y="0"/>
            <a:ext cx="9144000" cy="5143500"/>
          </a:xfrm>
          <a:prstGeom prst="rect">
            <a:avLst/>
          </a:prstGeom>
        </p:spPr>
      </p:pic>
      <p:pic>
        <p:nvPicPr>
          <p:cNvPr id="3" name="Image 1" descr="preencoded.png">    </p:cNvPr>
          <p:cNvPicPr>
            <a:picLocks noChangeAspect="1"/>
          </p:cNvPicPr>
          <p:nvPr/>
        </p:nvPicPr>
        <p:blipFill>
          <a:blip r:embed="rId2"/>
          <a:stretch>
            <a:fillRect/>
          </a:stretch>
        </p:blipFill>
        <p:spPr>
          <a:xfrm>
            <a:off x="0" y="0"/>
            <a:ext cx="9144000" cy="5143500"/>
          </a:xfrm>
          <a:prstGeom prst="rect">
            <a:avLst/>
          </a:prstGeom>
        </p:spPr>
      </p:pic>
      <p:sp>
        <p:nvSpPr>
          <p:cNvPr id="4" name="Text 0"/>
          <p:cNvSpPr/>
          <p:nvPr/>
        </p:nvSpPr>
        <p:spPr>
          <a:xfrm>
            <a:off x="434340" y="391335"/>
            <a:ext cx="1521016" cy="196025"/>
          </a:xfrm>
          <a:prstGeom prst="roundRect">
            <a:avLst>
              <a:gd name="adj" fmla="val 4854215"/>
            </a:avLst>
          </a:prstGeom>
          <a:solidFill>
            <a:srgbClr val="FFE4E6"/>
          </a:solidFill>
          <a:ln/>
        </p:spPr>
        <p:txBody>
          <a:bodyPr wrap="square" rtlCol="0" anchor="ctr"/>
          <a:lstStyle/>
          <a:p>
            <a:pPr indent="0" marL="0">
              <a:buNone/>
            </a:pPr>
            <a:endParaRPr lang="en-US" dirty="0"/>
          </a:p>
        </p:txBody>
      </p:sp>
      <p:sp>
        <p:nvSpPr>
          <p:cNvPr id="5" name="Text 1"/>
          <p:cNvSpPr/>
          <p:nvPr/>
        </p:nvSpPr>
        <p:spPr>
          <a:xfrm>
            <a:off x="678656" y="437555"/>
            <a:ext cx="1168115" cy="129679"/>
          </a:xfrm>
          <a:prstGeom prst="rect">
            <a:avLst/>
          </a:prstGeom>
          <a:noFill/>
          <a:ln/>
        </p:spPr>
        <p:txBody>
          <a:bodyPr wrap="none" lIns="0" tIns="0" rIns="0" bIns="0" rtlCol="0" anchor="t"/>
          <a:lstStyle/>
          <a:p>
            <a:pPr algn="l" indent="0" marL="0">
              <a:lnSpc>
                <a:spcPts val="928"/>
              </a:lnSpc>
              <a:buNone/>
            </a:pPr>
            <a:r>
              <a:rPr lang="en-US" sz="619" spc="25" kern="0" dirty="0">
                <a:solidFill>
                  <a:srgbClr val="EC4899"/>
                </a:solidFill>
                <a:latin typeface="Liberation Sans Narrow" pitchFamily="34" charset="0"/>
                <a:ea typeface="Liberation Sans Narrow" pitchFamily="34" charset="-122"/>
                <a:cs typeface="Liberation Sans Narrow" pitchFamily="34" charset="-120"/>
              </a:rPr>
              <a:t>MODULE 3 · CREDSHIELD</a:t>
            </a:r>
            <a:endParaRPr lang="en-US" sz="619" dirty="0"/>
          </a:p>
        </p:txBody>
      </p:sp>
      <p:sp>
        <p:nvSpPr>
          <p:cNvPr id="6" name="Text 2"/>
          <p:cNvSpPr/>
          <p:nvPr/>
        </p:nvSpPr>
        <p:spPr>
          <a:xfrm>
            <a:off x="542925" y="442913"/>
            <a:ext cx="92869" cy="92869"/>
          </a:xfrm>
          <a:prstGeom prst="rect">
            <a:avLst/>
          </a:prstGeom>
          <a:noFill/>
          <a:ln/>
        </p:spPr>
        <p:txBody>
          <a:bodyPr wrap="none" lIns="0" tIns="0" rIns="0" bIns="0" rtlCol="0" anchor="ctr"/>
          <a:lstStyle/>
          <a:p>
            <a:pPr algn="ctr" indent="0" marL="0">
              <a:buNone/>
            </a:pPr>
            <a:r>
              <a:rPr lang="en-US" sz="914" dirty="0">
                <a:solidFill>
                  <a:srgbClr val="EC4899"/>
                </a:solidFill>
                <a:latin typeface="Segoe UI Symbol" pitchFamily="34" charset="0"/>
                <a:ea typeface="Segoe UI Symbol" pitchFamily="34" charset="-122"/>
                <a:cs typeface="Segoe UI Symbol" pitchFamily="34" charset="-120"/>
              </a:rPr>
              <a:t>✦</a:t>
            </a:r>
            <a:endParaRPr lang="en-US" sz="914" dirty="0"/>
          </a:p>
        </p:txBody>
      </p:sp>
      <p:sp>
        <p:nvSpPr>
          <p:cNvPr id="7" name="Text 3"/>
          <p:cNvSpPr/>
          <p:nvPr/>
        </p:nvSpPr>
        <p:spPr>
          <a:xfrm>
            <a:off x="457200" y="662583"/>
            <a:ext cx="5010783" cy="344043"/>
          </a:xfrm>
          <a:prstGeom prst="rect">
            <a:avLst/>
          </a:prstGeom>
          <a:noFill/>
          <a:ln/>
        </p:spPr>
        <p:txBody>
          <a:bodyPr wrap="square" lIns="0" tIns="0" rIns="0" bIns="0" rtlCol="0" anchor="t">
            <a:normAutofit/>
          </a:bodyPr>
          <a:lstStyle/>
          <a:p>
            <a:pPr algn="l" indent="0" marL="0">
              <a:lnSpc>
                <a:spcPts val="2700"/>
              </a:lnSpc>
              <a:buNone/>
            </a:pPr>
            <a:r>
              <a:rPr lang="en-US" sz="1800" b="1" spc="-18" kern="0" dirty="0">
                <a:solidFill>
                  <a:srgbClr val="7C3AED"/>
                </a:solidFill>
                <a:latin typeface="Carlito" pitchFamily="34" charset="0"/>
                <a:ea typeface="Carlito" pitchFamily="34" charset="-122"/>
                <a:cs typeface="Carlito" pitchFamily="34" charset="-120"/>
              </a:rPr>
              <a:t>CredShield — Brute-Force Honeypot</a:t>
            </a:r>
            <a:endParaRPr lang="en-US" sz="1800" dirty="0"/>
          </a:p>
        </p:txBody>
      </p:sp>
      <p:sp>
        <p:nvSpPr>
          <p:cNvPr id="8" name="Text 4"/>
          <p:cNvSpPr/>
          <p:nvPr/>
        </p:nvSpPr>
        <p:spPr>
          <a:xfrm>
            <a:off x="457200" y="1034058"/>
            <a:ext cx="4555257" cy="164592"/>
          </a:xfrm>
          <a:prstGeom prst="rect">
            <a:avLst/>
          </a:prstGeom>
          <a:noFill/>
          <a:ln/>
        </p:spPr>
        <p:txBody>
          <a:bodyPr wrap="square" lIns="0" tIns="0" rIns="0" bIns="0" rtlCol="0" anchor="t"/>
          <a:lstStyle/>
          <a:p>
            <a:pPr algn="l" indent="0" marL="0">
              <a:lnSpc>
                <a:spcPts val="1181"/>
              </a:lnSpc>
              <a:buNone/>
            </a:pPr>
            <a:r>
              <a:rPr lang="en-US" sz="800" dirty="0">
                <a:solidFill>
                  <a:srgbClr val="64748B"/>
                </a:solidFill>
                <a:latin typeface="Carlito" pitchFamily="34" charset="0"/>
                <a:ea typeface="Carlito" pitchFamily="34" charset="-122"/>
                <a:cs typeface="Carlito" pitchFamily="34" charset="-120"/>
              </a:rPr>
              <a:t>Three failures arm the trap. The fourth attempt is rewarded with a lie.</a:t>
            </a:r>
            <a:endParaRPr lang="en-US" sz="800" dirty="0"/>
          </a:p>
        </p:txBody>
      </p:sp>
      <p:sp>
        <p:nvSpPr>
          <p:cNvPr id="9" name="Text 5"/>
          <p:cNvSpPr/>
          <p:nvPr/>
        </p:nvSpPr>
        <p:spPr>
          <a:xfrm>
            <a:off x="6524347" y="428625"/>
            <a:ext cx="2162453" cy="104727"/>
          </a:xfrm>
          <a:prstGeom prst="rect">
            <a:avLst/>
          </a:prstGeom>
          <a:noFill/>
          <a:ln/>
        </p:spPr>
        <p:txBody>
          <a:bodyPr wrap="none" lIns="0" tIns="0" rIns="0" bIns="0" rtlCol="0" anchor="t">
            <a:normAutofit/>
          </a:bodyPr>
          <a:lstStyle/>
          <a:p>
            <a:pPr algn="r" indent="0" marL="0">
              <a:lnSpc>
                <a:spcPts val="928"/>
              </a:lnSpc>
              <a:buNone/>
            </a:pPr>
            <a:r>
              <a:rPr lang="en-US" sz="800" dirty="0">
                <a:solidFill>
                  <a:srgbClr val="94A3B8"/>
                </a:solidFill>
                <a:latin typeface="Courier New" pitchFamily="34" charset="0"/>
                <a:ea typeface="Courier New" pitchFamily="34" charset="-122"/>
                <a:cs typeface="Courier New" pitchFamily="34" charset="-120"/>
              </a:rPr>
              <a:t>STATE MACHINE</a:t>
            </a:r>
            <a:endParaRPr lang="en-US" sz="800" dirty="0"/>
          </a:p>
        </p:txBody>
      </p:sp>
      <p:sp>
        <p:nvSpPr>
          <p:cNvPr id="10" name="Text 6"/>
          <p:cNvSpPr/>
          <p:nvPr/>
        </p:nvSpPr>
        <p:spPr>
          <a:xfrm>
            <a:off x="6694096" y="560784"/>
            <a:ext cx="1992704" cy="164592"/>
          </a:xfrm>
          <a:prstGeom prst="rect">
            <a:avLst/>
          </a:prstGeom>
          <a:noFill/>
          <a:ln/>
        </p:spPr>
        <p:txBody>
          <a:bodyPr wrap="square" lIns="0" tIns="0" rIns="0" bIns="0" rtlCol="0" anchor="t"/>
          <a:lstStyle/>
          <a:p>
            <a:pPr algn="r" indent="0" marL="0">
              <a:lnSpc>
                <a:spcPts val="1097"/>
              </a:lnSpc>
              <a:buNone/>
            </a:pPr>
            <a:r>
              <a:rPr lang="en-US" sz="800" dirty="0">
                <a:solidFill>
                  <a:srgbClr val="7C3AED"/>
                </a:solidFill>
                <a:latin typeface="Liberation Sans Narrow" pitchFamily="34" charset="0"/>
                <a:ea typeface="Liberation Sans Narrow" pitchFamily="34" charset="-122"/>
                <a:cs typeface="Liberation Sans Narrow" pitchFamily="34" charset="-120"/>
              </a:rPr>
              <a:t>3 fails → arm → trap → /dashboard</a:t>
            </a:r>
            <a:endParaRPr lang="en-US" sz="800" dirty="0"/>
          </a:p>
        </p:txBody>
      </p:sp>
      <p:pic>
        <p:nvPicPr>
          <p:cNvPr id="11" name="Image 2" descr="preencoded.png">    </p:cNvPr>
          <p:cNvPicPr>
            <a:picLocks noChangeAspect="1"/>
          </p:cNvPicPr>
          <p:nvPr/>
        </p:nvPicPr>
        <p:blipFill>
          <a:blip r:embed="rId3"/>
          <a:stretch>
            <a:fillRect/>
          </a:stretch>
        </p:blipFill>
        <p:spPr>
          <a:xfrm>
            <a:off x="1444712" y="1684139"/>
            <a:ext cx="6254576" cy="35719"/>
          </a:xfrm>
          <a:prstGeom prst="rect">
            <a:avLst/>
          </a:prstGeom>
        </p:spPr>
      </p:pic>
      <p:sp>
        <p:nvSpPr>
          <p:cNvPr id="12" name="Text 7"/>
          <p:cNvSpPr/>
          <p:nvPr/>
        </p:nvSpPr>
        <p:spPr>
          <a:xfrm>
            <a:off x="1154385" y="1469827"/>
            <a:ext cx="457200" cy="457200"/>
          </a:xfrm>
          <a:prstGeom prst="roundRect">
            <a:avLst>
              <a:gd name="adj" fmla="val 20831250"/>
            </a:avLst>
          </a:prstGeom>
          <a:solidFill>
            <a:srgbClr val="F59E0B"/>
          </a:solidFill>
          <a:ln/>
          <a:effectLst>
            <a:outerShdw sx="100000" sy="100000" kx="0" ky="0" algn="bl" rotWithShape="0" blurRad="101600" dist="50800" dir="16200000">
              <a:srgbClr val="FAF5FF">
                <a:alpha val="50000"/>
              </a:srgbClr>
            </a:outerShdw>
          </a:effectLst>
        </p:spPr>
        <p:txBody>
          <a:bodyPr wrap="square" rtlCol="0" anchor="ctr"/>
          <a:lstStyle/>
          <a:p>
            <a:pPr indent="0" marL="0">
              <a:buNone/>
            </a:pPr>
            <a:endParaRPr lang="en-US" dirty="0"/>
          </a:p>
        </p:txBody>
      </p:sp>
      <p:sp>
        <p:nvSpPr>
          <p:cNvPr id="13" name="Text 8"/>
          <p:cNvSpPr/>
          <p:nvPr/>
        </p:nvSpPr>
        <p:spPr>
          <a:xfrm>
            <a:off x="1154385" y="1469827"/>
            <a:ext cx="457200" cy="457200"/>
          </a:xfrm>
          <a:prstGeom prst="rect">
            <a:avLst/>
          </a:prstGeom>
          <a:noFill/>
          <a:ln/>
        </p:spPr>
        <p:txBody>
          <a:bodyPr wrap="none" lIns="0" tIns="0" rIns="0" bIns="0" rtlCol="0" anchor="ctr"/>
          <a:lstStyle/>
          <a:p>
            <a:pPr algn="ctr" indent="0" marL="0">
              <a:lnSpc>
                <a:spcPts val="1856"/>
              </a:lnSpc>
              <a:buNone/>
            </a:pPr>
            <a:r>
              <a:rPr lang="en-US" sz="1238" b="1" dirty="0">
                <a:solidFill>
                  <a:srgbClr val="FFFFFF"/>
                </a:solidFill>
                <a:latin typeface="Liberation Sans Narrow" pitchFamily="34" charset="0"/>
                <a:ea typeface="Liberation Sans Narrow" pitchFamily="34" charset="-122"/>
                <a:cs typeface="Liberation Sans Narrow" pitchFamily="34" charset="-120"/>
              </a:rPr>
              <a:t>1</a:t>
            </a:r>
            <a:endParaRPr lang="en-US" sz="1238" dirty="0"/>
          </a:p>
        </p:txBody>
      </p:sp>
      <p:sp>
        <p:nvSpPr>
          <p:cNvPr id="14" name="Text 9"/>
          <p:cNvSpPr/>
          <p:nvPr/>
        </p:nvSpPr>
        <p:spPr>
          <a:xfrm>
            <a:off x="966806" y="2041327"/>
            <a:ext cx="832247" cy="172593"/>
          </a:xfrm>
          <a:prstGeom prst="rect">
            <a:avLst/>
          </a:prstGeom>
          <a:noFill/>
          <a:ln/>
        </p:spPr>
        <p:txBody>
          <a:bodyPr wrap="none" lIns="0" tIns="0" rIns="0" bIns="0" rtlCol="0" anchor="t">
            <a:normAutofit/>
          </a:bodyPr>
          <a:lstStyle/>
          <a:p>
            <a:pPr algn="ctr" indent="0" marL="0">
              <a:lnSpc>
                <a:spcPts val="1350"/>
              </a:lnSpc>
              <a:buNone/>
            </a:pPr>
            <a:r>
              <a:rPr lang="en-US" sz="900" b="1" dirty="0">
                <a:solidFill>
                  <a:srgbClr val="1E1932"/>
                </a:solidFill>
                <a:latin typeface="Liberation Sans Narrow" pitchFamily="34" charset="0"/>
                <a:ea typeface="Liberation Sans Narrow" pitchFamily="34" charset="-122"/>
                <a:cs typeface="Liberation Sans Narrow" pitchFamily="34" charset="-120"/>
              </a:rPr>
              <a:t>Attempt 1</a:t>
            </a:r>
            <a:endParaRPr lang="en-US" sz="900" dirty="0"/>
          </a:p>
        </p:txBody>
      </p:sp>
      <p:sp>
        <p:nvSpPr>
          <p:cNvPr id="15" name="Text 10"/>
          <p:cNvSpPr/>
          <p:nvPr/>
        </p:nvSpPr>
        <p:spPr>
          <a:xfrm>
            <a:off x="1032499" y="2241352"/>
            <a:ext cx="700973" cy="164592"/>
          </a:xfrm>
          <a:prstGeom prst="rect">
            <a:avLst/>
          </a:prstGeom>
          <a:noFill/>
          <a:ln/>
        </p:spPr>
        <p:txBody>
          <a:bodyPr wrap="none" lIns="0" tIns="0" rIns="0" bIns="0" rtlCol="0" anchor="t"/>
          <a:lstStyle/>
          <a:p>
            <a:pPr algn="ctr" indent="0" marL="0">
              <a:lnSpc>
                <a:spcPts val="1097"/>
              </a:lnSpc>
              <a:buNone/>
            </a:pPr>
            <a:r>
              <a:rPr lang="en-US" sz="731" dirty="0">
                <a:solidFill>
                  <a:srgbClr val="64748B"/>
                </a:solidFill>
                <a:latin typeface="Carlito" pitchFamily="34" charset="0"/>
                <a:ea typeface="Carlito" pitchFamily="34" charset="-122"/>
                <a:cs typeface="Carlito" pitchFamily="34" charset="-120"/>
              </a:rPr>
              <a:t>Failed login</a:t>
            </a:r>
            <a:endParaRPr lang="en-US" sz="731" dirty="0"/>
          </a:p>
        </p:txBody>
      </p:sp>
      <p:sp>
        <p:nvSpPr>
          <p:cNvPr id="16" name="Text 11"/>
          <p:cNvSpPr/>
          <p:nvPr/>
        </p:nvSpPr>
        <p:spPr>
          <a:xfrm>
            <a:off x="1061427" y="2455878"/>
            <a:ext cx="643004" cy="196025"/>
          </a:xfrm>
          <a:prstGeom prst="roundRect">
            <a:avLst>
              <a:gd name="adj" fmla="val 48585882"/>
            </a:avLst>
          </a:prstGeom>
          <a:solidFill>
            <a:srgbClr val="FFFBEB"/>
          </a:solidFill>
          <a:ln/>
        </p:spPr>
        <p:txBody>
          <a:bodyPr wrap="square" rtlCol="0" anchor="ctr"/>
          <a:lstStyle/>
          <a:p>
            <a:pPr indent="0" marL="0">
              <a:buNone/>
            </a:pPr>
            <a:endParaRPr lang="en-US" dirty="0"/>
          </a:p>
        </p:txBody>
      </p:sp>
      <p:sp>
        <p:nvSpPr>
          <p:cNvPr id="17" name="Text 12"/>
          <p:cNvSpPr/>
          <p:nvPr/>
        </p:nvSpPr>
        <p:spPr>
          <a:xfrm>
            <a:off x="1084287" y="2466380"/>
            <a:ext cx="597284" cy="175022"/>
          </a:xfrm>
          <a:prstGeom prst="rect">
            <a:avLst/>
          </a:prstGeom>
          <a:noFill/>
          <a:ln/>
        </p:spPr>
        <p:txBody>
          <a:bodyPr wrap="none" lIns="0" tIns="0" rIns="0" bIns="0" rtlCol="0" anchor="ctr"/>
          <a:lstStyle/>
          <a:p>
            <a:pPr algn="ctr" indent="0" marL="0">
              <a:lnSpc>
                <a:spcPts val="928"/>
              </a:lnSpc>
              <a:buNone/>
            </a:pPr>
            <a:r>
              <a:rPr lang="en-US" sz="800" dirty="0">
                <a:solidFill>
                  <a:srgbClr val="B45309"/>
                </a:solidFill>
                <a:latin typeface="Liberation Sans Narrow" pitchFamily="34" charset="0"/>
                <a:ea typeface="Liberation Sans Narrow" pitchFamily="34" charset="-122"/>
                <a:cs typeface="Liberation Sans Narrow" pitchFamily="34" charset="-120"/>
              </a:rPr>
              <a:t>count = 1</a:t>
            </a:r>
            <a:endParaRPr lang="en-US" sz="800" dirty="0"/>
          </a:p>
        </p:txBody>
      </p:sp>
      <p:sp>
        <p:nvSpPr>
          <p:cNvPr id="18" name="Text 13"/>
          <p:cNvSpPr/>
          <p:nvPr/>
        </p:nvSpPr>
        <p:spPr>
          <a:xfrm>
            <a:off x="2748781" y="1469827"/>
            <a:ext cx="457200" cy="457200"/>
          </a:xfrm>
          <a:prstGeom prst="roundRect">
            <a:avLst>
              <a:gd name="adj" fmla="val 20831250"/>
            </a:avLst>
          </a:prstGeom>
          <a:solidFill>
            <a:srgbClr val="F59E0B"/>
          </a:solidFill>
          <a:ln/>
          <a:effectLst>
            <a:outerShdw sx="100000" sy="100000" kx="0" ky="0" algn="bl" rotWithShape="0" blurRad="101600" dist="50800" dir="16200000">
              <a:srgbClr val="FAF5FF">
                <a:alpha val="50000"/>
              </a:srgbClr>
            </a:outerShdw>
          </a:effectLst>
        </p:spPr>
        <p:txBody>
          <a:bodyPr wrap="square" rtlCol="0" anchor="ctr"/>
          <a:lstStyle/>
          <a:p>
            <a:pPr indent="0" marL="0">
              <a:buNone/>
            </a:pPr>
            <a:endParaRPr lang="en-US" dirty="0"/>
          </a:p>
        </p:txBody>
      </p:sp>
      <p:sp>
        <p:nvSpPr>
          <p:cNvPr id="19" name="Text 14"/>
          <p:cNvSpPr/>
          <p:nvPr/>
        </p:nvSpPr>
        <p:spPr>
          <a:xfrm>
            <a:off x="2748781" y="1469827"/>
            <a:ext cx="457200" cy="457200"/>
          </a:xfrm>
          <a:prstGeom prst="rect">
            <a:avLst/>
          </a:prstGeom>
          <a:noFill/>
          <a:ln/>
        </p:spPr>
        <p:txBody>
          <a:bodyPr wrap="none" lIns="0" tIns="0" rIns="0" bIns="0" rtlCol="0" anchor="ctr"/>
          <a:lstStyle/>
          <a:p>
            <a:pPr algn="ctr" indent="0" marL="0">
              <a:lnSpc>
                <a:spcPts val="1856"/>
              </a:lnSpc>
              <a:buNone/>
            </a:pPr>
            <a:r>
              <a:rPr lang="en-US" sz="1238" b="1" dirty="0">
                <a:solidFill>
                  <a:srgbClr val="FFFFFF"/>
                </a:solidFill>
                <a:latin typeface="Liberation Sans Narrow" pitchFamily="34" charset="0"/>
                <a:ea typeface="Liberation Sans Narrow" pitchFamily="34" charset="-122"/>
                <a:cs typeface="Liberation Sans Narrow" pitchFamily="34" charset="-120"/>
              </a:rPr>
              <a:t>2</a:t>
            </a:r>
            <a:endParaRPr lang="en-US" sz="1238" dirty="0"/>
          </a:p>
        </p:txBody>
      </p:sp>
      <p:sp>
        <p:nvSpPr>
          <p:cNvPr id="20" name="Text 15"/>
          <p:cNvSpPr/>
          <p:nvPr/>
        </p:nvSpPr>
        <p:spPr>
          <a:xfrm>
            <a:off x="2561313" y="2041327"/>
            <a:ext cx="832247" cy="172593"/>
          </a:xfrm>
          <a:prstGeom prst="rect">
            <a:avLst/>
          </a:prstGeom>
          <a:noFill/>
          <a:ln/>
        </p:spPr>
        <p:txBody>
          <a:bodyPr wrap="none" lIns="0" tIns="0" rIns="0" bIns="0" rtlCol="0" anchor="t">
            <a:normAutofit/>
          </a:bodyPr>
          <a:lstStyle/>
          <a:p>
            <a:pPr algn="ctr" indent="0" marL="0">
              <a:lnSpc>
                <a:spcPts val="1350"/>
              </a:lnSpc>
              <a:buNone/>
            </a:pPr>
            <a:r>
              <a:rPr lang="en-US" sz="900" b="1" dirty="0">
                <a:solidFill>
                  <a:srgbClr val="1E1932"/>
                </a:solidFill>
                <a:latin typeface="Liberation Sans Narrow" pitchFamily="34" charset="0"/>
                <a:ea typeface="Liberation Sans Narrow" pitchFamily="34" charset="-122"/>
                <a:cs typeface="Liberation Sans Narrow" pitchFamily="34" charset="-120"/>
              </a:rPr>
              <a:t>Attempt 2</a:t>
            </a:r>
            <a:endParaRPr lang="en-US" sz="900" dirty="0"/>
          </a:p>
        </p:txBody>
      </p:sp>
      <p:sp>
        <p:nvSpPr>
          <p:cNvPr id="21" name="Text 16"/>
          <p:cNvSpPr/>
          <p:nvPr/>
        </p:nvSpPr>
        <p:spPr>
          <a:xfrm>
            <a:off x="2626894" y="2241352"/>
            <a:ext cx="700973" cy="164592"/>
          </a:xfrm>
          <a:prstGeom prst="rect">
            <a:avLst/>
          </a:prstGeom>
          <a:noFill/>
          <a:ln/>
        </p:spPr>
        <p:txBody>
          <a:bodyPr wrap="none" lIns="0" tIns="0" rIns="0" bIns="0" rtlCol="0" anchor="t"/>
          <a:lstStyle/>
          <a:p>
            <a:pPr algn="ctr" indent="0" marL="0">
              <a:lnSpc>
                <a:spcPts val="1097"/>
              </a:lnSpc>
              <a:buNone/>
            </a:pPr>
            <a:r>
              <a:rPr lang="en-US" sz="731" dirty="0">
                <a:solidFill>
                  <a:srgbClr val="64748B"/>
                </a:solidFill>
                <a:latin typeface="Carlito" pitchFamily="34" charset="0"/>
                <a:ea typeface="Carlito" pitchFamily="34" charset="-122"/>
                <a:cs typeface="Carlito" pitchFamily="34" charset="-120"/>
              </a:rPr>
              <a:t>Failed login</a:t>
            </a:r>
            <a:endParaRPr lang="en-US" sz="731" dirty="0"/>
          </a:p>
        </p:txBody>
      </p:sp>
      <p:sp>
        <p:nvSpPr>
          <p:cNvPr id="22" name="Text 17"/>
          <p:cNvSpPr/>
          <p:nvPr/>
        </p:nvSpPr>
        <p:spPr>
          <a:xfrm>
            <a:off x="2655935" y="2455878"/>
            <a:ext cx="643004" cy="196025"/>
          </a:xfrm>
          <a:prstGeom prst="roundRect">
            <a:avLst>
              <a:gd name="adj" fmla="val 48585882"/>
            </a:avLst>
          </a:prstGeom>
          <a:solidFill>
            <a:srgbClr val="FFFBEB"/>
          </a:solidFill>
          <a:ln/>
        </p:spPr>
        <p:txBody>
          <a:bodyPr wrap="square" rtlCol="0" anchor="ctr"/>
          <a:lstStyle/>
          <a:p>
            <a:pPr indent="0" marL="0">
              <a:buNone/>
            </a:pPr>
            <a:endParaRPr lang="en-US" dirty="0"/>
          </a:p>
        </p:txBody>
      </p:sp>
      <p:sp>
        <p:nvSpPr>
          <p:cNvPr id="23" name="Text 18"/>
          <p:cNvSpPr/>
          <p:nvPr/>
        </p:nvSpPr>
        <p:spPr>
          <a:xfrm>
            <a:off x="2678795" y="2466380"/>
            <a:ext cx="597284" cy="175022"/>
          </a:xfrm>
          <a:prstGeom prst="rect">
            <a:avLst/>
          </a:prstGeom>
          <a:noFill/>
          <a:ln/>
        </p:spPr>
        <p:txBody>
          <a:bodyPr wrap="none" lIns="0" tIns="0" rIns="0" bIns="0" rtlCol="0" anchor="ctr"/>
          <a:lstStyle/>
          <a:p>
            <a:pPr algn="ctr" indent="0" marL="0">
              <a:lnSpc>
                <a:spcPts val="928"/>
              </a:lnSpc>
              <a:buNone/>
            </a:pPr>
            <a:r>
              <a:rPr lang="en-US" sz="800" dirty="0">
                <a:solidFill>
                  <a:srgbClr val="B45309"/>
                </a:solidFill>
                <a:latin typeface="Liberation Sans Narrow" pitchFamily="34" charset="0"/>
                <a:ea typeface="Liberation Sans Narrow" pitchFamily="34" charset="-122"/>
                <a:cs typeface="Liberation Sans Narrow" pitchFamily="34" charset="-120"/>
              </a:rPr>
              <a:t>count = 2</a:t>
            </a:r>
            <a:endParaRPr lang="en-US" sz="800" dirty="0"/>
          </a:p>
        </p:txBody>
      </p:sp>
      <p:sp>
        <p:nvSpPr>
          <p:cNvPr id="24" name="Text 19"/>
          <p:cNvSpPr/>
          <p:nvPr/>
        </p:nvSpPr>
        <p:spPr>
          <a:xfrm>
            <a:off x="4343288" y="1469827"/>
            <a:ext cx="457200" cy="457200"/>
          </a:xfrm>
          <a:prstGeom prst="roundRect">
            <a:avLst>
              <a:gd name="adj" fmla="val 20831250"/>
            </a:avLst>
          </a:prstGeom>
          <a:solidFill>
            <a:srgbClr val="FB7185"/>
          </a:solidFill>
          <a:ln/>
          <a:effectLst>
            <a:outerShdw sx="100000" sy="100000" kx="0" ky="0" algn="bl" rotWithShape="0" blurRad="101600" dist="50800" dir="16200000">
              <a:srgbClr val="FAF5FF">
                <a:alpha val="50000"/>
              </a:srgbClr>
            </a:outerShdw>
          </a:effectLst>
        </p:spPr>
        <p:txBody>
          <a:bodyPr wrap="square" rtlCol="0" anchor="ctr"/>
          <a:lstStyle/>
          <a:p>
            <a:pPr indent="0" marL="0">
              <a:buNone/>
            </a:pPr>
            <a:endParaRPr lang="en-US" dirty="0"/>
          </a:p>
        </p:txBody>
      </p:sp>
      <p:sp>
        <p:nvSpPr>
          <p:cNvPr id="25" name="Text 20"/>
          <p:cNvSpPr/>
          <p:nvPr/>
        </p:nvSpPr>
        <p:spPr>
          <a:xfrm>
            <a:off x="4343288" y="1469827"/>
            <a:ext cx="457200" cy="457200"/>
          </a:xfrm>
          <a:prstGeom prst="rect">
            <a:avLst/>
          </a:prstGeom>
          <a:noFill/>
          <a:ln/>
        </p:spPr>
        <p:txBody>
          <a:bodyPr wrap="none" lIns="0" tIns="0" rIns="0" bIns="0" rtlCol="0" anchor="ctr"/>
          <a:lstStyle/>
          <a:p>
            <a:pPr algn="ctr" indent="0" marL="0">
              <a:lnSpc>
                <a:spcPts val="1856"/>
              </a:lnSpc>
              <a:buNone/>
            </a:pPr>
            <a:r>
              <a:rPr lang="en-US" sz="1238" b="1" dirty="0">
                <a:solidFill>
                  <a:srgbClr val="FFFFFF"/>
                </a:solidFill>
                <a:latin typeface="Liberation Sans Narrow" pitchFamily="34" charset="0"/>
                <a:ea typeface="Liberation Sans Narrow" pitchFamily="34" charset="-122"/>
                <a:cs typeface="Liberation Sans Narrow" pitchFamily="34" charset="-120"/>
              </a:rPr>
              <a:t>3</a:t>
            </a:r>
            <a:endParaRPr lang="en-US" sz="1238" dirty="0"/>
          </a:p>
        </p:txBody>
      </p:sp>
      <p:sp>
        <p:nvSpPr>
          <p:cNvPr id="26" name="Text 21"/>
          <p:cNvSpPr/>
          <p:nvPr/>
        </p:nvSpPr>
        <p:spPr>
          <a:xfrm>
            <a:off x="4155821" y="2041327"/>
            <a:ext cx="832247" cy="172593"/>
          </a:xfrm>
          <a:prstGeom prst="rect">
            <a:avLst/>
          </a:prstGeom>
          <a:noFill/>
          <a:ln/>
        </p:spPr>
        <p:txBody>
          <a:bodyPr wrap="none" lIns="0" tIns="0" rIns="0" bIns="0" rtlCol="0" anchor="t">
            <a:normAutofit/>
          </a:bodyPr>
          <a:lstStyle/>
          <a:p>
            <a:pPr algn="ctr" indent="0" marL="0">
              <a:lnSpc>
                <a:spcPts val="1350"/>
              </a:lnSpc>
              <a:buNone/>
            </a:pPr>
            <a:r>
              <a:rPr lang="en-US" sz="900" b="1" dirty="0">
                <a:solidFill>
                  <a:srgbClr val="1E1932"/>
                </a:solidFill>
                <a:latin typeface="Liberation Sans Narrow" pitchFamily="34" charset="0"/>
                <a:ea typeface="Liberation Sans Narrow" pitchFamily="34" charset="-122"/>
                <a:cs typeface="Liberation Sans Narrow" pitchFamily="34" charset="-120"/>
              </a:rPr>
              <a:t>Attempt 3</a:t>
            </a:r>
            <a:endParaRPr lang="en-US" sz="900" dirty="0"/>
          </a:p>
        </p:txBody>
      </p:sp>
      <p:sp>
        <p:nvSpPr>
          <p:cNvPr id="27" name="Text 22"/>
          <p:cNvSpPr/>
          <p:nvPr/>
        </p:nvSpPr>
        <p:spPr>
          <a:xfrm>
            <a:off x="3995225" y="2241352"/>
            <a:ext cx="1153439" cy="164592"/>
          </a:xfrm>
          <a:prstGeom prst="rect">
            <a:avLst/>
          </a:prstGeom>
          <a:noFill/>
          <a:ln/>
        </p:spPr>
        <p:txBody>
          <a:bodyPr wrap="none" lIns="0" tIns="0" rIns="0" bIns="0" rtlCol="0" anchor="t"/>
          <a:lstStyle/>
          <a:p>
            <a:pPr algn="ctr" indent="0" marL="0">
              <a:lnSpc>
                <a:spcPts val="1097"/>
              </a:lnSpc>
              <a:buNone/>
            </a:pPr>
            <a:r>
              <a:rPr lang="en-US" sz="800" dirty="0">
                <a:solidFill>
                  <a:srgbClr val="BE123C"/>
                </a:solidFill>
                <a:latin typeface="Carlito" pitchFamily="34" charset="0"/>
                <a:ea typeface="Carlito" pitchFamily="34" charset="-122"/>
                <a:cs typeface="Carlito" pitchFamily="34" charset="-120"/>
              </a:rPr>
              <a:t>HONEYPOT ARMED</a:t>
            </a:r>
            <a:endParaRPr lang="en-US" sz="800" dirty="0"/>
          </a:p>
        </p:txBody>
      </p:sp>
      <p:sp>
        <p:nvSpPr>
          <p:cNvPr id="28" name="Text 23"/>
          <p:cNvSpPr/>
          <p:nvPr/>
        </p:nvSpPr>
        <p:spPr>
          <a:xfrm>
            <a:off x="4061133" y="2455878"/>
            <a:ext cx="1021512" cy="196025"/>
          </a:xfrm>
          <a:prstGeom prst="roundRect">
            <a:avLst>
              <a:gd name="adj" fmla="val 48585882"/>
            </a:avLst>
          </a:prstGeom>
          <a:solidFill>
            <a:srgbClr val="FFF1F2"/>
          </a:solidFill>
          <a:ln/>
        </p:spPr>
        <p:txBody>
          <a:bodyPr wrap="square" rtlCol="0" anchor="ctr"/>
          <a:lstStyle/>
          <a:p>
            <a:pPr indent="0" marL="0">
              <a:buNone/>
            </a:pPr>
            <a:endParaRPr lang="en-US" dirty="0"/>
          </a:p>
        </p:txBody>
      </p:sp>
      <p:sp>
        <p:nvSpPr>
          <p:cNvPr id="29" name="Text 24"/>
          <p:cNvSpPr/>
          <p:nvPr/>
        </p:nvSpPr>
        <p:spPr>
          <a:xfrm>
            <a:off x="4083993" y="2466380"/>
            <a:ext cx="975792" cy="175022"/>
          </a:xfrm>
          <a:prstGeom prst="rect">
            <a:avLst/>
          </a:prstGeom>
          <a:noFill/>
          <a:ln/>
        </p:spPr>
        <p:txBody>
          <a:bodyPr wrap="none" lIns="0" tIns="0" rIns="0" bIns="0" rtlCol="0" anchor="ctr"/>
          <a:lstStyle/>
          <a:p>
            <a:pPr algn="ctr" indent="0" marL="0">
              <a:lnSpc>
                <a:spcPts val="928"/>
              </a:lnSpc>
              <a:buNone/>
            </a:pPr>
            <a:r>
              <a:rPr lang="en-US" sz="800" dirty="0">
                <a:solidFill>
                  <a:srgbClr val="BE123C"/>
                </a:solidFill>
                <a:latin typeface="Courier New" pitchFamily="34" charset="0"/>
                <a:ea typeface="Courier New" pitchFamily="34" charset="-122"/>
                <a:cs typeface="Courier New" pitchFamily="34" charset="-120"/>
              </a:rPr>
              <a:t>threshold crossed</a:t>
            </a:r>
            <a:endParaRPr lang="en-US" sz="800" dirty="0"/>
          </a:p>
        </p:txBody>
      </p:sp>
      <p:sp>
        <p:nvSpPr>
          <p:cNvPr id="30" name="Text 25"/>
          <p:cNvSpPr/>
          <p:nvPr/>
        </p:nvSpPr>
        <p:spPr>
          <a:xfrm>
            <a:off x="5937796" y="1469827"/>
            <a:ext cx="457200" cy="457200"/>
          </a:xfrm>
          <a:prstGeom prst="roundRect">
            <a:avLst>
              <a:gd name="adj" fmla="val 20831250"/>
            </a:avLst>
          </a:prstGeom>
          <a:solidFill>
            <a:srgbClr val="D946EF"/>
          </a:solidFill>
          <a:ln/>
          <a:effectLst>
            <a:outerShdw sx="100000" sy="100000" kx="0" ky="0" algn="bl" rotWithShape="0" blurRad="101600" dist="50800" dir="16200000">
              <a:srgbClr val="FAF5FF">
                <a:alpha val="50000"/>
              </a:srgbClr>
            </a:outerShdw>
          </a:effectLst>
        </p:spPr>
        <p:txBody>
          <a:bodyPr wrap="square" rtlCol="0" anchor="ctr"/>
          <a:lstStyle/>
          <a:p>
            <a:pPr indent="0" marL="0">
              <a:buNone/>
            </a:pPr>
            <a:endParaRPr lang="en-US" dirty="0"/>
          </a:p>
        </p:txBody>
      </p:sp>
      <p:sp>
        <p:nvSpPr>
          <p:cNvPr id="31" name="Text 26"/>
          <p:cNvSpPr/>
          <p:nvPr/>
        </p:nvSpPr>
        <p:spPr>
          <a:xfrm>
            <a:off x="5937796" y="1469827"/>
            <a:ext cx="457200" cy="457200"/>
          </a:xfrm>
          <a:prstGeom prst="rect">
            <a:avLst/>
          </a:prstGeom>
          <a:noFill/>
          <a:ln/>
        </p:spPr>
        <p:txBody>
          <a:bodyPr wrap="none" lIns="0" tIns="0" rIns="0" bIns="0" rtlCol="0" anchor="ctr"/>
          <a:lstStyle/>
          <a:p>
            <a:pPr algn="ctr" indent="0" marL="0">
              <a:lnSpc>
                <a:spcPts val="1856"/>
              </a:lnSpc>
              <a:buNone/>
            </a:pPr>
            <a:r>
              <a:rPr lang="en-US" sz="1238" b="1" dirty="0">
                <a:solidFill>
                  <a:srgbClr val="FFFFFF"/>
                </a:solidFill>
                <a:latin typeface="Liberation Sans Narrow" pitchFamily="34" charset="0"/>
                <a:ea typeface="Liberation Sans Narrow" pitchFamily="34" charset="-122"/>
                <a:cs typeface="Liberation Sans Narrow" pitchFamily="34" charset="-120"/>
              </a:rPr>
              <a:t>4</a:t>
            </a:r>
            <a:endParaRPr lang="en-US" sz="1238" dirty="0"/>
          </a:p>
        </p:txBody>
      </p:sp>
      <p:sp>
        <p:nvSpPr>
          <p:cNvPr id="32" name="Text 27"/>
          <p:cNvSpPr/>
          <p:nvPr/>
        </p:nvSpPr>
        <p:spPr>
          <a:xfrm>
            <a:off x="5750328" y="2041327"/>
            <a:ext cx="832247" cy="172593"/>
          </a:xfrm>
          <a:prstGeom prst="rect">
            <a:avLst/>
          </a:prstGeom>
          <a:noFill/>
          <a:ln/>
        </p:spPr>
        <p:txBody>
          <a:bodyPr wrap="none" lIns="0" tIns="0" rIns="0" bIns="0" rtlCol="0" anchor="t">
            <a:normAutofit/>
          </a:bodyPr>
          <a:lstStyle/>
          <a:p>
            <a:pPr algn="ctr" indent="0" marL="0">
              <a:lnSpc>
                <a:spcPts val="1350"/>
              </a:lnSpc>
              <a:buNone/>
            </a:pPr>
            <a:r>
              <a:rPr lang="en-US" sz="900" b="1" dirty="0">
                <a:solidFill>
                  <a:srgbClr val="1E1932"/>
                </a:solidFill>
                <a:latin typeface="Liberation Sans Narrow" pitchFamily="34" charset="0"/>
                <a:ea typeface="Liberation Sans Narrow" pitchFamily="34" charset="-122"/>
                <a:cs typeface="Liberation Sans Narrow" pitchFamily="34" charset="-120"/>
              </a:rPr>
              <a:t>Attempt 4</a:t>
            </a:r>
            <a:endParaRPr lang="en-US" sz="900" dirty="0"/>
          </a:p>
        </p:txBody>
      </p:sp>
      <p:sp>
        <p:nvSpPr>
          <p:cNvPr id="33" name="Text 28"/>
          <p:cNvSpPr/>
          <p:nvPr/>
        </p:nvSpPr>
        <p:spPr>
          <a:xfrm>
            <a:off x="5582275" y="2241352"/>
            <a:ext cx="1168353" cy="164592"/>
          </a:xfrm>
          <a:prstGeom prst="rect">
            <a:avLst/>
          </a:prstGeom>
          <a:noFill/>
          <a:ln/>
        </p:spPr>
        <p:txBody>
          <a:bodyPr wrap="none" lIns="0" tIns="0" rIns="0" bIns="0" rtlCol="0" anchor="t"/>
          <a:lstStyle/>
          <a:p>
            <a:pPr algn="ctr" indent="0" marL="0">
              <a:lnSpc>
                <a:spcPts val="1097"/>
              </a:lnSpc>
              <a:buNone/>
            </a:pPr>
            <a:r>
              <a:rPr lang="en-US" sz="800" dirty="0">
                <a:solidFill>
                  <a:srgbClr val="A21CAF"/>
                </a:solidFill>
                <a:latin typeface="Carlito" pitchFamily="34" charset="0"/>
                <a:ea typeface="Carlito" pitchFamily="34" charset="-122"/>
                <a:cs typeface="Carlito" pitchFamily="34" charset="-120"/>
              </a:rPr>
              <a:t>“Login Successful”</a:t>
            </a:r>
            <a:endParaRPr lang="en-US" sz="800" dirty="0"/>
          </a:p>
        </p:txBody>
      </p:sp>
      <p:sp>
        <p:nvSpPr>
          <p:cNvPr id="34" name="Text 29"/>
          <p:cNvSpPr/>
          <p:nvPr/>
        </p:nvSpPr>
        <p:spPr>
          <a:xfrm>
            <a:off x="5773958" y="2455878"/>
            <a:ext cx="784987" cy="196025"/>
          </a:xfrm>
          <a:prstGeom prst="roundRect">
            <a:avLst>
              <a:gd name="adj" fmla="val 48585882"/>
            </a:avLst>
          </a:prstGeom>
          <a:solidFill>
            <a:srgbClr val="FDF2F8"/>
          </a:solidFill>
          <a:ln/>
        </p:spPr>
        <p:txBody>
          <a:bodyPr wrap="square" rtlCol="0" anchor="ctr"/>
          <a:lstStyle/>
          <a:p>
            <a:pPr indent="0" marL="0">
              <a:buNone/>
            </a:pPr>
            <a:endParaRPr lang="en-US" dirty="0"/>
          </a:p>
        </p:txBody>
      </p:sp>
      <p:sp>
        <p:nvSpPr>
          <p:cNvPr id="35" name="Text 30"/>
          <p:cNvSpPr/>
          <p:nvPr/>
        </p:nvSpPr>
        <p:spPr>
          <a:xfrm>
            <a:off x="5723069" y="2466380"/>
            <a:ext cx="886765" cy="175022"/>
          </a:xfrm>
          <a:prstGeom prst="rect">
            <a:avLst/>
          </a:prstGeom>
          <a:noFill/>
          <a:ln/>
        </p:spPr>
        <p:txBody>
          <a:bodyPr wrap="none" lIns="0" tIns="0" rIns="0" bIns="0" rtlCol="0" anchor="ctr"/>
          <a:lstStyle/>
          <a:p>
            <a:pPr algn="ctr" indent="0" marL="0">
              <a:lnSpc>
                <a:spcPts val="928"/>
              </a:lnSpc>
              <a:buNone/>
            </a:pPr>
            <a:r>
              <a:rPr lang="en-US" sz="800" dirty="0">
                <a:solidFill>
                  <a:srgbClr val="A21CAF"/>
                </a:solidFill>
                <a:latin typeface="Courier New" pitchFamily="34" charset="0"/>
                <a:ea typeface="Courier New" pitchFamily="34" charset="-122"/>
                <a:cs typeface="Courier New" pitchFamily="34" charset="-120"/>
              </a:rPr>
              <a:t>TRAP SPRINGS</a:t>
            </a:r>
            <a:endParaRPr lang="en-US" sz="800" dirty="0"/>
          </a:p>
        </p:txBody>
      </p:sp>
      <p:sp>
        <p:nvSpPr>
          <p:cNvPr id="36" name="Text 31"/>
          <p:cNvSpPr/>
          <p:nvPr/>
        </p:nvSpPr>
        <p:spPr>
          <a:xfrm>
            <a:off x="7532303" y="1469827"/>
            <a:ext cx="457200" cy="457200"/>
          </a:xfrm>
          <a:prstGeom prst="roundRect">
            <a:avLst>
              <a:gd name="adj" fmla="val 20831250"/>
            </a:avLst>
          </a:prstGeom>
          <a:solidFill>
            <a:srgbClr val="7C3AED"/>
          </a:solidFill>
          <a:ln/>
          <a:effectLst>
            <a:outerShdw sx="100000" sy="100000" kx="0" ky="0" algn="bl" rotWithShape="0" blurRad="101600" dist="50800" dir="16200000">
              <a:srgbClr val="FAF5FF">
                <a:alpha val="50000"/>
              </a:srgbClr>
            </a:outerShdw>
          </a:effectLst>
        </p:spPr>
        <p:txBody>
          <a:bodyPr wrap="square" rtlCol="0" anchor="ctr"/>
          <a:lstStyle/>
          <a:p>
            <a:pPr indent="0" marL="0">
              <a:buNone/>
            </a:pPr>
            <a:endParaRPr lang="en-US" dirty="0"/>
          </a:p>
        </p:txBody>
      </p:sp>
      <p:sp>
        <p:nvSpPr>
          <p:cNvPr id="37" name="Text 32"/>
          <p:cNvSpPr/>
          <p:nvPr/>
        </p:nvSpPr>
        <p:spPr>
          <a:xfrm>
            <a:off x="7532303" y="1469827"/>
            <a:ext cx="457200" cy="457200"/>
          </a:xfrm>
          <a:prstGeom prst="rect">
            <a:avLst/>
          </a:prstGeom>
          <a:noFill/>
          <a:ln/>
        </p:spPr>
        <p:txBody>
          <a:bodyPr wrap="none" lIns="0" tIns="0" rIns="0" bIns="0" rtlCol="0" anchor="ctr"/>
          <a:lstStyle/>
          <a:p>
            <a:pPr algn="ctr" indent="0" marL="0">
              <a:lnSpc>
                <a:spcPts val="1856"/>
              </a:lnSpc>
              <a:buNone/>
            </a:pPr>
            <a:r>
              <a:rPr lang="en-US" sz="1238" b="1" dirty="0">
                <a:solidFill>
                  <a:srgbClr val="FFFFFF"/>
                </a:solidFill>
                <a:latin typeface="Liberation Sans Narrow" pitchFamily="34" charset="0"/>
                <a:ea typeface="Liberation Sans Narrow" pitchFamily="34" charset="-122"/>
                <a:cs typeface="Liberation Sans Narrow" pitchFamily="34" charset="-120"/>
              </a:rPr>
              <a:t>5</a:t>
            </a:r>
            <a:endParaRPr lang="en-US" sz="1238" dirty="0"/>
          </a:p>
        </p:txBody>
      </p:sp>
      <p:sp>
        <p:nvSpPr>
          <p:cNvPr id="38" name="Text 33"/>
          <p:cNvSpPr/>
          <p:nvPr/>
        </p:nvSpPr>
        <p:spPr>
          <a:xfrm>
            <a:off x="7006568" y="2041327"/>
            <a:ext cx="1508671" cy="258318"/>
          </a:xfrm>
          <a:prstGeom prst="rect">
            <a:avLst/>
          </a:prstGeom>
          <a:noFill/>
          <a:ln/>
        </p:spPr>
        <p:txBody>
          <a:bodyPr wrap="square" lIns="0" tIns="0" rIns="0" bIns="0" rtlCol="0" anchor="t">
            <a:normAutofit/>
          </a:bodyPr>
          <a:lstStyle/>
          <a:p>
            <a:pPr algn="ctr" indent="0" marL="0">
              <a:lnSpc>
                <a:spcPts val="1013"/>
              </a:lnSpc>
              <a:buNone/>
            </a:pPr>
            <a:r>
              <a:rPr lang="en-US" sz="844" b="1" dirty="0">
                <a:solidFill>
                  <a:srgbClr val="1E1932"/>
                </a:solidFill>
                <a:latin typeface="Carlito" pitchFamily="34" charset="0"/>
                <a:ea typeface="Carlito" pitchFamily="34" charset="-122"/>
                <a:cs typeface="Carlito" pitchFamily="34" charset="-120"/>
              </a:rPr>
              <a:t>Attacker lands on /dashboard</a:t>
            </a:r>
            <a:endParaRPr lang="en-US" sz="844" dirty="0"/>
          </a:p>
        </p:txBody>
      </p:sp>
      <p:sp>
        <p:nvSpPr>
          <p:cNvPr id="39" name="Text 34"/>
          <p:cNvSpPr/>
          <p:nvPr/>
        </p:nvSpPr>
        <p:spPr>
          <a:xfrm>
            <a:off x="7254368" y="2327077"/>
            <a:ext cx="1013069" cy="164592"/>
          </a:xfrm>
          <a:prstGeom prst="rect">
            <a:avLst/>
          </a:prstGeom>
          <a:noFill/>
          <a:ln/>
        </p:spPr>
        <p:txBody>
          <a:bodyPr wrap="none" lIns="0" tIns="0" rIns="0" bIns="0" rtlCol="0" anchor="t"/>
          <a:lstStyle/>
          <a:p>
            <a:pPr algn="ctr" indent="0" marL="0">
              <a:lnSpc>
                <a:spcPts val="1097"/>
              </a:lnSpc>
              <a:buNone/>
            </a:pPr>
            <a:r>
              <a:rPr lang="en-US" sz="731" dirty="0">
                <a:solidFill>
                  <a:srgbClr val="64748B"/>
                </a:solidFill>
                <a:latin typeface="Carlito" pitchFamily="34" charset="0"/>
                <a:ea typeface="Carlito" pitchFamily="34" charset="-122"/>
                <a:cs typeface="Carlito" pitchFamily="34" charset="-120"/>
              </a:rPr>
              <a:t>served fake profile</a:t>
            </a:r>
            <a:endParaRPr lang="en-US" sz="731" dirty="0"/>
          </a:p>
        </p:txBody>
      </p:sp>
      <p:sp>
        <p:nvSpPr>
          <p:cNvPr id="40" name="Text 35"/>
          <p:cNvSpPr/>
          <p:nvPr/>
        </p:nvSpPr>
        <p:spPr>
          <a:xfrm>
            <a:off x="7273811" y="2541603"/>
            <a:ext cx="974184" cy="196025"/>
          </a:xfrm>
          <a:prstGeom prst="roundRect">
            <a:avLst>
              <a:gd name="adj" fmla="val 48585882"/>
            </a:avLst>
          </a:prstGeom>
          <a:solidFill>
            <a:srgbClr val="F5F3FF"/>
          </a:solidFill>
          <a:ln/>
        </p:spPr>
        <p:txBody>
          <a:bodyPr wrap="square" rtlCol="0" anchor="ctr"/>
          <a:lstStyle/>
          <a:p>
            <a:pPr indent="0" marL="0">
              <a:buNone/>
            </a:pPr>
            <a:endParaRPr lang="en-US" dirty="0"/>
          </a:p>
        </p:txBody>
      </p:sp>
      <p:sp>
        <p:nvSpPr>
          <p:cNvPr id="41" name="Text 36"/>
          <p:cNvSpPr/>
          <p:nvPr/>
        </p:nvSpPr>
        <p:spPr>
          <a:xfrm>
            <a:off x="7296671" y="2552105"/>
            <a:ext cx="928464" cy="175022"/>
          </a:xfrm>
          <a:prstGeom prst="rect">
            <a:avLst/>
          </a:prstGeom>
          <a:noFill/>
          <a:ln/>
        </p:spPr>
        <p:txBody>
          <a:bodyPr wrap="none" lIns="0" tIns="0" rIns="0" bIns="0" rtlCol="0" anchor="ctr"/>
          <a:lstStyle/>
          <a:p>
            <a:pPr algn="ctr" indent="0" marL="0">
              <a:lnSpc>
                <a:spcPts val="928"/>
              </a:lnSpc>
              <a:buNone/>
            </a:pPr>
            <a:r>
              <a:rPr lang="en-US" sz="800" dirty="0">
                <a:solidFill>
                  <a:srgbClr val="6D28D9"/>
                </a:solidFill>
                <a:latin typeface="Courier New" pitchFamily="34" charset="0"/>
                <a:ea typeface="Courier New" pitchFamily="34" charset="-122"/>
                <a:cs typeface="Courier New" pitchFamily="34" charset="-120"/>
              </a:rPr>
              <a:t>silent deception</a:t>
            </a:r>
            <a:endParaRPr lang="en-US" sz="800" dirty="0"/>
          </a:p>
        </p:txBody>
      </p:sp>
      <p:sp>
        <p:nvSpPr>
          <p:cNvPr id="42" name="Text 37"/>
          <p:cNvSpPr/>
          <p:nvPr/>
        </p:nvSpPr>
        <p:spPr>
          <a:xfrm>
            <a:off x="460772" y="3968353"/>
            <a:ext cx="4036219" cy="771525"/>
          </a:xfrm>
          <a:prstGeom prst="roundRect">
            <a:avLst>
              <a:gd name="adj" fmla="val 19753"/>
            </a:avLst>
          </a:prstGeom>
          <a:solidFill>
            <a:srgbClr val="FFFFFF"/>
          </a:solidFill>
          <a:ln w="7144">
            <a:solidFill>
              <a:srgbClr val="7C3AED"/>
            </a:solidFill>
            <a:prstDash val="solid"/>
          </a:ln>
          <a:effectLst>
            <a:outerShdw sx="100000" sy="100000" kx="0" ky="0" algn="bl" rotWithShape="0" blurRad="114300" dist="19050" dir="5400000">
              <a:srgbClr val="7C3AED">
                <a:alpha val="6000"/>
              </a:srgbClr>
            </a:outerShdw>
          </a:effectLst>
        </p:spPr>
        <p:txBody>
          <a:bodyPr wrap="square" rtlCol="0" anchor="ctr"/>
          <a:lstStyle/>
          <a:p>
            <a:pPr indent="0" marL="0">
              <a:buNone/>
            </a:pPr>
            <a:endParaRPr lang="en-US" dirty="0"/>
          </a:p>
        </p:txBody>
      </p:sp>
      <p:sp>
        <p:nvSpPr>
          <p:cNvPr id="43" name="Text 38"/>
          <p:cNvSpPr/>
          <p:nvPr/>
        </p:nvSpPr>
        <p:spPr>
          <a:xfrm>
            <a:off x="607219" y="4114800"/>
            <a:ext cx="314325" cy="314325"/>
          </a:xfrm>
          <a:prstGeom prst="roundRect">
            <a:avLst>
              <a:gd name="adj" fmla="val 36364"/>
            </a:avLst>
          </a:prstGeom>
          <a:solidFill>
            <a:srgbClr val="EDE9FE"/>
          </a:solidFill>
          <a:ln/>
        </p:spPr>
        <p:txBody>
          <a:bodyPr wrap="square" rtlCol="0" anchor="ctr"/>
          <a:lstStyle/>
          <a:p>
            <a:pPr indent="0" marL="0">
              <a:buNone/>
            </a:pPr>
            <a:endParaRPr lang="en-US" dirty="0"/>
          </a:p>
        </p:txBody>
      </p:sp>
      <p:sp>
        <p:nvSpPr>
          <p:cNvPr id="44" name="Text 39"/>
          <p:cNvSpPr/>
          <p:nvPr/>
        </p:nvSpPr>
        <p:spPr>
          <a:xfrm>
            <a:off x="640080" y="4147661"/>
            <a:ext cx="248602" cy="248602"/>
          </a:xfrm>
          <a:prstGeom prst="rect">
            <a:avLst/>
          </a:prstGeom>
          <a:noFill/>
          <a:ln/>
        </p:spPr>
        <p:txBody>
          <a:bodyPr wrap="none" lIns="0" tIns="0" rIns="0" bIns="0" rtlCol="0" anchor="ctr"/>
          <a:lstStyle/>
          <a:p>
            <a:pPr algn="ctr" indent="0" marL="0">
              <a:buNone/>
            </a:pPr>
            <a:r>
              <a:rPr lang="en-US" sz="1688" dirty="0">
                <a:solidFill>
                  <a:srgbClr val="7C3AED"/>
                </a:solidFill>
                <a:latin typeface="Segoe UI Symbol" pitchFamily="34" charset="0"/>
                <a:ea typeface="Segoe UI Symbol" pitchFamily="34" charset="-122"/>
                <a:cs typeface="Segoe UI Symbol" pitchFamily="34" charset="-120"/>
              </a:rPr>
              <a:t>⎙</a:t>
            </a:r>
            <a:endParaRPr lang="en-US" sz="1688" dirty="0"/>
          </a:p>
        </p:txBody>
      </p:sp>
      <p:sp>
        <p:nvSpPr>
          <p:cNvPr id="45" name="Text 40"/>
          <p:cNvSpPr/>
          <p:nvPr/>
        </p:nvSpPr>
        <p:spPr>
          <a:xfrm>
            <a:off x="1035844" y="4114800"/>
            <a:ext cx="3424428" cy="161877"/>
          </a:xfrm>
          <a:prstGeom prst="rect">
            <a:avLst/>
          </a:prstGeom>
          <a:noFill/>
          <a:ln/>
        </p:spPr>
        <p:txBody>
          <a:bodyPr wrap="square" lIns="0" tIns="0" rIns="0" bIns="0" rtlCol="0" anchor="t">
            <a:normAutofit/>
          </a:bodyPr>
          <a:lstStyle/>
          <a:p>
            <a:pPr algn="l" indent="0" marL="0">
              <a:lnSpc>
                <a:spcPts val="1266"/>
              </a:lnSpc>
              <a:buNone/>
            </a:pPr>
            <a:r>
              <a:rPr lang="en-US" sz="844" dirty="0">
                <a:solidFill>
                  <a:srgbClr val="1E1932"/>
                </a:solidFill>
                <a:latin typeface="Carlito" pitchFamily="34" charset="0"/>
                <a:ea typeface="Carlito" pitchFamily="34" charset="-122"/>
                <a:cs typeface="Carlito" pitchFamily="34" charset="-120"/>
              </a:rPr>
              <a:t>Deterministic fake profiles</a:t>
            </a:r>
            <a:endParaRPr lang="en-US" sz="844" dirty="0"/>
          </a:p>
        </p:txBody>
      </p:sp>
      <p:sp>
        <p:nvSpPr>
          <p:cNvPr id="46" name="Text 41"/>
          <p:cNvSpPr/>
          <p:nvPr/>
        </p:nvSpPr>
        <p:spPr>
          <a:xfrm>
            <a:off x="1035844" y="4304109"/>
            <a:ext cx="3314700" cy="289322"/>
          </a:xfrm>
          <a:prstGeom prst="rect">
            <a:avLst/>
          </a:prstGeom>
          <a:noFill/>
          <a:ln/>
        </p:spPr>
        <p:txBody>
          <a:bodyPr wrap="square" lIns="0" tIns="0" rIns="0" bIns="0" rtlCol="0" anchor="t"/>
          <a:lstStyle/>
          <a:p>
            <a:pPr algn="l" indent="0" marL="0">
              <a:lnSpc>
                <a:spcPts val="1139"/>
              </a:lnSpc>
              <a:buNone/>
            </a:pPr>
            <a:r>
              <a:rPr lang="en-US" sz="800" dirty="0">
                <a:solidFill>
                  <a:srgbClr val="475569"/>
                </a:solidFill>
                <a:latin typeface="Carlito" pitchFamily="34" charset="0"/>
                <a:ea typeface="Carlito" pitchFamily="34" charset="-122"/>
                <a:cs typeface="Carlito" pitchFamily="34" charset="-120"/>
              </a:rPr>
              <a:t>Same username = same fake student, every time. No real user data ever exposed.</a:t>
            </a:r>
            <a:endParaRPr lang="en-US" sz="800" dirty="0"/>
          </a:p>
        </p:txBody>
      </p:sp>
      <p:sp>
        <p:nvSpPr>
          <p:cNvPr id="47" name="Text 42"/>
          <p:cNvSpPr/>
          <p:nvPr/>
        </p:nvSpPr>
        <p:spPr>
          <a:xfrm>
            <a:off x="4647009" y="3968353"/>
            <a:ext cx="4036219" cy="771525"/>
          </a:xfrm>
          <a:prstGeom prst="roundRect">
            <a:avLst>
              <a:gd name="adj" fmla="val 19753"/>
            </a:avLst>
          </a:prstGeom>
          <a:solidFill>
            <a:srgbClr val="FFFFFF"/>
          </a:solidFill>
          <a:ln w="7144">
            <a:solidFill>
              <a:srgbClr val="7C3AED"/>
            </a:solidFill>
            <a:prstDash val="solid"/>
          </a:ln>
          <a:effectLst>
            <a:outerShdw sx="100000" sy="100000" kx="0" ky="0" algn="bl" rotWithShape="0" blurRad="114300" dist="19050" dir="5400000">
              <a:srgbClr val="7C3AED">
                <a:alpha val="6000"/>
              </a:srgbClr>
            </a:outerShdw>
          </a:effectLst>
        </p:spPr>
        <p:txBody>
          <a:bodyPr wrap="square" rtlCol="0" anchor="ctr"/>
          <a:lstStyle/>
          <a:p>
            <a:pPr indent="0" marL="0">
              <a:buNone/>
            </a:pPr>
            <a:endParaRPr lang="en-US" dirty="0"/>
          </a:p>
        </p:txBody>
      </p:sp>
      <p:sp>
        <p:nvSpPr>
          <p:cNvPr id="48" name="Text 43"/>
          <p:cNvSpPr/>
          <p:nvPr/>
        </p:nvSpPr>
        <p:spPr>
          <a:xfrm>
            <a:off x="4793456" y="4114800"/>
            <a:ext cx="314325" cy="314325"/>
          </a:xfrm>
          <a:prstGeom prst="roundRect">
            <a:avLst>
              <a:gd name="adj" fmla="val 36364"/>
            </a:avLst>
          </a:prstGeom>
          <a:solidFill>
            <a:srgbClr val="FCE7F3"/>
          </a:solidFill>
          <a:ln/>
        </p:spPr>
        <p:txBody>
          <a:bodyPr wrap="square" rtlCol="0" anchor="ctr"/>
          <a:lstStyle/>
          <a:p>
            <a:pPr indent="0" marL="0">
              <a:buNone/>
            </a:pPr>
            <a:endParaRPr lang="en-US" dirty="0"/>
          </a:p>
        </p:txBody>
      </p:sp>
      <p:sp>
        <p:nvSpPr>
          <p:cNvPr id="49" name="Text 44"/>
          <p:cNvSpPr/>
          <p:nvPr/>
        </p:nvSpPr>
        <p:spPr>
          <a:xfrm>
            <a:off x="4826318" y="4147661"/>
            <a:ext cx="248602" cy="248602"/>
          </a:xfrm>
          <a:prstGeom prst="rect">
            <a:avLst/>
          </a:prstGeom>
          <a:noFill/>
          <a:ln/>
        </p:spPr>
        <p:txBody>
          <a:bodyPr wrap="none" lIns="0" tIns="0" rIns="0" bIns="0" rtlCol="0" anchor="ctr"/>
          <a:lstStyle/>
          <a:p>
            <a:pPr algn="ctr" indent="0" marL="0">
              <a:buNone/>
            </a:pPr>
            <a:r>
              <a:rPr lang="en-US" sz="1688" dirty="0">
                <a:solidFill>
                  <a:srgbClr val="EC4899"/>
                </a:solidFill>
                <a:latin typeface="Segoe UI Symbol" pitchFamily="34" charset="0"/>
                <a:ea typeface="Segoe UI Symbol" pitchFamily="34" charset="-122"/>
                <a:cs typeface="Segoe UI Symbol" pitchFamily="34" charset="-120"/>
              </a:rPr>
              <a:t>◔</a:t>
            </a:r>
            <a:endParaRPr lang="en-US" sz="1688" dirty="0"/>
          </a:p>
        </p:txBody>
      </p:sp>
      <p:sp>
        <p:nvSpPr>
          <p:cNvPr id="50" name="Text 45"/>
          <p:cNvSpPr/>
          <p:nvPr/>
        </p:nvSpPr>
        <p:spPr>
          <a:xfrm>
            <a:off x="5222081" y="4114800"/>
            <a:ext cx="3314700" cy="161877"/>
          </a:xfrm>
          <a:prstGeom prst="rect">
            <a:avLst/>
          </a:prstGeom>
          <a:noFill/>
          <a:ln/>
        </p:spPr>
        <p:txBody>
          <a:bodyPr wrap="none" lIns="0" tIns="0" rIns="0" bIns="0" rtlCol="0" anchor="t">
            <a:normAutofit/>
          </a:bodyPr>
          <a:lstStyle/>
          <a:p>
            <a:pPr algn="l" indent="0" marL="0">
              <a:lnSpc>
                <a:spcPts val="1266"/>
              </a:lnSpc>
              <a:buNone/>
            </a:pPr>
            <a:r>
              <a:rPr lang="en-US" sz="844" dirty="0">
                <a:solidFill>
                  <a:srgbClr val="1E1932"/>
                </a:solidFill>
                <a:latin typeface="Liberation Sans Narrow" pitchFamily="34" charset="0"/>
                <a:ea typeface="Liberation Sans Narrow" pitchFamily="34" charset="-122"/>
                <a:cs typeface="Liberation Sans Narrow" pitchFamily="34" charset="-120"/>
              </a:rPr>
              <a:t>Auto-disarm after 30 min</a:t>
            </a:r>
            <a:endParaRPr lang="en-US" sz="844" dirty="0"/>
          </a:p>
        </p:txBody>
      </p:sp>
      <p:sp>
        <p:nvSpPr>
          <p:cNvPr id="51" name="Text 46"/>
          <p:cNvSpPr/>
          <p:nvPr/>
        </p:nvSpPr>
        <p:spPr>
          <a:xfrm>
            <a:off x="5222081" y="4304109"/>
            <a:ext cx="3314700" cy="289322"/>
          </a:xfrm>
          <a:prstGeom prst="rect">
            <a:avLst/>
          </a:prstGeom>
          <a:noFill/>
          <a:ln/>
        </p:spPr>
        <p:txBody>
          <a:bodyPr wrap="square" lIns="0" tIns="0" rIns="0" bIns="0" rtlCol="0" anchor="t"/>
          <a:lstStyle/>
          <a:p>
            <a:pPr algn="l" indent="0" marL="0">
              <a:lnSpc>
                <a:spcPts val="1139"/>
              </a:lnSpc>
              <a:buNone/>
            </a:pPr>
            <a:r>
              <a:rPr lang="en-US" sz="800" dirty="0">
                <a:solidFill>
                  <a:srgbClr val="475569"/>
                </a:solidFill>
                <a:latin typeface="Carlito" pitchFamily="34" charset="0"/>
                <a:ea typeface="Carlito" pitchFamily="34" charset="-122"/>
                <a:cs typeface="Carlito" pitchFamily="34" charset="-120"/>
              </a:rPr>
              <a:t>Trap expires after 30 minutes of inactivity. Legit users on shared IPs aren’t locked out forever.</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0" b="0"/>
          <a:stretch/>
        </p:blipFill>
        <p:spPr>
          <a:xfrm>
            <a:off x="0" y="0"/>
            <a:ext cx="9144000" cy="5143500"/>
          </a:xfrm>
          <a:prstGeom prst="rect">
            <a:avLst/>
          </a:prstGeom>
        </p:spPr>
      </p:pic>
      <p:pic>
        <p:nvPicPr>
          <p:cNvPr id="3" name="Image 1" descr="preencoded.png">    </p:cNvPr>
          <p:cNvPicPr>
            <a:picLocks noChangeAspect="1"/>
          </p:cNvPicPr>
          <p:nvPr/>
        </p:nvPicPr>
        <p:blipFill>
          <a:blip r:embed="rId2"/>
          <a:stretch>
            <a:fillRect/>
          </a:stretch>
        </p:blipFill>
        <p:spPr>
          <a:xfrm>
            <a:off x="0" y="0"/>
            <a:ext cx="9144000" cy="5143500"/>
          </a:xfrm>
          <a:prstGeom prst="rect">
            <a:avLst/>
          </a:prstGeom>
        </p:spPr>
      </p:pic>
      <p:sp>
        <p:nvSpPr>
          <p:cNvPr id="4" name="Text 0"/>
          <p:cNvSpPr/>
          <p:nvPr/>
        </p:nvSpPr>
        <p:spPr>
          <a:xfrm>
            <a:off x="457200" y="400050"/>
            <a:ext cx="3312244" cy="175022"/>
          </a:xfrm>
          <a:prstGeom prst="roundRect">
            <a:avLst>
              <a:gd name="adj" fmla="val 5436731"/>
            </a:avLst>
          </a:prstGeom>
          <a:solidFill>
            <a:srgbClr val="D1FAE5"/>
          </a:solidFill>
          <a:ln/>
        </p:spPr>
        <p:txBody>
          <a:bodyPr wrap="square" rtlCol="0" anchor="ctr"/>
          <a:lstStyle/>
          <a:p>
            <a:pPr indent="0" marL="0">
              <a:buNone/>
            </a:pPr>
            <a:endParaRPr lang="en-US" dirty="0"/>
          </a:p>
        </p:txBody>
      </p:sp>
      <p:sp>
        <p:nvSpPr>
          <p:cNvPr id="5" name="Text 1"/>
          <p:cNvSpPr/>
          <p:nvPr/>
        </p:nvSpPr>
        <p:spPr>
          <a:xfrm>
            <a:off x="678656" y="435769"/>
            <a:ext cx="1387897" cy="129679"/>
          </a:xfrm>
          <a:prstGeom prst="rect">
            <a:avLst/>
          </a:prstGeom>
          <a:noFill/>
          <a:ln/>
        </p:spPr>
        <p:txBody>
          <a:bodyPr wrap="none" lIns="0" tIns="0" rIns="0" bIns="0" rtlCol="0" anchor="t"/>
          <a:lstStyle/>
          <a:p>
            <a:pPr algn="l" indent="0" marL="0">
              <a:lnSpc>
                <a:spcPts val="928"/>
              </a:lnSpc>
              <a:buNone/>
            </a:pPr>
            <a:r>
              <a:rPr lang="en-US" sz="619" spc="25" kern="0" dirty="0">
                <a:solidFill>
                  <a:srgbClr val="047857"/>
                </a:solidFill>
                <a:latin typeface="Liberation Sans Narrow" pitchFamily="34" charset="0"/>
                <a:ea typeface="Liberation Sans Narrow" pitchFamily="34" charset="-122"/>
                <a:cs typeface="Liberation Sans Narrow" pitchFamily="34" charset="-120"/>
              </a:rPr>
              <a:t>MODULE 4 · SOC DASHBOARD</a:t>
            </a:r>
            <a:endParaRPr lang="en-US" sz="619" dirty="0"/>
          </a:p>
        </p:txBody>
      </p:sp>
      <p:sp>
        <p:nvSpPr>
          <p:cNvPr id="6" name="Text 2"/>
          <p:cNvSpPr/>
          <p:nvPr/>
        </p:nvSpPr>
        <p:spPr>
          <a:xfrm>
            <a:off x="542925" y="441127"/>
            <a:ext cx="92869" cy="92869"/>
          </a:xfrm>
          <a:prstGeom prst="rect">
            <a:avLst/>
          </a:prstGeom>
          <a:noFill/>
          <a:ln/>
        </p:spPr>
        <p:txBody>
          <a:bodyPr wrap="none" lIns="0" tIns="0" rIns="0" bIns="0" rtlCol="0" anchor="ctr"/>
          <a:lstStyle/>
          <a:p>
            <a:pPr algn="ctr" indent="0" marL="0">
              <a:buNone/>
            </a:pPr>
            <a:r>
              <a:rPr lang="en-US" sz="914" dirty="0">
                <a:solidFill>
                  <a:srgbClr val="047857"/>
                </a:solidFill>
                <a:latin typeface="Segoe UI Symbol" pitchFamily="34" charset="0"/>
                <a:ea typeface="Segoe UI Symbol" pitchFamily="34" charset="-122"/>
                <a:cs typeface="Segoe UI Symbol" pitchFamily="34" charset="-120"/>
              </a:rPr>
              <a:t>⌇</a:t>
            </a:r>
            <a:endParaRPr lang="en-US" sz="914" dirty="0"/>
          </a:p>
        </p:txBody>
      </p:sp>
      <p:sp>
        <p:nvSpPr>
          <p:cNvPr id="7" name="Text 3"/>
          <p:cNvSpPr/>
          <p:nvPr/>
        </p:nvSpPr>
        <p:spPr>
          <a:xfrm>
            <a:off x="457200" y="660797"/>
            <a:ext cx="3643469" cy="301181"/>
          </a:xfrm>
          <a:prstGeom prst="rect">
            <a:avLst/>
          </a:prstGeom>
          <a:noFill/>
          <a:ln/>
        </p:spPr>
        <p:txBody>
          <a:bodyPr wrap="square" lIns="0" tIns="0" rIns="0" bIns="0" rtlCol="0" anchor="t">
            <a:normAutofit/>
          </a:bodyPr>
          <a:lstStyle/>
          <a:p>
            <a:pPr algn="l" indent="0" marL="0">
              <a:lnSpc>
                <a:spcPts val="2363"/>
              </a:lnSpc>
              <a:buNone/>
            </a:pPr>
            <a:r>
              <a:rPr lang="en-US" sz="1575" b="1" spc="-16" kern="0" dirty="0">
                <a:solidFill>
                  <a:srgbClr val="1E1932"/>
                </a:solidFill>
                <a:latin typeface="Carlito" pitchFamily="34" charset="0"/>
                <a:ea typeface="Carlito" pitchFamily="34" charset="-122"/>
                <a:cs typeface="Carlito" pitchFamily="34" charset="-120"/>
              </a:rPr>
              <a:t>Real-time attack visibility</a:t>
            </a:r>
            <a:endParaRPr lang="en-US" sz="1575" dirty="0"/>
          </a:p>
        </p:txBody>
      </p:sp>
      <p:sp>
        <p:nvSpPr>
          <p:cNvPr id="8" name="Text 4"/>
          <p:cNvSpPr/>
          <p:nvPr/>
        </p:nvSpPr>
        <p:spPr>
          <a:xfrm>
            <a:off x="457200" y="989409"/>
            <a:ext cx="3312244" cy="329184"/>
          </a:xfrm>
          <a:prstGeom prst="rect">
            <a:avLst/>
          </a:prstGeom>
          <a:noFill/>
          <a:ln/>
        </p:spPr>
        <p:txBody>
          <a:bodyPr wrap="square" lIns="0" tIns="0" rIns="0" bIns="0" rtlCol="0" anchor="t"/>
          <a:lstStyle/>
          <a:p>
            <a:pPr algn="l" indent="0" marL="0">
              <a:lnSpc>
                <a:spcPts val="1181"/>
              </a:lnSpc>
              <a:buNone/>
            </a:pPr>
            <a:r>
              <a:rPr lang="en-US" sz="800" dirty="0">
                <a:solidFill>
                  <a:srgbClr val="64748B"/>
                </a:solidFill>
                <a:latin typeface="Carlito" pitchFamily="34" charset="0"/>
                <a:ea typeface="Carlito" pitchFamily="34" charset="-122"/>
                <a:cs typeface="Carlito" pitchFamily="34" charset="-120"/>
              </a:rPr>
              <a:t>Every block, every brute-force, every trap — streamed live over Socket.io.</a:t>
            </a:r>
            <a:endParaRPr lang="en-US" sz="800" dirty="0"/>
          </a:p>
        </p:txBody>
      </p:sp>
      <p:sp>
        <p:nvSpPr>
          <p:cNvPr id="9" name="Text 5"/>
          <p:cNvSpPr/>
          <p:nvPr/>
        </p:nvSpPr>
        <p:spPr>
          <a:xfrm>
            <a:off x="457200" y="1432322"/>
            <a:ext cx="3312244" cy="1917704"/>
          </a:xfrm>
          <a:prstGeom prst="rect">
            <a:avLst/>
          </a:prstGeom>
          <a:noFill/>
          <a:ln/>
        </p:spPr>
        <p:txBody>
          <a:bodyPr wrap="square" lIns="0" tIns="0" rIns="0" bIns="0" rtlCol="0" anchor="t"/>
          <a:lstStyle/>
          <a:p>
            <a:pPr algn="l" marL="342900" indent="-342900">
              <a:lnSpc>
                <a:spcPts val="1350"/>
              </a:lnSpc>
              <a:buSzPct val="100000"/>
              <a:buChar char="•"/>
            </a:pPr>
            <a:r>
              <a:rPr lang="en-US" sz="900" dirty="0">
                <a:solidFill>
                  <a:srgbClr val="1E1932"/>
                </a:solidFill>
                <a:latin typeface="Carlito" pitchFamily="34" charset="0"/>
                <a:ea typeface="Carlito" pitchFamily="34" charset="-122"/>
                <a:cs typeface="Carlito" pitchFamily="34" charset="-120"/>
              </a:rPr>
              <a:t>Live WAF block feed via Socket.io IP, attack type, score, payload, hit breakdown</a:t>
            </a:r>
            <a:endParaRPr lang="en-US" sz="900" dirty="0"/>
          </a:p>
          <a:p>
            <a:pPr algn="l" marL="342900" indent="-342900">
              <a:lnSpc>
                <a:spcPts val="1350"/>
              </a:lnSpc>
              <a:buSzPct val="100000"/>
              <a:buChar char="•"/>
            </a:pPr>
            <a:r>
              <a:rPr lang="en-US" sz="900" dirty="0">
                <a:solidFill>
                  <a:srgbClr val="1E1932"/>
                </a:solidFill>
                <a:latin typeface="Carlito" pitchFamily="34" charset="0"/>
                <a:ea typeface="Carlito" pitchFamily="34" charset="-122"/>
                <a:cs typeface="Carlito" pitchFamily="34" charset="-120"/>
              </a:rPr>
              <a:t>Purple honeypot trap alerts fake identity served + attacker fingerprint</a:t>
            </a:r>
            <a:endParaRPr lang="en-US" sz="900" dirty="0"/>
          </a:p>
          <a:p>
            <a:pPr algn="l" marL="342900" indent="-342900">
              <a:lnSpc>
                <a:spcPts val="1350"/>
              </a:lnSpc>
              <a:buSzPct val="100000"/>
              <a:buChar char="•"/>
            </a:pPr>
            <a:r>
              <a:rPr lang="en-US" sz="900" dirty="0">
                <a:solidFill>
                  <a:srgbClr val="1E1932"/>
                </a:solidFill>
                <a:latin typeface="Carlito" pitchFamily="34" charset="0"/>
                <a:ea typeface="Carlito" pitchFamily="34" charset="-122"/>
                <a:cs typeface="Carlito" pitchFamily="34" charset="-120"/>
              </a:rPr>
              <a:t>IP geolocation via ip-api.com city, country, ISP, flag emoji</a:t>
            </a:r>
            <a:endParaRPr lang="en-US" sz="900" dirty="0"/>
          </a:p>
          <a:p>
            <a:pPr algn="l" marL="342900" indent="-342900">
              <a:lnSpc>
                <a:spcPts val="1350"/>
              </a:lnSpc>
              <a:buSzPct val="100000"/>
              <a:buChar char="•"/>
            </a:pPr>
            <a:r>
              <a:rPr lang="en-US" sz="900" dirty="0">
                <a:solidFill>
                  <a:srgbClr val="1E1932"/>
                </a:solidFill>
                <a:latin typeface="Carlito" pitchFamily="34" charset="0"/>
                <a:ea typeface="Carlito" pitchFamily="34" charset="-122"/>
                <a:cs typeface="Carlito" pitchFamily="34" charset="-120"/>
              </a:rPr>
              <a:t>Top attackers catalog + trapped panel admin reset controls</a:t>
            </a:r>
            <a:endParaRPr lang="en-US" sz="900" dirty="0"/>
          </a:p>
          <a:p>
            <a:pPr algn="l" marL="342900" indent="-342900">
              <a:lnSpc>
                <a:spcPts val="1350"/>
              </a:lnSpc>
              <a:buSzPct val="100000"/>
              <a:buChar char="•"/>
            </a:pPr>
            <a:r>
              <a:rPr lang="en-US" sz="900" dirty="0">
                <a:solidFill>
                  <a:srgbClr val="1E1932"/>
                </a:solidFill>
                <a:latin typeface="Carlito" pitchFamily="34" charset="0"/>
                <a:ea typeface="Carlito" pitchFamily="34" charset="-122"/>
                <a:cs typeface="Carlito" pitchFamily="34" charset="-120"/>
              </a:rPr>
              <a:t>Admin APIs /api/stats · /api/events/recent · /api/honeypot/reset</a:t>
            </a:r>
            <a:endParaRPr lang="en-US" sz="900" dirty="0"/>
          </a:p>
        </p:txBody>
      </p:sp>
      <p:sp>
        <p:nvSpPr>
          <p:cNvPr id="10" name="Text 6"/>
          <p:cNvSpPr/>
          <p:nvPr/>
        </p:nvSpPr>
        <p:spPr>
          <a:xfrm>
            <a:off x="614363" y="4627364"/>
            <a:ext cx="2060695" cy="133582"/>
          </a:xfrm>
          <a:prstGeom prst="rect">
            <a:avLst/>
          </a:prstGeom>
          <a:noFill/>
          <a:ln/>
        </p:spPr>
        <p:txBody>
          <a:bodyPr wrap="square" lIns="0" tIns="114300" rIns="0" bIns="0" rtlCol="0" anchor="t"/>
          <a:lstStyle/>
          <a:p>
            <a:pPr algn="l" indent="0" marL="0">
              <a:lnSpc>
                <a:spcPts val="970"/>
              </a:lnSpc>
              <a:buNone/>
            </a:pPr>
            <a:r>
              <a:rPr lang="en-US" sz="647" dirty="0">
                <a:solidFill>
                  <a:srgbClr val="94A3B8"/>
                </a:solidFill>
                <a:latin typeface="Carlito" pitchFamily="34" charset="0"/>
                <a:ea typeface="Carlito" pitchFamily="34" charset="-122"/>
                <a:cs typeface="Carlito" pitchFamily="34" charset="-120"/>
              </a:rPr>
              <a:t>500-event in-memory ring buffer · zero polling</a:t>
            </a:r>
            <a:endParaRPr lang="en-US" sz="647" dirty="0"/>
          </a:p>
        </p:txBody>
      </p:sp>
      <p:sp>
        <p:nvSpPr>
          <p:cNvPr id="11" name="Text 7"/>
          <p:cNvSpPr/>
          <p:nvPr/>
        </p:nvSpPr>
        <p:spPr>
          <a:xfrm>
            <a:off x="457200" y="4631829"/>
            <a:ext cx="100013" cy="100013"/>
          </a:xfrm>
          <a:prstGeom prst="rect">
            <a:avLst/>
          </a:prstGeom>
          <a:noFill/>
          <a:ln/>
        </p:spPr>
        <p:txBody>
          <a:bodyPr wrap="none" lIns="0" tIns="0" rIns="0" bIns="0" rtlCol="0" anchor="ctr"/>
          <a:lstStyle/>
          <a:p>
            <a:pPr algn="ctr" indent="0" marL="0">
              <a:buNone/>
            </a:pPr>
            <a:r>
              <a:rPr lang="en-US" sz="984" dirty="0">
                <a:solidFill>
                  <a:srgbClr val="94A3B8"/>
                </a:solidFill>
                <a:latin typeface="Segoe UI Symbol" pitchFamily="34" charset="0"/>
                <a:ea typeface="Segoe UI Symbol" pitchFamily="34" charset="-122"/>
                <a:cs typeface="Segoe UI Symbol" pitchFamily="34" charset="-120"/>
              </a:rPr>
              <a:t>⚡</a:t>
            </a:r>
            <a:endParaRPr lang="en-US" sz="984" dirty="0"/>
          </a:p>
        </p:txBody>
      </p:sp>
      <p:sp>
        <p:nvSpPr>
          <p:cNvPr id="12" name="Text 8"/>
          <p:cNvSpPr/>
          <p:nvPr/>
        </p:nvSpPr>
        <p:spPr>
          <a:xfrm>
            <a:off x="3969469" y="400050"/>
            <a:ext cx="4717331" cy="4163020"/>
          </a:xfrm>
          <a:prstGeom prst="roundRect">
            <a:avLst>
              <a:gd name="adj" fmla="val 4118"/>
            </a:avLst>
          </a:prstGeom>
          <a:solidFill>
            <a:srgbClr val="1E1932"/>
          </a:solidFill>
          <a:ln/>
          <a:effectLst>
            <a:outerShdw sx="100000" sy="100000" kx="0" ky="0" algn="bl" rotWithShape="0" blurRad="304800" dist="76200" dir="5400000">
              <a:srgbClr val="1E1932">
                <a:alpha val="25000"/>
              </a:srgbClr>
            </a:outerShdw>
          </a:effectLst>
        </p:spPr>
        <p:txBody>
          <a:bodyPr wrap="square" rtlCol="0" anchor="ctr"/>
          <a:lstStyle/>
          <a:p>
            <a:pPr indent="0" marL="0">
              <a:buNone/>
            </a:pPr>
            <a:endParaRPr lang="en-US" dirty="0"/>
          </a:p>
        </p:txBody>
      </p:sp>
      <p:sp>
        <p:nvSpPr>
          <p:cNvPr id="13" name="Shape 9"/>
          <p:cNvSpPr/>
          <p:nvPr/>
        </p:nvSpPr>
        <p:spPr>
          <a:xfrm>
            <a:off x="4112344" y="755452"/>
            <a:ext cx="4431581" cy="0"/>
          </a:xfrm>
          <a:prstGeom prst="line">
            <a:avLst/>
          </a:prstGeom>
          <a:noFill/>
          <a:ln w="7144">
            <a:solidFill>
              <a:srgbClr val="FFFFFF"/>
            </a:solidFill>
            <a:prstDash val="solid"/>
          </a:ln>
        </p:spPr>
      </p:sp>
      <p:sp>
        <p:nvSpPr>
          <p:cNvPr id="14" name="Text 10"/>
          <p:cNvSpPr/>
          <p:nvPr/>
        </p:nvSpPr>
        <p:spPr>
          <a:xfrm>
            <a:off x="4112344" y="568821"/>
            <a:ext cx="71438" cy="71438"/>
          </a:xfrm>
          <a:prstGeom prst="roundRect">
            <a:avLst>
              <a:gd name="adj" fmla="val 133319067"/>
            </a:avLst>
          </a:prstGeom>
          <a:solidFill>
            <a:srgbClr val="F87171"/>
          </a:solidFill>
          <a:ln/>
        </p:spPr>
        <p:txBody>
          <a:bodyPr wrap="square" rtlCol="0" anchor="ctr"/>
          <a:lstStyle/>
          <a:p>
            <a:pPr indent="0" marL="0">
              <a:buNone/>
            </a:pPr>
            <a:endParaRPr lang="en-US" dirty="0"/>
          </a:p>
        </p:txBody>
      </p:sp>
      <p:sp>
        <p:nvSpPr>
          <p:cNvPr id="15" name="Text 11"/>
          <p:cNvSpPr/>
          <p:nvPr/>
        </p:nvSpPr>
        <p:spPr>
          <a:xfrm>
            <a:off x="4226644" y="568821"/>
            <a:ext cx="71438" cy="71438"/>
          </a:xfrm>
          <a:prstGeom prst="roundRect">
            <a:avLst>
              <a:gd name="adj" fmla="val 133319067"/>
            </a:avLst>
          </a:prstGeom>
          <a:solidFill>
            <a:srgbClr val="FBBF24"/>
          </a:solidFill>
          <a:ln/>
        </p:spPr>
        <p:txBody>
          <a:bodyPr wrap="square" rtlCol="0" anchor="ctr"/>
          <a:lstStyle/>
          <a:p>
            <a:pPr indent="0" marL="0">
              <a:buNone/>
            </a:pPr>
            <a:endParaRPr lang="en-US" dirty="0"/>
          </a:p>
        </p:txBody>
      </p:sp>
      <p:sp>
        <p:nvSpPr>
          <p:cNvPr id="16" name="Text 12"/>
          <p:cNvSpPr/>
          <p:nvPr/>
        </p:nvSpPr>
        <p:spPr>
          <a:xfrm>
            <a:off x="4340944" y="568821"/>
            <a:ext cx="71438" cy="71438"/>
          </a:xfrm>
          <a:prstGeom prst="roundRect">
            <a:avLst>
              <a:gd name="adj" fmla="val 133319067"/>
            </a:avLst>
          </a:prstGeom>
          <a:solidFill>
            <a:srgbClr val="34D399"/>
          </a:solidFill>
          <a:ln/>
        </p:spPr>
        <p:txBody>
          <a:bodyPr wrap="square" rtlCol="0" anchor="ctr"/>
          <a:lstStyle/>
          <a:p>
            <a:pPr indent="0" marL="0">
              <a:buNone/>
            </a:pPr>
            <a:endParaRPr lang="en-US" dirty="0"/>
          </a:p>
        </p:txBody>
      </p:sp>
      <p:sp>
        <p:nvSpPr>
          <p:cNvPr id="17" name="Text 13"/>
          <p:cNvSpPr/>
          <p:nvPr/>
        </p:nvSpPr>
        <p:spPr>
          <a:xfrm>
            <a:off x="4523474" y="542925"/>
            <a:ext cx="875975" cy="123230"/>
          </a:xfrm>
          <a:prstGeom prst="rect">
            <a:avLst/>
          </a:prstGeom>
          <a:noFill/>
          <a:ln/>
        </p:spPr>
        <p:txBody>
          <a:bodyPr wrap="none" lIns="0" tIns="0" rIns="0" bIns="0" rtlCol="0" anchor="t"/>
          <a:lstStyle/>
          <a:p>
            <a:pPr algn="l" indent="0" marL="0">
              <a:lnSpc>
                <a:spcPts val="970"/>
              </a:lnSpc>
              <a:buNone/>
            </a:pPr>
            <a:r>
              <a:rPr lang="en-US" sz="800" dirty="0">
                <a:solidFill>
                  <a:srgbClr val="94A3B8"/>
                </a:solidFill>
                <a:latin typeface="Courier New" pitchFamily="34" charset="0"/>
                <a:ea typeface="Courier New" pitchFamily="34" charset="-122"/>
                <a:cs typeface="Courier New" pitchFamily="34" charset="-120"/>
              </a:rPr>
              <a:t>soc — live feed</a:t>
            </a:r>
            <a:endParaRPr lang="en-US" sz="800" dirty="0"/>
          </a:p>
        </p:txBody>
      </p:sp>
      <p:sp>
        <p:nvSpPr>
          <p:cNvPr id="18" name="Text 14"/>
          <p:cNvSpPr/>
          <p:nvPr/>
        </p:nvSpPr>
        <p:spPr>
          <a:xfrm>
            <a:off x="8032366" y="583109"/>
            <a:ext cx="42863" cy="42863"/>
          </a:xfrm>
          <a:prstGeom prst="roundRect">
            <a:avLst>
              <a:gd name="adj" fmla="val 222197408"/>
            </a:avLst>
          </a:prstGeom>
          <a:solidFill>
            <a:srgbClr val="34D399"/>
          </a:solidFill>
          <a:ln/>
          <a:effectLst>
            <a:outerShdw sx="100000" sy="100000" kx="0" ky="0" algn="bl" rotWithShape="0" blurRad="57150" dist="50800" dir="16200000">
              <a:srgbClr val="34D399">
                <a:alpha val="50000"/>
              </a:srgbClr>
            </a:outerShdw>
          </a:effectLst>
        </p:spPr>
        <p:txBody>
          <a:bodyPr wrap="square" rtlCol="0" anchor="ctr"/>
          <a:lstStyle/>
          <a:p>
            <a:pPr indent="0" marL="0">
              <a:buNone/>
            </a:pPr>
            <a:endParaRPr lang="en-US" dirty="0"/>
          </a:p>
        </p:txBody>
      </p:sp>
      <p:sp>
        <p:nvSpPr>
          <p:cNvPr id="19" name="Text 15"/>
          <p:cNvSpPr/>
          <p:nvPr/>
        </p:nvSpPr>
        <p:spPr>
          <a:xfrm>
            <a:off x="8100277" y="545604"/>
            <a:ext cx="461461" cy="120551"/>
          </a:xfrm>
          <a:prstGeom prst="rect">
            <a:avLst/>
          </a:prstGeom>
          <a:noFill/>
          <a:ln/>
        </p:spPr>
        <p:txBody>
          <a:bodyPr wrap="none" lIns="0" tIns="0" rIns="0" bIns="0" rtlCol="0" anchor="t"/>
          <a:lstStyle/>
          <a:p>
            <a:pPr algn="l" indent="0" marL="0">
              <a:lnSpc>
                <a:spcPts val="928"/>
              </a:lnSpc>
              <a:buNone/>
            </a:pPr>
            <a:r>
              <a:rPr lang="en-US" sz="619" dirty="0">
                <a:solidFill>
                  <a:srgbClr val="6EE7B7"/>
                </a:solidFill>
                <a:latin typeface="Courier New" pitchFamily="34" charset="0"/>
                <a:ea typeface="Courier New" pitchFamily="34" charset="-122"/>
                <a:cs typeface="Courier New" pitchFamily="34" charset="-120"/>
              </a:rPr>
              <a:t>connected</a:t>
            </a:r>
            <a:endParaRPr lang="en-US" sz="619" dirty="0"/>
          </a:p>
        </p:txBody>
      </p:sp>
      <p:sp>
        <p:nvSpPr>
          <p:cNvPr id="20" name="Text 16"/>
          <p:cNvSpPr/>
          <p:nvPr/>
        </p:nvSpPr>
        <p:spPr>
          <a:xfrm>
            <a:off x="4086775" y="859036"/>
            <a:ext cx="697342" cy="128016"/>
          </a:xfrm>
          <a:prstGeom prst="rect">
            <a:avLst/>
          </a:prstGeom>
          <a:noFill/>
          <a:ln/>
        </p:spPr>
        <p:txBody>
          <a:bodyPr wrap="none" lIns="0" tIns="0" rIns="0" bIns="0" rtlCol="0" anchor="t"/>
          <a:lstStyle/>
          <a:p>
            <a:pPr algn="l" indent="0" marL="0">
              <a:lnSpc>
                <a:spcPts val="1046"/>
              </a:lnSpc>
              <a:buNone/>
            </a:pPr>
            <a:r>
              <a:rPr lang="en-US" sz="800" dirty="0">
                <a:solidFill>
                  <a:srgbClr val="6B6586"/>
                </a:solidFill>
                <a:latin typeface="Liberation Sans Narrow" pitchFamily="34" charset="0"/>
                <a:ea typeface="Liberation Sans Narrow" pitchFamily="34" charset="-122"/>
                <a:cs typeface="Liberation Sans Narrow" pitchFamily="34" charset="-120"/>
              </a:rPr>
              <a:t>[14:23:01]</a:t>
            </a:r>
            <a:endParaRPr lang="en-US" sz="800" dirty="0"/>
          </a:p>
        </p:txBody>
      </p:sp>
      <p:sp>
        <p:nvSpPr>
          <p:cNvPr id="21" name="Text 17"/>
          <p:cNvSpPr/>
          <p:nvPr/>
        </p:nvSpPr>
        <p:spPr>
          <a:xfrm>
            <a:off x="4708736" y="845034"/>
            <a:ext cx="311534" cy="128016"/>
          </a:xfrm>
          <a:prstGeom prst="roundRect">
            <a:avLst>
              <a:gd name="adj" fmla="val 29762"/>
            </a:avLst>
          </a:prstGeom>
          <a:solidFill>
            <a:srgbClr val="F43F5E">
              <a:alpha val="15000"/>
            </a:srgbClr>
          </a:solidFill>
          <a:ln/>
        </p:spPr>
        <p:txBody>
          <a:bodyPr wrap="square" rtlCol="0" anchor="ctr"/>
          <a:lstStyle/>
          <a:p>
            <a:pPr indent="0" marL="0">
              <a:buNone/>
            </a:pPr>
            <a:endParaRPr lang="en-US" dirty="0"/>
          </a:p>
        </p:txBody>
      </p:sp>
      <p:sp>
        <p:nvSpPr>
          <p:cNvPr id="22" name="Text 18"/>
          <p:cNvSpPr/>
          <p:nvPr/>
        </p:nvSpPr>
        <p:spPr>
          <a:xfrm>
            <a:off x="4660897" y="851892"/>
            <a:ext cx="407213" cy="114300"/>
          </a:xfrm>
          <a:prstGeom prst="rect">
            <a:avLst/>
          </a:prstGeom>
          <a:noFill/>
          <a:ln/>
        </p:spPr>
        <p:txBody>
          <a:bodyPr wrap="none" lIns="0" tIns="0" rIns="0" bIns="0" rtlCol="0" anchor="ctr"/>
          <a:lstStyle/>
          <a:p>
            <a:pPr algn="ctr" indent="0" marL="0">
              <a:lnSpc>
                <a:spcPts val="915"/>
              </a:lnSpc>
              <a:buNone/>
            </a:pPr>
            <a:r>
              <a:rPr lang="en-US" sz="800" dirty="0">
                <a:solidFill>
                  <a:srgbClr val="F9A8D4"/>
                </a:solidFill>
                <a:latin typeface="Courier New" pitchFamily="34" charset="0"/>
                <a:ea typeface="Courier New" pitchFamily="34" charset="-122"/>
                <a:cs typeface="Courier New" pitchFamily="34" charset="-120"/>
              </a:rPr>
              <a:t>BLOCK</a:t>
            </a:r>
            <a:endParaRPr lang="en-US" sz="800" dirty="0"/>
          </a:p>
        </p:txBody>
      </p:sp>
      <p:sp>
        <p:nvSpPr>
          <p:cNvPr id="23" name="Text 19"/>
          <p:cNvSpPr/>
          <p:nvPr/>
        </p:nvSpPr>
        <p:spPr>
          <a:xfrm>
            <a:off x="5100526" y="859036"/>
            <a:ext cx="2289983" cy="91440"/>
          </a:xfrm>
          <a:prstGeom prst="rect">
            <a:avLst/>
          </a:prstGeom>
          <a:noFill/>
          <a:ln/>
        </p:spPr>
        <p:txBody>
          <a:bodyPr wrap="square" lIns="0" tIns="0" rIns="0" bIns="0" rtlCol="0" anchor="t">
            <a:normAutofit/>
          </a:bodyPr>
          <a:lstStyle/>
          <a:p>
            <a:pPr algn="l" indent="0" marL="0">
              <a:lnSpc>
                <a:spcPts val="1046"/>
              </a:lnSpc>
              <a:buNone/>
            </a:pPr>
            <a:r>
              <a:rPr lang="en-US" sz="675" dirty="0">
                <a:solidFill>
                  <a:srgbClr val="C4C0D8"/>
                </a:solidFill>
                <a:latin typeface="Courier New" pitchFamily="34" charset="0"/>
                <a:ea typeface="Courier New" pitchFamily="34" charset="-122"/>
                <a:cs typeface="Courier New" pitchFamily="34" charset="-120"/>
              </a:rPr>
              <a:t>SQLi score=</a:t>
            </a:r>
            <a:pPr algn="l" indent="0" marL="0">
              <a:lnSpc>
                <a:spcPts val="1046"/>
              </a:lnSpc>
              <a:buNone/>
            </a:pPr>
            <a:r>
              <a:rPr lang="en-US" sz="675" dirty="0">
                <a:solidFill>
                  <a:srgbClr val="FBBF24"/>
                </a:solidFill>
                <a:latin typeface="Liberation Sans Narrow" pitchFamily="34" charset="0"/>
                <a:ea typeface="Liberation Sans Narrow" pitchFamily="34" charset="-122"/>
                <a:cs typeface="Liberation Sans Narrow" pitchFamily="34" charset="-120"/>
              </a:rPr>
              <a:t>5</a:t>
            </a:r>
            <a:pPr algn="l" indent="0" marL="0">
              <a:lnSpc>
                <a:spcPts val="1046"/>
              </a:lnSpc>
              <a:buNone/>
            </a:pPr>
            <a:r>
              <a:rPr lang="en-US" sz="675" dirty="0">
                <a:solidFill>
                  <a:srgbClr val="C4C0D8"/>
                </a:solidFill>
                <a:latin typeface="Liberation Sans Narrow" pitchFamily="34" charset="0"/>
                <a:ea typeface="Liberation Sans Narrow" pitchFamily="34" charset="-122"/>
                <a:cs typeface="Liberation Sans Narrow" pitchFamily="34" charset="-120"/>
              </a:rPr>
              <a:t>/4 ip=</a:t>
            </a:r>
            <a:pPr algn="l" indent="0" marL="0">
              <a:lnSpc>
                <a:spcPts val="1046"/>
              </a:lnSpc>
              <a:buNone/>
            </a:pPr>
            <a:r>
              <a:rPr lang="en-US" sz="675" dirty="0">
                <a:solidFill>
                  <a:srgbClr val="93C5FD"/>
                </a:solidFill>
                <a:latin typeface="Liberation Sans Narrow" pitchFamily="34" charset="0"/>
                <a:ea typeface="Liberation Sans Narrow" pitchFamily="34" charset="-122"/>
                <a:cs typeface="Liberation Sans Narrow" pitchFamily="34" charset="-120"/>
              </a:rPr>
              <a:t>10.0.0.7</a:t>
            </a:r>
            <a:pPr algn="l" indent="0" marL="0">
              <a:lnSpc>
                <a:spcPts val="1046"/>
              </a:lnSpc>
              <a:buNone/>
            </a:pPr>
            <a:r>
              <a:rPr lang="en-US" sz="675" dirty="0">
                <a:solidFill>
                  <a:srgbClr val="C4C0D8"/>
                </a:solidFill>
                <a:latin typeface="Courier New" pitchFamily="34" charset="0"/>
                <a:ea typeface="Courier New" pitchFamily="34" charset="-122"/>
                <a:cs typeface="Courier New" pitchFamily="34" charset="-120"/>
              </a:rPr>
              <a:t> </a:t>
            </a:r>
            <a:pPr algn="l" indent="0" marL="0">
              <a:lnSpc>
                <a:spcPts val="1046"/>
              </a:lnSpc>
              <a:buNone/>
            </a:pPr>
            <a:r>
              <a:rPr lang="en-US" sz="675" dirty="0">
                <a:solidFill>
                  <a:srgbClr val="FBBF24"/>
                </a:solidFill>
                <a:latin typeface="Segoe UI Symbol" pitchFamily="34" charset="0"/>
                <a:ea typeface="Segoe UI Symbol" pitchFamily="34" charset="-122"/>
                <a:cs typeface="Segoe UI Symbol" pitchFamily="34" charset="-120"/>
              </a:rPr>
              <a:t>🇺🇸</a:t>
            </a:r>
            <a:pPr algn="l" indent="0" marL="0">
              <a:lnSpc>
                <a:spcPts val="1046"/>
              </a:lnSpc>
              <a:buNone/>
            </a:pPr>
            <a:r>
              <a:rPr lang="en-US" sz="675" dirty="0">
                <a:solidFill>
                  <a:srgbClr val="C4C0D8"/>
                </a:solidFill>
                <a:latin typeface="Courier New" pitchFamily="34" charset="0"/>
                <a:ea typeface="Courier New" pitchFamily="34" charset="-122"/>
                <a:cs typeface="Courier New" pitchFamily="34" charset="-120"/>
              </a:rPr>
              <a:t> Ashburn, US</a:t>
            </a:r>
            <a:endParaRPr lang="en-US" sz="675" dirty="0"/>
          </a:p>
        </p:txBody>
      </p:sp>
      <p:sp>
        <p:nvSpPr>
          <p:cNvPr id="24" name="Text 20"/>
          <p:cNvSpPr/>
          <p:nvPr/>
        </p:nvSpPr>
        <p:spPr>
          <a:xfrm>
            <a:off x="4112344" y="977578"/>
            <a:ext cx="4431581" cy="170047"/>
          </a:xfrm>
          <a:prstGeom prst="rect">
            <a:avLst/>
          </a:prstGeom>
          <a:noFill/>
          <a:ln/>
        </p:spPr>
        <p:txBody>
          <a:bodyPr wrap="square" lIns="114300" tIns="0" rIns="0" bIns="0" rtlCol="0" anchor="t"/>
          <a:lstStyle/>
          <a:p>
            <a:pPr algn="l" indent="0" marL="0">
              <a:lnSpc>
                <a:spcPts val="959"/>
              </a:lnSpc>
              <a:buNone/>
            </a:pPr>
            <a:r>
              <a:rPr lang="en-US" sz="800" dirty="0">
                <a:solidFill>
                  <a:srgbClr val="8A87A0"/>
                </a:solidFill>
                <a:latin typeface="Courier New" pitchFamily="34" charset="0"/>
                <a:ea typeface="Courier New" pitchFamily="34" charset="-122"/>
                <a:cs typeface="Courier New" pitchFamily="34" charset="-120"/>
              </a:rPr>
              <a:t>— sqli_or_tautology (4pt) [body.studentId]</a:t>
            </a:r>
            <a:endParaRPr lang="en-US" sz="800" dirty="0"/>
          </a:p>
        </p:txBody>
      </p:sp>
      <p:sp>
        <p:nvSpPr>
          <p:cNvPr id="25" name="Text 21"/>
          <p:cNvSpPr/>
          <p:nvPr/>
        </p:nvSpPr>
        <p:spPr>
          <a:xfrm>
            <a:off x="4086775" y="1185081"/>
            <a:ext cx="697342" cy="128016"/>
          </a:xfrm>
          <a:prstGeom prst="rect">
            <a:avLst/>
          </a:prstGeom>
          <a:noFill/>
          <a:ln/>
        </p:spPr>
        <p:txBody>
          <a:bodyPr wrap="none" lIns="0" tIns="0" rIns="0" bIns="0" rtlCol="0" anchor="t"/>
          <a:lstStyle/>
          <a:p>
            <a:pPr algn="l" indent="0" marL="0">
              <a:lnSpc>
                <a:spcPts val="1046"/>
              </a:lnSpc>
              <a:buNone/>
            </a:pPr>
            <a:r>
              <a:rPr lang="en-US" sz="800" dirty="0">
                <a:solidFill>
                  <a:srgbClr val="6B6586"/>
                </a:solidFill>
                <a:latin typeface="Liberation Sans Narrow" pitchFamily="34" charset="0"/>
                <a:ea typeface="Liberation Sans Narrow" pitchFamily="34" charset="-122"/>
                <a:cs typeface="Liberation Sans Narrow" pitchFamily="34" charset="-120"/>
              </a:rPr>
              <a:t>[14:23:08]</a:t>
            </a:r>
            <a:endParaRPr lang="en-US" sz="800" dirty="0"/>
          </a:p>
        </p:txBody>
      </p:sp>
      <p:sp>
        <p:nvSpPr>
          <p:cNvPr id="26" name="Text 22"/>
          <p:cNvSpPr/>
          <p:nvPr/>
        </p:nvSpPr>
        <p:spPr>
          <a:xfrm>
            <a:off x="4708736" y="1171079"/>
            <a:ext cx="311534" cy="128016"/>
          </a:xfrm>
          <a:prstGeom prst="roundRect">
            <a:avLst>
              <a:gd name="adj" fmla="val 29762"/>
            </a:avLst>
          </a:prstGeom>
          <a:solidFill>
            <a:srgbClr val="F59E0B">
              <a:alpha val="16000"/>
            </a:srgbClr>
          </a:solidFill>
          <a:ln/>
        </p:spPr>
        <p:txBody>
          <a:bodyPr wrap="square" rtlCol="0" anchor="ctr"/>
          <a:lstStyle/>
          <a:p>
            <a:pPr indent="0" marL="0">
              <a:buNone/>
            </a:pPr>
            <a:endParaRPr lang="en-US" dirty="0"/>
          </a:p>
        </p:txBody>
      </p:sp>
      <p:sp>
        <p:nvSpPr>
          <p:cNvPr id="27" name="Text 23"/>
          <p:cNvSpPr/>
          <p:nvPr/>
        </p:nvSpPr>
        <p:spPr>
          <a:xfrm>
            <a:off x="4660897" y="1177937"/>
            <a:ext cx="407213" cy="114300"/>
          </a:xfrm>
          <a:prstGeom prst="rect">
            <a:avLst/>
          </a:prstGeom>
          <a:noFill/>
          <a:ln/>
        </p:spPr>
        <p:txBody>
          <a:bodyPr wrap="none" lIns="0" tIns="0" rIns="0" bIns="0" rtlCol="0" anchor="ctr"/>
          <a:lstStyle/>
          <a:p>
            <a:pPr algn="ctr" indent="0" marL="0">
              <a:lnSpc>
                <a:spcPts val="915"/>
              </a:lnSpc>
              <a:buNone/>
            </a:pPr>
            <a:r>
              <a:rPr lang="en-US" sz="800" dirty="0">
                <a:solidFill>
                  <a:srgbClr val="FCD34D"/>
                </a:solidFill>
                <a:latin typeface="Courier New" pitchFamily="34" charset="0"/>
                <a:ea typeface="Courier New" pitchFamily="34" charset="-122"/>
                <a:cs typeface="Courier New" pitchFamily="34" charset="-120"/>
              </a:rPr>
              <a:t>BRUTE</a:t>
            </a:r>
            <a:endParaRPr lang="en-US" sz="800" dirty="0"/>
          </a:p>
        </p:txBody>
      </p:sp>
      <p:sp>
        <p:nvSpPr>
          <p:cNvPr id="28" name="Text 24"/>
          <p:cNvSpPr/>
          <p:nvPr/>
        </p:nvSpPr>
        <p:spPr>
          <a:xfrm>
            <a:off x="5100526" y="1185081"/>
            <a:ext cx="1951355" cy="128016"/>
          </a:xfrm>
          <a:prstGeom prst="rect">
            <a:avLst/>
          </a:prstGeom>
          <a:noFill/>
          <a:ln/>
        </p:spPr>
        <p:txBody>
          <a:bodyPr wrap="square" lIns="0" tIns="0" rIns="0" bIns="0" rtlCol="0" anchor="t"/>
          <a:lstStyle/>
          <a:p>
            <a:pPr algn="l" indent="0" marL="0">
              <a:lnSpc>
                <a:spcPts val="1046"/>
              </a:lnSpc>
              <a:buNone/>
            </a:pPr>
            <a:r>
              <a:rPr lang="en-US" sz="675" dirty="0">
                <a:solidFill>
                  <a:srgbClr val="C4C0D8"/>
                </a:solidFill>
                <a:latin typeface="Courier New" pitchFamily="34" charset="0"/>
                <a:ea typeface="Courier New" pitchFamily="34" charset="-122"/>
                <a:cs typeface="Courier New" pitchFamily="34" charset="-120"/>
              </a:rPr>
              <a:t>ip=</a:t>
            </a:r>
            <a:pPr algn="l" indent="0" marL="0">
              <a:lnSpc>
                <a:spcPts val="1046"/>
              </a:lnSpc>
              <a:buNone/>
            </a:pPr>
            <a:r>
              <a:rPr lang="en-US" sz="675" dirty="0">
                <a:solidFill>
                  <a:srgbClr val="93C5FD"/>
                </a:solidFill>
                <a:latin typeface="Liberation Sans Narrow" pitchFamily="34" charset="0"/>
                <a:ea typeface="Liberation Sans Narrow" pitchFamily="34" charset="-122"/>
                <a:cs typeface="Liberation Sans Narrow" pitchFamily="34" charset="-120"/>
              </a:rPr>
              <a:t>203.0.113.9</a:t>
            </a:r>
            <a:pPr algn="l" indent="0" marL="0">
              <a:lnSpc>
                <a:spcPts val="1046"/>
              </a:lnSpc>
              <a:buNone/>
            </a:pPr>
            <a:r>
              <a:rPr lang="en-US" sz="675" dirty="0">
                <a:solidFill>
                  <a:srgbClr val="C4C0D8"/>
                </a:solidFill>
                <a:latin typeface="Courier New" pitchFamily="34" charset="0"/>
                <a:ea typeface="Courier New" pitchFamily="34" charset="-122"/>
                <a:cs typeface="Courier New" pitchFamily="34" charset="-120"/>
              </a:rPr>
              <a:t> user=</a:t>
            </a:r>
            <a:pPr algn="l" indent="0" marL="0">
              <a:lnSpc>
                <a:spcPts val="1046"/>
              </a:lnSpc>
              <a:buNone/>
            </a:pPr>
            <a:r>
              <a:rPr lang="en-US" sz="675" dirty="0">
                <a:solidFill>
                  <a:srgbClr val="FCD34D"/>
                </a:solidFill>
                <a:latin typeface="Courier New" pitchFamily="34" charset="0"/>
                <a:ea typeface="Courier New" pitchFamily="34" charset="-122"/>
                <a:cs typeface="Courier New" pitchFamily="34" charset="-120"/>
              </a:rPr>
              <a:t>admin</a:t>
            </a:r>
            <a:pPr algn="l" indent="0" marL="0">
              <a:lnSpc>
                <a:spcPts val="1046"/>
              </a:lnSpc>
              <a:buNone/>
            </a:pPr>
            <a:r>
              <a:rPr lang="en-US" sz="675" dirty="0">
                <a:solidFill>
                  <a:srgbClr val="C4C0D8"/>
                </a:solidFill>
                <a:latin typeface="Courier New" pitchFamily="34" charset="0"/>
                <a:ea typeface="Courier New" pitchFamily="34" charset="-122"/>
                <a:cs typeface="Courier New" pitchFamily="34" charset="-120"/>
              </a:rPr>
              <a:t> fails=</a:t>
            </a:r>
            <a:pPr algn="l" indent="0" marL="0">
              <a:lnSpc>
                <a:spcPts val="1046"/>
              </a:lnSpc>
              <a:buNone/>
            </a:pPr>
            <a:r>
              <a:rPr lang="en-US" sz="675" dirty="0">
                <a:solidFill>
                  <a:srgbClr val="FBBF24"/>
                </a:solidFill>
                <a:latin typeface="Liberation Sans Narrow" pitchFamily="34" charset="0"/>
                <a:ea typeface="Liberation Sans Narrow" pitchFamily="34" charset="-122"/>
                <a:cs typeface="Liberation Sans Narrow" pitchFamily="34" charset="-120"/>
              </a:rPr>
              <a:t>2</a:t>
            </a:r>
            <a:pPr algn="l" indent="0" marL="0">
              <a:lnSpc>
                <a:spcPts val="1046"/>
              </a:lnSpc>
              <a:buNone/>
            </a:pPr>
            <a:r>
              <a:rPr lang="en-US" sz="675" dirty="0">
                <a:solidFill>
                  <a:srgbClr val="C4C0D8"/>
                </a:solidFill>
                <a:latin typeface="Liberation Sans Narrow" pitchFamily="34" charset="0"/>
                <a:ea typeface="Liberation Sans Narrow" pitchFamily="34" charset="-122"/>
                <a:cs typeface="Liberation Sans Narrow" pitchFamily="34" charset="-120"/>
              </a:rPr>
              <a:t>/3</a:t>
            </a:r>
            <a:endParaRPr lang="en-US" sz="675" dirty="0"/>
          </a:p>
        </p:txBody>
      </p:sp>
      <p:sp>
        <p:nvSpPr>
          <p:cNvPr id="29" name="Text 25"/>
          <p:cNvSpPr/>
          <p:nvPr/>
        </p:nvSpPr>
        <p:spPr>
          <a:xfrm>
            <a:off x="4086775" y="1389348"/>
            <a:ext cx="697342" cy="128016"/>
          </a:xfrm>
          <a:prstGeom prst="rect">
            <a:avLst/>
          </a:prstGeom>
          <a:noFill/>
          <a:ln/>
        </p:spPr>
        <p:txBody>
          <a:bodyPr wrap="none" lIns="0" tIns="0" rIns="0" bIns="0" rtlCol="0" anchor="t"/>
          <a:lstStyle/>
          <a:p>
            <a:pPr algn="l" indent="0" marL="0">
              <a:lnSpc>
                <a:spcPts val="1046"/>
              </a:lnSpc>
              <a:buNone/>
            </a:pPr>
            <a:r>
              <a:rPr lang="en-US" sz="800" dirty="0">
                <a:solidFill>
                  <a:srgbClr val="6B6586"/>
                </a:solidFill>
                <a:latin typeface="Liberation Sans Narrow" pitchFamily="34" charset="0"/>
                <a:ea typeface="Liberation Sans Narrow" pitchFamily="34" charset="-122"/>
                <a:cs typeface="Liberation Sans Narrow" pitchFamily="34" charset="-120"/>
              </a:rPr>
              <a:t>[14:23:15]</a:t>
            </a:r>
            <a:endParaRPr lang="en-US" sz="800" dirty="0"/>
          </a:p>
        </p:txBody>
      </p:sp>
      <p:sp>
        <p:nvSpPr>
          <p:cNvPr id="30" name="Text 26"/>
          <p:cNvSpPr/>
          <p:nvPr/>
        </p:nvSpPr>
        <p:spPr>
          <a:xfrm>
            <a:off x="4708736" y="1375346"/>
            <a:ext cx="718058" cy="128016"/>
          </a:xfrm>
          <a:prstGeom prst="roundRect">
            <a:avLst>
              <a:gd name="adj" fmla="val 29762"/>
            </a:avLst>
          </a:prstGeom>
          <a:solidFill>
            <a:srgbClr val="7C3AED">
              <a:alpha val="20000"/>
            </a:srgbClr>
          </a:solidFill>
          <a:ln/>
        </p:spPr>
        <p:txBody>
          <a:bodyPr wrap="square" rtlCol="0" anchor="ctr"/>
          <a:lstStyle/>
          <a:p>
            <a:pPr indent="0" marL="0">
              <a:buNone/>
            </a:pPr>
            <a:endParaRPr lang="en-US" dirty="0"/>
          </a:p>
        </p:txBody>
      </p:sp>
      <p:sp>
        <p:nvSpPr>
          <p:cNvPr id="31" name="Text 27"/>
          <p:cNvSpPr/>
          <p:nvPr/>
        </p:nvSpPr>
        <p:spPr>
          <a:xfrm>
            <a:off x="4708736" y="1382204"/>
            <a:ext cx="718058" cy="114300"/>
          </a:xfrm>
          <a:prstGeom prst="rect">
            <a:avLst/>
          </a:prstGeom>
          <a:noFill/>
          <a:ln/>
        </p:spPr>
        <p:txBody>
          <a:bodyPr wrap="square" lIns="0" tIns="0" rIns="0" bIns="0" rtlCol="0" anchor="ctr"/>
          <a:lstStyle/>
          <a:p>
            <a:pPr algn="ctr" indent="0" marL="0">
              <a:lnSpc>
                <a:spcPts val="915"/>
              </a:lnSpc>
              <a:buNone/>
            </a:pPr>
            <a:r>
              <a:rPr lang="en-US" sz="800" dirty="0">
                <a:solidFill>
                  <a:srgbClr val="C4B5FD"/>
                </a:solidFill>
                <a:latin typeface="Courier New" pitchFamily="34" charset="0"/>
                <a:ea typeface="Courier New" pitchFamily="34" charset="-122"/>
                <a:cs typeface="Courier New" pitchFamily="34" charset="-120"/>
              </a:rPr>
              <a:t>HONEYPOT ARMED</a:t>
            </a:r>
            <a:endParaRPr lang="en-US" sz="800" dirty="0"/>
          </a:p>
        </p:txBody>
      </p:sp>
      <p:sp>
        <p:nvSpPr>
          <p:cNvPr id="32" name="Text 28"/>
          <p:cNvSpPr/>
          <p:nvPr/>
        </p:nvSpPr>
        <p:spPr>
          <a:xfrm>
            <a:off x="5507050" y="1389348"/>
            <a:ext cx="1561012" cy="128016"/>
          </a:xfrm>
          <a:prstGeom prst="rect">
            <a:avLst/>
          </a:prstGeom>
          <a:noFill/>
          <a:ln/>
        </p:spPr>
        <p:txBody>
          <a:bodyPr wrap="square" lIns="0" tIns="0" rIns="0" bIns="0" rtlCol="0" anchor="t"/>
          <a:lstStyle/>
          <a:p>
            <a:pPr algn="l" indent="0" marL="0">
              <a:lnSpc>
                <a:spcPts val="1046"/>
              </a:lnSpc>
              <a:buNone/>
            </a:pPr>
            <a:r>
              <a:rPr lang="en-US" sz="675" dirty="0">
                <a:solidFill>
                  <a:srgbClr val="C4C0D8"/>
                </a:solidFill>
                <a:latin typeface="Courier New" pitchFamily="34" charset="0"/>
                <a:ea typeface="Courier New" pitchFamily="34" charset="-122"/>
                <a:cs typeface="Courier New" pitchFamily="34" charset="-120"/>
              </a:rPr>
              <a:t>ip=</a:t>
            </a:r>
            <a:pPr algn="l" indent="0" marL="0">
              <a:lnSpc>
                <a:spcPts val="1046"/>
              </a:lnSpc>
              <a:buNone/>
            </a:pPr>
            <a:r>
              <a:rPr lang="en-US" sz="675" dirty="0">
                <a:solidFill>
                  <a:srgbClr val="93C5FD"/>
                </a:solidFill>
                <a:latin typeface="Liberation Sans Narrow" pitchFamily="34" charset="0"/>
                <a:ea typeface="Liberation Sans Narrow" pitchFamily="34" charset="-122"/>
                <a:cs typeface="Liberation Sans Narrow" pitchFamily="34" charset="-120"/>
              </a:rPr>
              <a:t>203.0.113.9</a:t>
            </a:r>
            <a:pPr algn="l" indent="0" marL="0">
              <a:lnSpc>
                <a:spcPts val="1046"/>
              </a:lnSpc>
              <a:buNone/>
            </a:pPr>
            <a:r>
              <a:rPr lang="en-US" sz="675" dirty="0">
                <a:solidFill>
                  <a:srgbClr val="C4C0D8"/>
                </a:solidFill>
                <a:latin typeface="Liberation Sans Narrow" pitchFamily="34" charset="0"/>
                <a:ea typeface="Liberation Sans Narrow" pitchFamily="34" charset="-122"/>
                <a:cs typeface="Liberation Sans Narrow" pitchFamily="34" charset="-120"/>
              </a:rPr>
              <a:t> after 3 fails</a:t>
            </a:r>
            <a:endParaRPr lang="en-US" sz="675" dirty="0"/>
          </a:p>
        </p:txBody>
      </p:sp>
      <p:sp>
        <p:nvSpPr>
          <p:cNvPr id="33" name="Text 29"/>
          <p:cNvSpPr/>
          <p:nvPr/>
        </p:nvSpPr>
        <p:spPr>
          <a:xfrm>
            <a:off x="4086775" y="1593614"/>
            <a:ext cx="697342" cy="128016"/>
          </a:xfrm>
          <a:prstGeom prst="rect">
            <a:avLst/>
          </a:prstGeom>
          <a:noFill/>
          <a:ln/>
        </p:spPr>
        <p:txBody>
          <a:bodyPr wrap="none" lIns="0" tIns="0" rIns="0" bIns="0" rtlCol="0" anchor="t"/>
          <a:lstStyle/>
          <a:p>
            <a:pPr algn="l" indent="0" marL="0">
              <a:lnSpc>
                <a:spcPts val="1046"/>
              </a:lnSpc>
              <a:buNone/>
            </a:pPr>
            <a:r>
              <a:rPr lang="en-US" sz="800" dirty="0">
                <a:solidFill>
                  <a:srgbClr val="6B6586"/>
                </a:solidFill>
                <a:latin typeface="Liberation Sans Narrow" pitchFamily="34" charset="0"/>
                <a:ea typeface="Liberation Sans Narrow" pitchFamily="34" charset="-122"/>
                <a:cs typeface="Liberation Sans Narrow" pitchFamily="34" charset="-120"/>
              </a:rPr>
              <a:t>[14:23:22]</a:t>
            </a:r>
            <a:endParaRPr lang="en-US" sz="800" dirty="0"/>
          </a:p>
        </p:txBody>
      </p:sp>
      <p:sp>
        <p:nvSpPr>
          <p:cNvPr id="34" name="Text 30"/>
          <p:cNvSpPr/>
          <p:nvPr/>
        </p:nvSpPr>
        <p:spPr>
          <a:xfrm>
            <a:off x="4708736" y="1579613"/>
            <a:ext cx="672852" cy="128016"/>
          </a:xfrm>
          <a:prstGeom prst="roundRect">
            <a:avLst>
              <a:gd name="adj" fmla="val 29762"/>
            </a:avLst>
          </a:prstGeom>
          <a:solidFill>
            <a:srgbClr val="10B981">
              <a:alpha val="18000"/>
            </a:srgbClr>
          </a:solidFill>
          <a:ln/>
        </p:spPr>
        <p:txBody>
          <a:bodyPr wrap="square" rtlCol="0" anchor="ctr"/>
          <a:lstStyle/>
          <a:p>
            <a:pPr indent="0" marL="0">
              <a:buNone/>
            </a:pPr>
            <a:endParaRPr lang="en-US" dirty="0"/>
          </a:p>
        </p:txBody>
      </p:sp>
      <p:sp>
        <p:nvSpPr>
          <p:cNvPr id="35" name="Text 31"/>
          <p:cNvSpPr/>
          <p:nvPr/>
        </p:nvSpPr>
        <p:spPr>
          <a:xfrm>
            <a:off x="4564614" y="1586471"/>
            <a:ext cx="961095" cy="114300"/>
          </a:xfrm>
          <a:prstGeom prst="rect">
            <a:avLst/>
          </a:prstGeom>
          <a:noFill/>
          <a:ln/>
        </p:spPr>
        <p:txBody>
          <a:bodyPr wrap="square" lIns="0" tIns="0" rIns="0" bIns="0" rtlCol="0" anchor="ctr"/>
          <a:lstStyle/>
          <a:p>
            <a:pPr algn="ctr" indent="0" marL="0">
              <a:lnSpc>
                <a:spcPts val="915"/>
              </a:lnSpc>
              <a:buNone/>
            </a:pPr>
            <a:r>
              <a:rPr lang="en-US" sz="800" dirty="0">
                <a:solidFill>
                  <a:srgbClr val="6EE7B7"/>
                </a:solidFill>
                <a:latin typeface="Courier New" pitchFamily="34" charset="0"/>
                <a:ea typeface="Courier New" pitchFamily="34" charset="-122"/>
                <a:cs typeface="Courier New" pitchFamily="34" charset="-120"/>
              </a:rPr>
              <a:t>HONEYPOT TRAP</a:t>
            </a:r>
            <a:endParaRPr lang="en-US" sz="800" dirty="0"/>
          </a:p>
        </p:txBody>
      </p:sp>
      <p:sp>
        <p:nvSpPr>
          <p:cNvPr id="36" name="Text 32"/>
          <p:cNvSpPr/>
          <p:nvPr/>
        </p:nvSpPr>
        <p:spPr>
          <a:xfrm>
            <a:off x="5461843" y="1593614"/>
            <a:ext cx="2006929" cy="128016"/>
          </a:xfrm>
          <a:prstGeom prst="rect">
            <a:avLst/>
          </a:prstGeom>
          <a:noFill/>
          <a:ln/>
        </p:spPr>
        <p:txBody>
          <a:bodyPr wrap="square" lIns="0" tIns="0" rIns="0" bIns="0" rtlCol="0" anchor="t"/>
          <a:lstStyle/>
          <a:p>
            <a:pPr algn="l" indent="0" marL="0">
              <a:lnSpc>
                <a:spcPts val="1046"/>
              </a:lnSpc>
              <a:buNone/>
            </a:pPr>
            <a:r>
              <a:rPr lang="en-US" sz="675" dirty="0">
                <a:solidFill>
                  <a:srgbClr val="C4C0D8"/>
                </a:solidFill>
                <a:latin typeface="Courier New" pitchFamily="34" charset="0"/>
                <a:ea typeface="Courier New" pitchFamily="34" charset="-122"/>
                <a:cs typeface="Courier New" pitchFamily="34" charset="-120"/>
              </a:rPr>
              <a:t>ip=</a:t>
            </a:r>
            <a:pPr algn="l" indent="0" marL="0">
              <a:lnSpc>
                <a:spcPts val="1046"/>
              </a:lnSpc>
              <a:buNone/>
            </a:pPr>
            <a:r>
              <a:rPr lang="en-US" sz="675" dirty="0">
                <a:solidFill>
                  <a:srgbClr val="93C5FD"/>
                </a:solidFill>
                <a:latin typeface="Liberation Sans Narrow" pitchFamily="34" charset="0"/>
                <a:ea typeface="Liberation Sans Narrow" pitchFamily="34" charset="-122"/>
                <a:cs typeface="Liberation Sans Narrow" pitchFamily="34" charset="-120"/>
              </a:rPr>
              <a:t>203.0.113.9</a:t>
            </a:r>
            <a:pPr algn="l" indent="0" marL="0">
              <a:lnSpc>
                <a:spcPts val="1046"/>
              </a:lnSpc>
              <a:buNone/>
            </a:pPr>
            <a:r>
              <a:rPr lang="en-US" sz="675" dirty="0">
                <a:solidFill>
                  <a:srgbClr val="C4C0D8"/>
                </a:solidFill>
                <a:latin typeface="Courier New" pitchFamily="34" charset="0"/>
                <a:ea typeface="Courier New" pitchFamily="34" charset="-122"/>
                <a:cs typeface="Courier New" pitchFamily="34" charset="-120"/>
              </a:rPr>
              <a:t> served_fake=</a:t>
            </a:r>
            <a:pPr algn="l" indent="0" marL="0">
              <a:lnSpc>
                <a:spcPts val="1046"/>
              </a:lnSpc>
              <a:buNone/>
            </a:pPr>
            <a:r>
              <a:rPr lang="en-US" sz="675" dirty="0">
                <a:solidFill>
                  <a:srgbClr val="6EE7B7"/>
                </a:solidFill>
                <a:latin typeface="Courier New" pitchFamily="34" charset="0"/>
                <a:ea typeface="Courier New" pitchFamily="34" charset="-122"/>
                <a:cs typeface="Courier New" pitchFamily="34" charset="-120"/>
              </a:rPr>
              <a:t>Dev Raina</a:t>
            </a:r>
            <a:endParaRPr lang="en-US" sz="675" dirty="0"/>
          </a:p>
        </p:txBody>
      </p:sp>
      <p:sp>
        <p:nvSpPr>
          <p:cNvPr id="37" name="Text 33"/>
          <p:cNvSpPr/>
          <p:nvPr/>
        </p:nvSpPr>
        <p:spPr>
          <a:xfrm>
            <a:off x="4086775" y="1797881"/>
            <a:ext cx="697342" cy="128016"/>
          </a:xfrm>
          <a:prstGeom prst="rect">
            <a:avLst/>
          </a:prstGeom>
          <a:noFill/>
          <a:ln/>
        </p:spPr>
        <p:txBody>
          <a:bodyPr wrap="none" lIns="0" tIns="0" rIns="0" bIns="0" rtlCol="0" anchor="t"/>
          <a:lstStyle/>
          <a:p>
            <a:pPr algn="l" indent="0" marL="0">
              <a:lnSpc>
                <a:spcPts val="1046"/>
              </a:lnSpc>
              <a:buNone/>
            </a:pPr>
            <a:r>
              <a:rPr lang="en-US" sz="800" dirty="0">
                <a:solidFill>
                  <a:srgbClr val="6B6586"/>
                </a:solidFill>
                <a:latin typeface="Liberation Sans Narrow" pitchFamily="34" charset="0"/>
                <a:ea typeface="Liberation Sans Narrow" pitchFamily="34" charset="-122"/>
                <a:cs typeface="Liberation Sans Narrow" pitchFamily="34" charset="-120"/>
              </a:rPr>
              <a:t>[14:23:36]</a:t>
            </a:r>
            <a:endParaRPr lang="en-US" sz="800" dirty="0"/>
          </a:p>
        </p:txBody>
      </p:sp>
      <p:sp>
        <p:nvSpPr>
          <p:cNvPr id="38" name="Text 34"/>
          <p:cNvSpPr/>
          <p:nvPr/>
        </p:nvSpPr>
        <p:spPr>
          <a:xfrm>
            <a:off x="4708736" y="1783879"/>
            <a:ext cx="311534" cy="128016"/>
          </a:xfrm>
          <a:prstGeom prst="roundRect">
            <a:avLst>
              <a:gd name="adj" fmla="val 29762"/>
            </a:avLst>
          </a:prstGeom>
          <a:solidFill>
            <a:srgbClr val="F43F5E">
              <a:alpha val="15000"/>
            </a:srgbClr>
          </a:solidFill>
          <a:ln/>
        </p:spPr>
        <p:txBody>
          <a:bodyPr wrap="square" rtlCol="0" anchor="ctr"/>
          <a:lstStyle/>
          <a:p>
            <a:pPr indent="0" marL="0">
              <a:buNone/>
            </a:pPr>
            <a:endParaRPr lang="en-US" dirty="0"/>
          </a:p>
        </p:txBody>
      </p:sp>
      <p:sp>
        <p:nvSpPr>
          <p:cNvPr id="39" name="Text 35"/>
          <p:cNvSpPr/>
          <p:nvPr/>
        </p:nvSpPr>
        <p:spPr>
          <a:xfrm>
            <a:off x="4660897" y="1790737"/>
            <a:ext cx="407213" cy="114300"/>
          </a:xfrm>
          <a:prstGeom prst="rect">
            <a:avLst/>
          </a:prstGeom>
          <a:noFill/>
          <a:ln/>
        </p:spPr>
        <p:txBody>
          <a:bodyPr wrap="none" lIns="0" tIns="0" rIns="0" bIns="0" rtlCol="0" anchor="ctr"/>
          <a:lstStyle/>
          <a:p>
            <a:pPr algn="ctr" indent="0" marL="0">
              <a:lnSpc>
                <a:spcPts val="915"/>
              </a:lnSpc>
              <a:buNone/>
            </a:pPr>
            <a:r>
              <a:rPr lang="en-US" sz="800" dirty="0">
                <a:solidFill>
                  <a:srgbClr val="F9A8D4"/>
                </a:solidFill>
                <a:latin typeface="Courier New" pitchFamily="34" charset="0"/>
                <a:ea typeface="Courier New" pitchFamily="34" charset="-122"/>
                <a:cs typeface="Courier New" pitchFamily="34" charset="-120"/>
              </a:rPr>
              <a:t>BLOCK</a:t>
            </a:r>
            <a:endParaRPr lang="en-US" sz="800" dirty="0"/>
          </a:p>
        </p:txBody>
      </p:sp>
      <p:sp>
        <p:nvSpPr>
          <p:cNvPr id="40" name="Text 36"/>
          <p:cNvSpPr/>
          <p:nvPr/>
        </p:nvSpPr>
        <p:spPr>
          <a:xfrm>
            <a:off x="5100526" y="1797881"/>
            <a:ext cx="2234168" cy="91440"/>
          </a:xfrm>
          <a:prstGeom prst="rect">
            <a:avLst/>
          </a:prstGeom>
          <a:noFill/>
          <a:ln/>
        </p:spPr>
        <p:txBody>
          <a:bodyPr wrap="square" lIns="0" tIns="0" rIns="0" bIns="0" rtlCol="0" anchor="t">
            <a:normAutofit/>
          </a:bodyPr>
          <a:lstStyle/>
          <a:p>
            <a:pPr algn="l" indent="0" marL="0">
              <a:lnSpc>
                <a:spcPts val="1046"/>
              </a:lnSpc>
              <a:buNone/>
            </a:pPr>
            <a:r>
              <a:rPr lang="en-US" sz="675" dirty="0">
                <a:solidFill>
                  <a:srgbClr val="C4C0D8"/>
                </a:solidFill>
                <a:latin typeface="Courier New" pitchFamily="34" charset="0"/>
                <a:ea typeface="Courier New" pitchFamily="34" charset="-122"/>
                <a:cs typeface="Courier New" pitchFamily="34" charset="-120"/>
              </a:rPr>
              <a:t>XSS score=</a:t>
            </a:r>
            <a:pPr algn="l" indent="0" marL="0">
              <a:lnSpc>
                <a:spcPts val="1046"/>
              </a:lnSpc>
              <a:buNone/>
            </a:pPr>
            <a:r>
              <a:rPr lang="en-US" sz="675" dirty="0">
                <a:solidFill>
                  <a:srgbClr val="FBBF24"/>
                </a:solidFill>
                <a:latin typeface="Liberation Sans Narrow" pitchFamily="34" charset="0"/>
                <a:ea typeface="Liberation Sans Narrow" pitchFamily="34" charset="-122"/>
                <a:cs typeface="Liberation Sans Narrow" pitchFamily="34" charset="-120"/>
              </a:rPr>
              <a:t>6</a:t>
            </a:r>
            <a:pPr algn="l" indent="0" marL="0">
              <a:lnSpc>
                <a:spcPts val="1046"/>
              </a:lnSpc>
              <a:buNone/>
            </a:pPr>
            <a:r>
              <a:rPr lang="en-US" sz="675" dirty="0">
                <a:solidFill>
                  <a:srgbClr val="C4C0D8"/>
                </a:solidFill>
                <a:latin typeface="Liberation Sans Narrow" pitchFamily="34" charset="0"/>
                <a:ea typeface="Liberation Sans Narrow" pitchFamily="34" charset="-122"/>
                <a:cs typeface="Liberation Sans Narrow" pitchFamily="34" charset="-120"/>
              </a:rPr>
              <a:t>/4 ip=</a:t>
            </a:r>
            <a:pPr algn="l" indent="0" marL="0">
              <a:lnSpc>
                <a:spcPts val="1046"/>
              </a:lnSpc>
              <a:buNone/>
            </a:pPr>
            <a:r>
              <a:rPr lang="en-US" sz="675" dirty="0">
                <a:solidFill>
                  <a:srgbClr val="93C5FD"/>
                </a:solidFill>
                <a:latin typeface="Liberation Sans Narrow" pitchFamily="34" charset="0"/>
                <a:ea typeface="Liberation Sans Narrow" pitchFamily="34" charset="-122"/>
                <a:cs typeface="Liberation Sans Narrow" pitchFamily="34" charset="-120"/>
              </a:rPr>
              <a:t>10.0.0.7</a:t>
            </a:r>
            <a:pPr algn="l" indent="0" marL="0">
              <a:lnSpc>
                <a:spcPts val="1046"/>
              </a:lnSpc>
              <a:buNone/>
            </a:pPr>
            <a:r>
              <a:rPr lang="en-US" sz="675" dirty="0">
                <a:solidFill>
                  <a:srgbClr val="C4C0D8"/>
                </a:solidFill>
                <a:latin typeface="Courier New" pitchFamily="34" charset="0"/>
                <a:ea typeface="Courier New" pitchFamily="34" charset="-122"/>
                <a:cs typeface="Courier New" pitchFamily="34" charset="-120"/>
              </a:rPr>
              <a:t> </a:t>
            </a:r>
            <a:pPr algn="l" indent="0" marL="0">
              <a:lnSpc>
                <a:spcPts val="1046"/>
              </a:lnSpc>
              <a:buNone/>
            </a:pPr>
            <a:r>
              <a:rPr lang="en-US" sz="675" dirty="0">
                <a:solidFill>
                  <a:srgbClr val="FBBF24"/>
                </a:solidFill>
                <a:latin typeface="Segoe UI Symbol" pitchFamily="34" charset="0"/>
                <a:ea typeface="Segoe UI Symbol" pitchFamily="34" charset="-122"/>
                <a:cs typeface="Segoe UI Symbol" pitchFamily="34" charset="-120"/>
              </a:rPr>
              <a:t>🇺🇸</a:t>
            </a:r>
            <a:pPr algn="l" indent="0" marL="0">
              <a:lnSpc>
                <a:spcPts val="1046"/>
              </a:lnSpc>
              <a:buNone/>
            </a:pPr>
            <a:r>
              <a:rPr lang="en-US" sz="675" dirty="0">
                <a:solidFill>
                  <a:srgbClr val="C4C0D8"/>
                </a:solidFill>
                <a:latin typeface="Courier New" pitchFamily="34" charset="0"/>
                <a:ea typeface="Courier New" pitchFamily="34" charset="-122"/>
                <a:cs typeface="Courier New" pitchFamily="34" charset="-120"/>
              </a:rPr>
              <a:t> Ashburn, US</a:t>
            </a:r>
            <a:endParaRPr lang="en-US" sz="675" dirty="0"/>
          </a:p>
        </p:txBody>
      </p:sp>
      <p:sp>
        <p:nvSpPr>
          <p:cNvPr id="41" name="Text 37"/>
          <p:cNvSpPr/>
          <p:nvPr/>
        </p:nvSpPr>
        <p:spPr>
          <a:xfrm>
            <a:off x="4112344" y="1916423"/>
            <a:ext cx="4431581" cy="170047"/>
          </a:xfrm>
          <a:prstGeom prst="rect">
            <a:avLst/>
          </a:prstGeom>
          <a:noFill/>
          <a:ln/>
        </p:spPr>
        <p:txBody>
          <a:bodyPr wrap="square" lIns="114300" tIns="0" rIns="0" bIns="0" rtlCol="0" anchor="t"/>
          <a:lstStyle/>
          <a:p>
            <a:pPr algn="l" indent="0" marL="0">
              <a:lnSpc>
                <a:spcPts val="959"/>
              </a:lnSpc>
              <a:buNone/>
            </a:pPr>
            <a:r>
              <a:rPr lang="en-US" sz="800" dirty="0">
                <a:solidFill>
                  <a:srgbClr val="8A87A0"/>
                </a:solidFill>
                <a:latin typeface="Courier New" pitchFamily="34" charset="0"/>
                <a:ea typeface="Courier New" pitchFamily="34" charset="-122"/>
                <a:cs typeface="Courier New" pitchFamily="34" charset="-120"/>
              </a:rPr>
              <a:t>— xss_script_tag (5pt) + xss_event_handler (1pt)</a:t>
            </a:r>
            <a:endParaRPr lang="en-US" sz="800" dirty="0"/>
          </a:p>
        </p:txBody>
      </p:sp>
      <p:sp>
        <p:nvSpPr>
          <p:cNvPr id="42" name="Text 38"/>
          <p:cNvSpPr/>
          <p:nvPr/>
        </p:nvSpPr>
        <p:spPr>
          <a:xfrm>
            <a:off x="4086775" y="2123926"/>
            <a:ext cx="697342" cy="128016"/>
          </a:xfrm>
          <a:prstGeom prst="rect">
            <a:avLst/>
          </a:prstGeom>
          <a:noFill/>
          <a:ln/>
        </p:spPr>
        <p:txBody>
          <a:bodyPr wrap="none" lIns="0" tIns="0" rIns="0" bIns="0" rtlCol="0" anchor="t"/>
          <a:lstStyle/>
          <a:p>
            <a:pPr algn="l" indent="0" marL="0">
              <a:lnSpc>
                <a:spcPts val="1046"/>
              </a:lnSpc>
              <a:buNone/>
            </a:pPr>
            <a:r>
              <a:rPr lang="en-US" sz="800" dirty="0">
                <a:solidFill>
                  <a:srgbClr val="6B6586"/>
                </a:solidFill>
                <a:latin typeface="Liberation Sans Narrow" pitchFamily="34" charset="0"/>
                <a:ea typeface="Liberation Sans Narrow" pitchFamily="34" charset="-122"/>
                <a:cs typeface="Liberation Sans Narrow" pitchFamily="34" charset="-120"/>
              </a:rPr>
              <a:t>[14:23:48]</a:t>
            </a:r>
            <a:endParaRPr lang="en-US" sz="800" dirty="0"/>
          </a:p>
        </p:txBody>
      </p:sp>
      <p:sp>
        <p:nvSpPr>
          <p:cNvPr id="43" name="Text 39"/>
          <p:cNvSpPr/>
          <p:nvPr/>
        </p:nvSpPr>
        <p:spPr>
          <a:xfrm>
            <a:off x="4708736" y="2109924"/>
            <a:ext cx="672852" cy="128016"/>
          </a:xfrm>
          <a:prstGeom prst="roundRect">
            <a:avLst>
              <a:gd name="adj" fmla="val 29762"/>
            </a:avLst>
          </a:prstGeom>
          <a:solidFill>
            <a:srgbClr val="10B981">
              <a:alpha val="18000"/>
            </a:srgbClr>
          </a:solidFill>
          <a:ln/>
        </p:spPr>
        <p:txBody>
          <a:bodyPr wrap="square" rtlCol="0" anchor="ctr"/>
          <a:lstStyle/>
          <a:p>
            <a:pPr indent="0" marL="0">
              <a:buNone/>
            </a:pPr>
            <a:endParaRPr lang="en-US" dirty="0"/>
          </a:p>
        </p:txBody>
      </p:sp>
      <p:sp>
        <p:nvSpPr>
          <p:cNvPr id="44" name="Text 40"/>
          <p:cNvSpPr/>
          <p:nvPr/>
        </p:nvSpPr>
        <p:spPr>
          <a:xfrm>
            <a:off x="4564614" y="2116782"/>
            <a:ext cx="961095" cy="114300"/>
          </a:xfrm>
          <a:prstGeom prst="rect">
            <a:avLst/>
          </a:prstGeom>
          <a:noFill/>
          <a:ln/>
        </p:spPr>
        <p:txBody>
          <a:bodyPr wrap="square" lIns="0" tIns="0" rIns="0" bIns="0" rtlCol="0" anchor="ctr"/>
          <a:lstStyle/>
          <a:p>
            <a:pPr algn="ctr" indent="0" marL="0">
              <a:lnSpc>
                <a:spcPts val="915"/>
              </a:lnSpc>
              <a:buNone/>
            </a:pPr>
            <a:r>
              <a:rPr lang="en-US" sz="800" dirty="0">
                <a:solidFill>
                  <a:srgbClr val="6EE7B7"/>
                </a:solidFill>
                <a:latin typeface="Courier New" pitchFamily="34" charset="0"/>
                <a:ea typeface="Courier New" pitchFamily="34" charset="-122"/>
                <a:cs typeface="Courier New" pitchFamily="34" charset="-120"/>
              </a:rPr>
              <a:t>HONEYPOT TRAP</a:t>
            </a:r>
            <a:endParaRPr lang="en-US" sz="800" dirty="0"/>
          </a:p>
        </p:txBody>
      </p:sp>
      <p:sp>
        <p:nvSpPr>
          <p:cNvPr id="45" name="Text 41"/>
          <p:cNvSpPr/>
          <p:nvPr/>
        </p:nvSpPr>
        <p:spPr>
          <a:xfrm>
            <a:off x="5461843" y="2123926"/>
            <a:ext cx="2341337" cy="128016"/>
          </a:xfrm>
          <a:prstGeom prst="rect">
            <a:avLst/>
          </a:prstGeom>
          <a:noFill/>
          <a:ln/>
        </p:spPr>
        <p:txBody>
          <a:bodyPr wrap="square" lIns="0" tIns="0" rIns="0" bIns="0" rtlCol="0" anchor="t"/>
          <a:lstStyle/>
          <a:p>
            <a:pPr algn="l" indent="0" marL="0">
              <a:lnSpc>
                <a:spcPts val="1046"/>
              </a:lnSpc>
              <a:buNone/>
            </a:pPr>
            <a:r>
              <a:rPr lang="en-US" sz="675" dirty="0">
                <a:solidFill>
                  <a:srgbClr val="C4C0D8"/>
                </a:solidFill>
                <a:latin typeface="Courier New" pitchFamily="34" charset="0"/>
                <a:ea typeface="Courier New" pitchFamily="34" charset="-122"/>
                <a:cs typeface="Courier New" pitchFamily="34" charset="-120"/>
              </a:rPr>
              <a:t>ip=</a:t>
            </a:r>
            <a:pPr algn="l" indent="0" marL="0">
              <a:lnSpc>
                <a:spcPts val="1046"/>
              </a:lnSpc>
              <a:buNone/>
            </a:pPr>
            <a:r>
              <a:rPr lang="en-US" sz="675" dirty="0">
                <a:solidFill>
                  <a:srgbClr val="93C5FD"/>
                </a:solidFill>
                <a:latin typeface="Liberation Sans Narrow" pitchFamily="34" charset="0"/>
                <a:ea typeface="Liberation Sans Narrow" pitchFamily="34" charset="-122"/>
                <a:cs typeface="Liberation Sans Narrow" pitchFamily="34" charset="-120"/>
              </a:rPr>
              <a:t>203.0.113.9</a:t>
            </a:r>
            <a:pPr algn="l" indent="0" marL="0">
              <a:lnSpc>
                <a:spcPts val="1046"/>
              </a:lnSpc>
              <a:buNone/>
            </a:pPr>
            <a:r>
              <a:rPr lang="en-US" sz="675" dirty="0">
                <a:solidFill>
                  <a:srgbClr val="C4C0D8"/>
                </a:solidFill>
                <a:latin typeface="Courier New" pitchFamily="34" charset="0"/>
                <a:ea typeface="Courier New" pitchFamily="34" charset="-122"/>
                <a:cs typeface="Courier New" pitchFamily="34" charset="-120"/>
              </a:rPr>
              <a:t> clicked "/courses" (logged)</a:t>
            </a:r>
            <a:endParaRPr lang="en-US" sz="675" dirty="0"/>
          </a:p>
        </p:txBody>
      </p:sp>
      <p:sp>
        <p:nvSpPr>
          <p:cNvPr id="46" name="Shape 42"/>
          <p:cNvSpPr/>
          <p:nvPr/>
        </p:nvSpPr>
        <p:spPr>
          <a:xfrm>
            <a:off x="4112344" y="4218384"/>
            <a:ext cx="4431581" cy="0"/>
          </a:xfrm>
          <a:prstGeom prst="line">
            <a:avLst/>
          </a:prstGeom>
          <a:noFill/>
          <a:ln w="7144">
            <a:solidFill>
              <a:srgbClr val="FFFFFF"/>
            </a:solidFill>
            <a:prstDash val="solid"/>
          </a:ln>
        </p:spPr>
      </p:sp>
      <p:sp>
        <p:nvSpPr>
          <p:cNvPr id="47" name="Text 43"/>
          <p:cNvSpPr/>
          <p:nvPr/>
        </p:nvSpPr>
        <p:spPr>
          <a:xfrm>
            <a:off x="4112344" y="4307681"/>
            <a:ext cx="3739865" cy="112514"/>
          </a:xfrm>
          <a:prstGeom prst="rect">
            <a:avLst/>
          </a:prstGeom>
          <a:noFill/>
          <a:ln/>
        </p:spPr>
        <p:txBody>
          <a:bodyPr wrap="none" lIns="0" tIns="0" rIns="0" bIns="0" rtlCol="0" anchor="t"/>
          <a:lstStyle/>
          <a:p>
            <a:pPr algn="l" indent="0" marL="0">
              <a:lnSpc>
                <a:spcPts val="886"/>
              </a:lnSpc>
              <a:buNone/>
            </a:pPr>
            <a:r>
              <a:rPr lang="en-US" sz="800" dirty="0">
                <a:solidFill>
                  <a:srgbClr val="64748B"/>
                </a:solidFill>
                <a:latin typeface="Liberation Sans Narrow" pitchFamily="34" charset="0"/>
                <a:ea typeface="Liberation Sans Narrow" pitchFamily="34" charset="-122"/>
                <a:cs typeface="Liberation Sans Narrow" pitchFamily="34" charset="-120"/>
              </a:rPr>
              <a:t>events cached: 487 / 500</a:t>
            </a:r>
            <a:endParaRPr lang="en-US" sz="800" dirty="0"/>
          </a:p>
        </p:txBody>
      </p:sp>
      <p:sp>
        <p:nvSpPr>
          <p:cNvPr id="48" name="Text 44"/>
          <p:cNvSpPr/>
          <p:nvPr/>
        </p:nvSpPr>
        <p:spPr>
          <a:xfrm>
            <a:off x="7866497" y="4307681"/>
            <a:ext cx="677428" cy="112514"/>
          </a:xfrm>
          <a:prstGeom prst="rect">
            <a:avLst/>
          </a:prstGeom>
          <a:noFill/>
          <a:ln/>
        </p:spPr>
        <p:txBody>
          <a:bodyPr wrap="none" lIns="0" tIns="0" rIns="0" bIns="0" rtlCol="0" anchor="t"/>
          <a:lstStyle/>
          <a:p>
            <a:pPr algn="l" indent="0" marL="0">
              <a:lnSpc>
                <a:spcPts val="886"/>
              </a:lnSpc>
              <a:buNone/>
            </a:pPr>
            <a:r>
              <a:rPr lang="en-US" sz="600" dirty="0">
                <a:solidFill>
                  <a:srgbClr val="64748B"/>
                </a:solidFill>
                <a:latin typeface="Liberation Sans Narrow" pitchFamily="34" charset="0"/>
                <a:ea typeface="Liberation Sans Narrow" pitchFamily="34" charset="-122"/>
                <a:cs typeface="Liberation Sans Narrow" pitchFamily="34" charset="-120"/>
              </a:rPr>
              <a:t>uptime 00:14:22</a:t>
            </a:r>
            <a:endParaRPr lang="en-US" sz="600" dirty="0"/>
          </a:p>
        </p:txBody>
      </p:sp>
      <p:sp>
        <p:nvSpPr>
          <p:cNvPr id="49" name="Text 45"/>
          <p:cNvSpPr/>
          <p:nvPr/>
        </p:nvSpPr>
        <p:spPr>
          <a:xfrm>
            <a:off x="3780776" y="4620220"/>
            <a:ext cx="5094717" cy="164592"/>
          </a:xfrm>
          <a:prstGeom prst="rect">
            <a:avLst/>
          </a:prstGeom>
          <a:noFill/>
          <a:ln/>
        </p:spPr>
        <p:txBody>
          <a:bodyPr wrap="square" lIns="0" tIns="0" rIns="0" bIns="0" rtlCol="0" anchor="t"/>
          <a:lstStyle/>
          <a:p>
            <a:pPr algn="ctr" indent="0" marL="0">
              <a:lnSpc>
                <a:spcPts val="970"/>
              </a:lnSpc>
              <a:buNone/>
            </a:pPr>
            <a:r>
              <a:rPr lang="en-US" sz="800" dirty="0">
                <a:solidFill>
                  <a:srgbClr val="94A3B8"/>
                </a:solidFill>
                <a:latin typeface="Segoe UI Symbol" pitchFamily="34" charset="0"/>
                <a:ea typeface="Segoe UI Symbol" pitchFamily="34" charset="-122"/>
                <a:cs typeface="Segoe UI Symbol" pitchFamily="34" charset="-120"/>
              </a:rPr>
              <a:t>▣</a:t>
            </a:r>
            <a:pPr algn="ctr" indent="0" marL="0">
              <a:lnSpc>
                <a:spcPts val="970"/>
              </a:lnSpc>
              <a:buNone/>
            </a:pPr>
            <a:r>
              <a:rPr lang="en-US" sz="800" dirty="0">
                <a:solidFill>
                  <a:srgbClr val="94A3B8"/>
                </a:solidFill>
                <a:latin typeface="Carlito" pitchFamily="34" charset="0"/>
                <a:ea typeface="Carlito" pitchFamily="34" charset="-122"/>
                <a:cs typeface="Carlito" pitchFamily="34" charset="-120"/>
              </a:rPr>
              <a:t> Dark feed panel · real Socket.io events</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0" b="0"/>
          <a:stretch/>
        </p:blipFill>
        <p:spPr>
          <a:xfrm>
            <a:off x="0" y="0"/>
            <a:ext cx="9144000" cy="5143500"/>
          </a:xfrm>
          <a:prstGeom prst="rect">
            <a:avLst/>
          </a:prstGeom>
        </p:spPr>
      </p:pic>
      <p:pic>
        <p:nvPicPr>
          <p:cNvPr id="3" name="Image 1" descr="preencoded.png">    </p:cNvPr>
          <p:cNvPicPr>
            <a:picLocks noChangeAspect="1"/>
          </p:cNvPicPr>
          <p:nvPr/>
        </p:nvPicPr>
        <p:blipFill>
          <a:blip r:embed="rId2"/>
          <a:stretch>
            <a:fillRect/>
          </a:stretch>
        </p:blipFill>
        <p:spPr>
          <a:xfrm>
            <a:off x="0" y="0"/>
            <a:ext cx="9144000" cy="5143500"/>
          </a:xfrm>
          <a:prstGeom prst="rect">
            <a:avLst/>
          </a:prstGeom>
        </p:spPr>
      </p:pic>
      <p:sp>
        <p:nvSpPr>
          <p:cNvPr id="4" name="Text 0"/>
          <p:cNvSpPr/>
          <p:nvPr/>
        </p:nvSpPr>
        <p:spPr>
          <a:xfrm>
            <a:off x="434340" y="391335"/>
            <a:ext cx="1513537" cy="196025"/>
          </a:xfrm>
          <a:prstGeom prst="roundRect">
            <a:avLst>
              <a:gd name="adj" fmla="val 4854215"/>
            </a:avLst>
          </a:prstGeom>
          <a:solidFill>
            <a:srgbClr val="EDE9FE"/>
          </a:solidFill>
          <a:ln/>
        </p:spPr>
        <p:txBody>
          <a:bodyPr wrap="square" rtlCol="0" anchor="ctr"/>
          <a:lstStyle/>
          <a:p>
            <a:pPr indent="0" marL="0">
              <a:buNone/>
            </a:pPr>
            <a:endParaRPr lang="en-US" dirty="0"/>
          </a:p>
        </p:txBody>
      </p:sp>
      <p:sp>
        <p:nvSpPr>
          <p:cNvPr id="5" name="Text 1"/>
          <p:cNvSpPr/>
          <p:nvPr/>
        </p:nvSpPr>
        <p:spPr>
          <a:xfrm>
            <a:off x="678656" y="437555"/>
            <a:ext cx="1160636" cy="129679"/>
          </a:xfrm>
          <a:prstGeom prst="rect">
            <a:avLst/>
          </a:prstGeom>
          <a:noFill/>
          <a:ln/>
        </p:spPr>
        <p:txBody>
          <a:bodyPr wrap="none" lIns="0" tIns="0" rIns="0" bIns="0" rtlCol="0" anchor="t"/>
          <a:lstStyle/>
          <a:p>
            <a:pPr algn="l" indent="0" marL="0">
              <a:lnSpc>
                <a:spcPts val="928"/>
              </a:lnSpc>
              <a:buNone/>
            </a:pPr>
            <a:r>
              <a:rPr lang="en-US" sz="619" spc="25" kern="0" dirty="0">
                <a:solidFill>
                  <a:srgbClr val="7C3AED"/>
                </a:solidFill>
                <a:latin typeface="Liberation Sans Narrow" pitchFamily="34" charset="0"/>
                <a:ea typeface="Liberation Sans Narrow" pitchFamily="34" charset="-122"/>
                <a:cs typeface="Liberation Sans Narrow" pitchFamily="34" charset="-120"/>
              </a:rPr>
              <a:t>PHASE 5 · ANTI-EVASION</a:t>
            </a:r>
            <a:endParaRPr lang="en-US" sz="619" dirty="0"/>
          </a:p>
        </p:txBody>
      </p:sp>
      <p:sp>
        <p:nvSpPr>
          <p:cNvPr id="6" name="Text 2"/>
          <p:cNvSpPr/>
          <p:nvPr/>
        </p:nvSpPr>
        <p:spPr>
          <a:xfrm>
            <a:off x="542925" y="442913"/>
            <a:ext cx="92869" cy="92869"/>
          </a:xfrm>
          <a:prstGeom prst="rect">
            <a:avLst/>
          </a:prstGeom>
          <a:noFill/>
          <a:ln/>
        </p:spPr>
        <p:txBody>
          <a:bodyPr wrap="none" lIns="0" tIns="0" rIns="0" bIns="0" rtlCol="0" anchor="ctr"/>
          <a:lstStyle/>
          <a:p>
            <a:pPr algn="ctr" indent="0" marL="0">
              <a:buNone/>
            </a:pPr>
            <a:r>
              <a:rPr lang="en-US" sz="914" dirty="0">
                <a:solidFill>
                  <a:srgbClr val="7C3AED"/>
                </a:solidFill>
                <a:latin typeface="Segoe UI Symbol" pitchFamily="34" charset="0"/>
                <a:ea typeface="Segoe UI Symbol" pitchFamily="34" charset="-122"/>
                <a:cs typeface="Segoe UI Symbol" pitchFamily="34" charset="-120"/>
              </a:rPr>
              <a:t>✦</a:t>
            </a:r>
            <a:endParaRPr lang="en-US" sz="914" dirty="0"/>
          </a:p>
        </p:txBody>
      </p:sp>
      <p:sp>
        <p:nvSpPr>
          <p:cNvPr id="7" name="Text 3"/>
          <p:cNvSpPr/>
          <p:nvPr/>
        </p:nvSpPr>
        <p:spPr>
          <a:xfrm>
            <a:off x="457200" y="662583"/>
            <a:ext cx="3355263" cy="344043"/>
          </a:xfrm>
          <a:prstGeom prst="rect">
            <a:avLst/>
          </a:prstGeom>
          <a:noFill/>
          <a:ln/>
        </p:spPr>
        <p:txBody>
          <a:bodyPr wrap="none" lIns="0" tIns="0" rIns="0" bIns="0" rtlCol="0" anchor="t">
            <a:normAutofit/>
          </a:bodyPr>
          <a:lstStyle/>
          <a:p>
            <a:pPr algn="l" indent="0" marL="0">
              <a:lnSpc>
                <a:spcPts val="2700"/>
              </a:lnSpc>
              <a:buNone/>
            </a:pPr>
            <a:r>
              <a:rPr lang="en-US" sz="1800" b="1" spc="-18" kern="0" dirty="0">
                <a:solidFill>
                  <a:srgbClr val="7C3AED"/>
                </a:solidFill>
                <a:latin typeface="Liberation Sans Narrow" pitchFamily="34" charset="0"/>
                <a:ea typeface="Liberation Sans Narrow" pitchFamily="34" charset="-122"/>
                <a:cs typeface="Liberation Sans Narrow" pitchFamily="34" charset="-120"/>
              </a:rPr>
              <a:t>Anti-Evasion — Phase 5</a:t>
            </a:r>
            <a:endParaRPr lang="en-US" sz="1800" dirty="0"/>
          </a:p>
        </p:txBody>
      </p:sp>
      <p:sp>
        <p:nvSpPr>
          <p:cNvPr id="8" name="Text 4"/>
          <p:cNvSpPr/>
          <p:nvPr/>
        </p:nvSpPr>
        <p:spPr>
          <a:xfrm>
            <a:off x="457200" y="1034058"/>
            <a:ext cx="3195489" cy="164592"/>
          </a:xfrm>
          <a:prstGeom prst="rect">
            <a:avLst/>
          </a:prstGeom>
          <a:noFill/>
          <a:ln/>
        </p:spPr>
        <p:txBody>
          <a:bodyPr wrap="square" lIns="0" tIns="0" rIns="0" bIns="0" rtlCol="0" anchor="t"/>
          <a:lstStyle/>
          <a:p>
            <a:pPr algn="l" indent="0" marL="0">
              <a:lnSpc>
                <a:spcPts val="1181"/>
              </a:lnSpc>
              <a:buNone/>
            </a:pPr>
            <a:r>
              <a:rPr lang="en-US" sz="788" dirty="0">
                <a:solidFill>
                  <a:srgbClr val="64748B"/>
                </a:solidFill>
                <a:latin typeface="Carlito" pitchFamily="34" charset="0"/>
                <a:ea typeface="Carlito" pitchFamily="34" charset="-122"/>
                <a:cs typeface="Carlito" pitchFamily="34" charset="-120"/>
              </a:rPr>
              <a:t>Multi-layer de-obfuscation catches what single-pass WAFs miss.</a:t>
            </a:r>
            <a:endParaRPr lang="en-US" sz="788" dirty="0"/>
          </a:p>
        </p:txBody>
      </p:sp>
      <p:sp>
        <p:nvSpPr>
          <p:cNvPr id="9" name="Text 5"/>
          <p:cNvSpPr/>
          <p:nvPr/>
        </p:nvSpPr>
        <p:spPr>
          <a:xfrm>
            <a:off x="7219077" y="428625"/>
            <a:ext cx="1467723" cy="104727"/>
          </a:xfrm>
          <a:prstGeom prst="rect">
            <a:avLst/>
          </a:prstGeom>
          <a:noFill/>
          <a:ln/>
        </p:spPr>
        <p:txBody>
          <a:bodyPr wrap="none" lIns="0" tIns="0" rIns="0" bIns="0" rtlCol="0" anchor="t">
            <a:normAutofit/>
          </a:bodyPr>
          <a:lstStyle/>
          <a:p>
            <a:pPr algn="r" indent="0" marL="0">
              <a:lnSpc>
                <a:spcPts val="928"/>
              </a:lnSpc>
              <a:buNone/>
            </a:pPr>
            <a:r>
              <a:rPr lang="en-US" sz="800" dirty="0">
                <a:solidFill>
                  <a:srgbClr val="94A3B8"/>
                </a:solidFill>
                <a:latin typeface="Courier New" pitchFamily="34" charset="0"/>
                <a:ea typeface="Courier New" pitchFamily="34" charset="-122"/>
                <a:cs typeface="Courier New" pitchFamily="34" charset="-120"/>
              </a:rPr>
              <a:t>PIPELINE STAGES</a:t>
            </a:r>
            <a:endParaRPr lang="en-US" sz="800" dirty="0"/>
          </a:p>
        </p:txBody>
      </p:sp>
      <p:sp>
        <p:nvSpPr>
          <p:cNvPr id="10" name="Text 6"/>
          <p:cNvSpPr/>
          <p:nvPr/>
        </p:nvSpPr>
        <p:spPr>
          <a:xfrm>
            <a:off x="7219077" y="560784"/>
            <a:ext cx="1467723" cy="164592"/>
          </a:xfrm>
          <a:prstGeom prst="rect">
            <a:avLst/>
          </a:prstGeom>
          <a:noFill/>
          <a:ln/>
        </p:spPr>
        <p:txBody>
          <a:bodyPr wrap="none" lIns="0" tIns="0" rIns="0" bIns="0" rtlCol="0" anchor="t"/>
          <a:lstStyle/>
          <a:p>
            <a:pPr algn="r" indent="0" marL="0">
              <a:lnSpc>
                <a:spcPts val="1097"/>
              </a:lnSpc>
              <a:buNone/>
            </a:pPr>
            <a:r>
              <a:rPr lang="en-US" sz="800" dirty="0">
                <a:solidFill>
                  <a:srgbClr val="7C3AED"/>
                </a:solidFill>
                <a:latin typeface="Liberation Sans Narrow" pitchFamily="34" charset="0"/>
                <a:ea typeface="Liberation Sans Narrow" pitchFamily="34" charset="-122"/>
                <a:cs typeface="Liberation Sans Narrow" pitchFamily="34" charset="-120"/>
              </a:rPr>
              <a:t>5 normalizers → 50+ regex</a:t>
            </a:r>
            <a:endParaRPr lang="en-US" sz="800" dirty="0"/>
          </a:p>
        </p:txBody>
      </p:sp>
      <p:sp>
        <p:nvSpPr>
          <p:cNvPr id="11" name="Text 7"/>
          <p:cNvSpPr/>
          <p:nvPr/>
        </p:nvSpPr>
        <p:spPr>
          <a:xfrm>
            <a:off x="460772" y="1359098"/>
            <a:ext cx="8222456" cy="2091333"/>
          </a:xfrm>
          <a:prstGeom prst="roundRect">
            <a:avLst>
              <a:gd name="adj" fmla="val 7287"/>
            </a:avLst>
          </a:prstGeom>
          <a:solidFill>
            <a:srgbClr val="FFFFFF"/>
          </a:solidFill>
          <a:ln w="7144">
            <a:solidFill>
              <a:srgbClr val="7C3AED"/>
            </a:solidFill>
            <a:prstDash val="solid"/>
          </a:ln>
          <a:effectLst>
            <a:outerShdw sx="100000" sy="100000" kx="0" ky="0" algn="bl" rotWithShape="0" blurRad="114300" dist="19050" dir="5400000">
              <a:srgbClr val="7C3AED">
                <a:alpha val="6000"/>
              </a:srgbClr>
            </a:outerShdw>
          </a:effectLst>
        </p:spPr>
        <p:txBody>
          <a:bodyPr wrap="square" rtlCol="0" anchor="ctr"/>
          <a:lstStyle/>
          <a:p>
            <a:pPr indent="0" marL="0">
              <a:buNone/>
            </a:pPr>
            <a:endParaRPr lang="en-US" dirty="0"/>
          </a:p>
        </p:txBody>
      </p:sp>
      <p:sp>
        <p:nvSpPr>
          <p:cNvPr id="12" name="Text 8"/>
          <p:cNvSpPr/>
          <p:nvPr/>
        </p:nvSpPr>
        <p:spPr>
          <a:xfrm>
            <a:off x="464344" y="1362670"/>
            <a:ext cx="4107656" cy="467916"/>
          </a:xfrm>
          <a:prstGeom prst="rect">
            <a:avLst/>
          </a:prstGeom>
          <a:solidFill>
            <a:srgbClr val="FFF1F2"/>
          </a:solidFill>
          <a:ln/>
        </p:spPr>
        <p:txBody>
          <a:bodyPr wrap="square" rtlCol="0" anchor="ctr"/>
          <a:lstStyle/>
          <a:p>
            <a:pPr indent="0" marL="0">
              <a:buNone/>
            </a:pPr>
            <a:endParaRPr lang="en-US" dirty="0"/>
          </a:p>
        </p:txBody>
      </p:sp>
      <p:sp>
        <p:nvSpPr>
          <p:cNvPr id="13" name="Shape 9"/>
          <p:cNvSpPr/>
          <p:nvPr/>
        </p:nvSpPr>
        <p:spPr>
          <a:xfrm>
            <a:off x="4568428" y="1362670"/>
            <a:ext cx="0" cy="467916"/>
          </a:xfrm>
          <a:prstGeom prst="line">
            <a:avLst/>
          </a:prstGeom>
          <a:noFill/>
          <a:ln w="7144">
            <a:solidFill>
              <a:srgbClr val="7C3AED"/>
            </a:solidFill>
            <a:prstDash val="solid"/>
          </a:ln>
        </p:spPr>
      </p:sp>
      <p:sp>
        <p:nvSpPr>
          <p:cNvPr id="14" name="Text 10"/>
          <p:cNvSpPr/>
          <p:nvPr/>
        </p:nvSpPr>
        <p:spPr>
          <a:xfrm>
            <a:off x="635794" y="1532334"/>
            <a:ext cx="128588" cy="128588"/>
          </a:xfrm>
          <a:prstGeom prst="rect">
            <a:avLst/>
          </a:prstGeom>
          <a:noFill/>
          <a:ln/>
        </p:spPr>
        <p:txBody>
          <a:bodyPr wrap="none" lIns="0" tIns="0" rIns="0" bIns="0" rtlCol="0" anchor="ctr"/>
          <a:lstStyle/>
          <a:p>
            <a:pPr algn="ctr" indent="0" marL="0">
              <a:buNone/>
            </a:pPr>
            <a:r>
              <a:rPr lang="en-US" sz="1266" dirty="0">
                <a:solidFill>
                  <a:srgbClr val="E11D48"/>
                </a:solidFill>
                <a:latin typeface="Segoe UI Symbol" pitchFamily="34" charset="0"/>
                <a:ea typeface="Segoe UI Symbol" pitchFamily="34" charset="-122"/>
                <a:cs typeface="Segoe UI Symbol" pitchFamily="34" charset="-120"/>
              </a:rPr>
              <a:t>✕</a:t>
            </a:r>
            <a:endParaRPr lang="en-US" sz="1266" dirty="0"/>
          </a:p>
        </p:txBody>
      </p:sp>
      <p:sp>
        <p:nvSpPr>
          <p:cNvPr id="15" name="Text 11"/>
          <p:cNvSpPr/>
          <p:nvPr/>
        </p:nvSpPr>
        <p:spPr>
          <a:xfrm>
            <a:off x="835819" y="1462683"/>
            <a:ext cx="1506427" cy="122587"/>
          </a:xfrm>
          <a:prstGeom prst="rect">
            <a:avLst/>
          </a:prstGeom>
          <a:noFill/>
          <a:ln/>
        </p:spPr>
        <p:txBody>
          <a:bodyPr wrap="none" lIns="0" tIns="0" rIns="0" bIns="0" rtlCol="0" anchor="t">
            <a:normAutofit/>
          </a:bodyPr>
          <a:lstStyle/>
          <a:p>
            <a:pPr algn="l" indent="0" marL="0">
              <a:lnSpc>
                <a:spcPts val="1181"/>
              </a:lnSpc>
              <a:buNone/>
            </a:pPr>
            <a:r>
              <a:rPr lang="en-US" sz="800" dirty="0">
                <a:solidFill>
                  <a:srgbClr val="9F1239"/>
                </a:solidFill>
                <a:latin typeface="Carlito" pitchFamily="34" charset="0"/>
                <a:ea typeface="Carlito" pitchFamily="34" charset="-122"/>
                <a:cs typeface="Carlito" pitchFamily="34" charset="-120"/>
              </a:rPr>
              <a:t>Naïve WAF (single-pass)</a:t>
            </a:r>
            <a:endParaRPr lang="en-US" sz="800" dirty="0"/>
          </a:p>
        </p:txBody>
      </p:sp>
      <p:sp>
        <p:nvSpPr>
          <p:cNvPr id="16" name="Text 12"/>
          <p:cNvSpPr/>
          <p:nvPr/>
        </p:nvSpPr>
        <p:spPr>
          <a:xfrm>
            <a:off x="835819" y="1612702"/>
            <a:ext cx="1506427" cy="117872"/>
          </a:xfrm>
          <a:prstGeom prst="rect">
            <a:avLst/>
          </a:prstGeom>
          <a:noFill/>
          <a:ln/>
        </p:spPr>
        <p:txBody>
          <a:bodyPr wrap="none" lIns="0" tIns="0" rIns="0" bIns="0" rtlCol="0" anchor="t"/>
          <a:lstStyle/>
          <a:p>
            <a:pPr algn="l" indent="0" marL="0">
              <a:lnSpc>
                <a:spcPts val="928"/>
              </a:lnSpc>
              <a:buNone/>
            </a:pPr>
            <a:r>
              <a:rPr lang="en-US" sz="800" dirty="0">
                <a:solidFill>
                  <a:srgbClr val="64748B"/>
                </a:solidFill>
                <a:latin typeface="Carlito" pitchFamily="34" charset="0"/>
                <a:ea typeface="Carlito" pitchFamily="34" charset="-122"/>
                <a:cs typeface="Carlito" pitchFamily="34" charset="-120"/>
              </a:rPr>
              <a:t>raw input → regex match</a:t>
            </a:r>
            <a:endParaRPr lang="en-US" sz="800" dirty="0"/>
          </a:p>
        </p:txBody>
      </p:sp>
      <p:sp>
        <p:nvSpPr>
          <p:cNvPr id="17" name="Text 13"/>
          <p:cNvSpPr/>
          <p:nvPr/>
        </p:nvSpPr>
        <p:spPr>
          <a:xfrm>
            <a:off x="4572000" y="1362670"/>
            <a:ext cx="4107656" cy="467916"/>
          </a:xfrm>
          <a:prstGeom prst="rect">
            <a:avLst/>
          </a:prstGeom>
          <a:solidFill>
            <a:srgbClr val="D1FAE5"/>
          </a:solidFill>
          <a:ln/>
        </p:spPr>
        <p:txBody>
          <a:bodyPr wrap="square" rtlCol="0" anchor="ctr"/>
          <a:lstStyle/>
          <a:p>
            <a:pPr indent="0" marL="0">
              <a:buNone/>
            </a:pPr>
            <a:endParaRPr lang="en-US" dirty="0"/>
          </a:p>
        </p:txBody>
      </p:sp>
      <p:sp>
        <p:nvSpPr>
          <p:cNvPr id="18" name="Text 14"/>
          <p:cNvSpPr/>
          <p:nvPr/>
        </p:nvSpPr>
        <p:spPr>
          <a:xfrm>
            <a:off x="4743450" y="1532334"/>
            <a:ext cx="128588" cy="128588"/>
          </a:xfrm>
          <a:prstGeom prst="rect">
            <a:avLst/>
          </a:prstGeom>
          <a:noFill/>
          <a:ln/>
        </p:spPr>
        <p:txBody>
          <a:bodyPr wrap="none" lIns="0" tIns="0" rIns="0" bIns="0" rtlCol="0" anchor="ctr"/>
          <a:lstStyle/>
          <a:p>
            <a:pPr algn="ctr" indent="0" marL="0">
              <a:buNone/>
            </a:pPr>
            <a:r>
              <a:rPr lang="en-US" sz="1266" dirty="0">
                <a:solidFill>
                  <a:srgbClr val="059669"/>
                </a:solidFill>
                <a:latin typeface="Segoe UI Symbol" pitchFamily="34" charset="0"/>
                <a:ea typeface="Segoe UI Symbol" pitchFamily="34" charset="-122"/>
                <a:cs typeface="Segoe UI Symbol" pitchFamily="34" charset="-120"/>
              </a:rPr>
              <a:t>✓</a:t>
            </a:r>
            <a:endParaRPr lang="en-US" sz="1266" dirty="0"/>
          </a:p>
        </p:txBody>
      </p:sp>
      <p:sp>
        <p:nvSpPr>
          <p:cNvPr id="19" name="Text 15"/>
          <p:cNvSpPr/>
          <p:nvPr/>
        </p:nvSpPr>
        <p:spPr>
          <a:xfrm>
            <a:off x="4943475" y="1462683"/>
            <a:ext cx="1537746" cy="122587"/>
          </a:xfrm>
          <a:prstGeom prst="rect">
            <a:avLst/>
          </a:prstGeom>
          <a:noFill/>
          <a:ln/>
        </p:spPr>
        <p:txBody>
          <a:bodyPr wrap="square" lIns="0" tIns="0" rIns="0" bIns="0" rtlCol="0" anchor="t">
            <a:normAutofit/>
          </a:bodyPr>
          <a:lstStyle/>
          <a:p>
            <a:pPr algn="l" indent="0" marL="0">
              <a:lnSpc>
                <a:spcPts val="1181"/>
              </a:lnSpc>
              <a:buNone/>
            </a:pPr>
            <a:r>
              <a:rPr lang="en-US" sz="800" dirty="0">
                <a:solidFill>
                  <a:srgbClr val="065F46"/>
                </a:solidFill>
                <a:latin typeface="Carlito" pitchFamily="34" charset="0"/>
                <a:ea typeface="Carlito" pitchFamily="34" charset="-122"/>
                <a:cs typeface="Carlito" pitchFamily="34" charset="-120"/>
              </a:rPr>
              <a:t>DeceptiWAF (multi-layer)</a:t>
            </a:r>
            <a:endParaRPr lang="en-US" sz="800" dirty="0"/>
          </a:p>
        </p:txBody>
      </p:sp>
      <p:sp>
        <p:nvSpPr>
          <p:cNvPr id="20" name="Text 16"/>
          <p:cNvSpPr/>
          <p:nvPr/>
        </p:nvSpPr>
        <p:spPr>
          <a:xfrm>
            <a:off x="4943475" y="1612702"/>
            <a:ext cx="1537746" cy="117872"/>
          </a:xfrm>
          <a:prstGeom prst="rect">
            <a:avLst/>
          </a:prstGeom>
          <a:noFill/>
          <a:ln/>
        </p:spPr>
        <p:txBody>
          <a:bodyPr wrap="square" lIns="0" tIns="0" rIns="0" bIns="0" rtlCol="0" anchor="t"/>
          <a:lstStyle/>
          <a:p>
            <a:pPr algn="l" indent="0" marL="0">
              <a:lnSpc>
                <a:spcPts val="928"/>
              </a:lnSpc>
              <a:buNone/>
            </a:pPr>
            <a:r>
              <a:rPr lang="en-US" sz="619" dirty="0">
                <a:solidFill>
                  <a:srgbClr val="64748B"/>
                </a:solidFill>
                <a:latin typeface="Liberation Sans Narrow" pitchFamily="34" charset="0"/>
                <a:ea typeface="Liberation Sans Narrow" pitchFamily="34" charset="-122"/>
                <a:cs typeface="Liberation Sans Narrow" pitchFamily="34" charset="-120"/>
              </a:rPr>
              <a:t>5-stage normalize → regex match</a:t>
            </a:r>
            <a:endParaRPr lang="en-US" sz="619" dirty="0"/>
          </a:p>
        </p:txBody>
      </p:sp>
      <p:sp>
        <p:nvSpPr>
          <p:cNvPr id="21" name="Shape 17"/>
          <p:cNvSpPr/>
          <p:nvPr/>
        </p:nvSpPr>
        <p:spPr>
          <a:xfrm>
            <a:off x="464344" y="1834158"/>
            <a:ext cx="8215313" cy="0"/>
          </a:xfrm>
          <a:prstGeom prst="line">
            <a:avLst/>
          </a:prstGeom>
          <a:noFill/>
          <a:ln w="7144">
            <a:solidFill>
              <a:srgbClr val="7C3AED"/>
            </a:solidFill>
            <a:prstDash val="solid"/>
          </a:ln>
        </p:spPr>
      </p:sp>
      <p:sp>
        <p:nvSpPr>
          <p:cNvPr id="22" name="Text 18"/>
          <p:cNvSpPr/>
          <p:nvPr/>
        </p:nvSpPr>
        <p:spPr>
          <a:xfrm>
            <a:off x="464344" y="1837730"/>
            <a:ext cx="4107656" cy="316111"/>
          </a:xfrm>
          <a:prstGeom prst="rect">
            <a:avLst/>
          </a:prstGeom>
          <a:solidFill>
            <a:srgbClr val="FFF1F2"/>
          </a:solidFill>
          <a:ln/>
        </p:spPr>
        <p:txBody>
          <a:bodyPr wrap="square" rtlCol="0" anchor="ctr"/>
          <a:lstStyle/>
          <a:p>
            <a:pPr indent="0" marL="0">
              <a:buNone/>
            </a:pPr>
            <a:endParaRPr lang="en-US" dirty="0"/>
          </a:p>
        </p:txBody>
      </p:sp>
      <p:sp>
        <p:nvSpPr>
          <p:cNvPr id="23" name="Shape 19"/>
          <p:cNvSpPr/>
          <p:nvPr/>
        </p:nvSpPr>
        <p:spPr>
          <a:xfrm>
            <a:off x="4568428" y="1837730"/>
            <a:ext cx="0" cy="316111"/>
          </a:xfrm>
          <a:prstGeom prst="line">
            <a:avLst/>
          </a:prstGeom>
          <a:noFill/>
          <a:ln w="7144">
            <a:solidFill>
              <a:srgbClr val="7C3AED"/>
            </a:solidFill>
            <a:prstDash val="solid"/>
          </a:ln>
        </p:spPr>
      </p:sp>
      <p:sp>
        <p:nvSpPr>
          <p:cNvPr id="24" name="Text 20"/>
          <p:cNvSpPr/>
          <p:nvPr/>
        </p:nvSpPr>
        <p:spPr>
          <a:xfrm>
            <a:off x="635794" y="1931491"/>
            <a:ext cx="128588" cy="128588"/>
          </a:xfrm>
          <a:prstGeom prst="rect">
            <a:avLst/>
          </a:prstGeom>
          <a:noFill/>
          <a:ln/>
        </p:spPr>
        <p:txBody>
          <a:bodyPr wrap="none" lIns="0" tIns="0" rIns="0" bIns="0" rtlCol="0" anchor="ctr"/>
          <a:lstStyle/>
          <a:p>
            <a:pPr algn="ctr" indent="0" marL="0">
              <a:buNone/>
            </a:pPr>
            <a:r>
              <a:rPr lang="en-US" sz="1266" dirty="0">
                <a:solidFill>
                  <a:srgbClr val="E11D48"/>
                </a:solidFill>
                <a:latin typeface="Segoe UI Symbol" pitchFamily="34" charset="0"/>
                <a:ea typeface="Segoe UI Symbol" pitchFamily="34" charset="-122"/>
                <a:cs typeface="Segoe UI Symbol" pitchFamily="34" charset="-120"/>
              </a:rPr>
              <a:t>✕</a:t>
            </a:r>
            <a:endParaRPr lang="en-US" sz="1266" dirty="0"/>
          </a:p>
        </p:txBody>
      </p:sp>
      <p:sp>
        <p:nvSpPr>
          <p:cNvPr id="25" name="Text 21"/>
          <p:cNvSpPr/>
          <p:nvPr/>
        </p:nvSpPr>
        <p:spPr>
          <a:xfrm>
            <a:off x="850106" y="1923455"/>
            <a:ext cx="594646" cy="144661"/>
          </a:xfrm>
          <a:prstGeom prst="rect">
            <a:avLst/>
          </a:prstGeom>
          <a:noFill/>
          <a:ln/>
        </p:spPr>
        <p:txBody>
          <a:bodyPr wrap="none" lIns="0" tIns="0" rIns="0" bIns="0" rtlCol="0" anchor="t"/>
          <a:lstStyle/>
          <a:p>
            <a:pPr algn="l" indent="0" marL="0">
              <a:lnSpc>
                <a:spcPts val="1139"/>
              </a:lnSpc>
              <a:buNone/>
            </a:pPr>
            <a:r>
              <a:rPr lang="en-US" sz="800" dirty="0">
                <a:solidFill>
                  <a:srgbClr val="9F1239"/>
                </a:solidFill>
                <a:latin typeface="Courier New" pitchFamily="34" charset="0"/>
                <a:ea typeface="Courier New" pitchFamily="34" charset="-122"/>
                <a:cs typeface="Courier New" pitchFamily="34" charset="-120"/>
              </a:rPr>
              <a:t>&lt;script&gt;</a:t>
            </a:r>
            <a:endParaRPr lang="en-US" sz="800" dirty="0"/>
          </a:p>
        </p:txBody>
      </p:sp>
      <p:sp>
        <p:nvSpPr>
          <p:cNvPr id="26" name="Text 22"/>
          <p:cNvSpPr/>
          <p:nvPr/>
        </p:nvSpPr>
        <p:spPr>
          <a:xfrm>
            <a:off x="1400398" y="1931491"/>
            <a:ext cx="2993008" cy="136624"/>
          </a:xfrm>
          <a:prstGeom prst="rect">
            <a:avLst/>
          </a:prstGeom>
          <a:noFill/>
          <a:ln/>
        </p:spPr>
        <p:txBody>
          <a:bodyPr wrap="square" lIns="0" tIns="0" rIns="0" bIns="0" rtlCol="0" anchor="t"/>
          <a:lstStyle/>
          <a:p>
            <a:pPr algn="l" indent="0" marL="0">
              <a:lnSpc>
                <a:spcPts val="1013"/>
              </a:lnSpc>
              <a:buNone/>
            </a:pPr>
            <a:r>
              <a:rPr lang="en-US" sz="800" dirty="0">
                <a:solidFill>
                  <a:srgbClr val="64748B"/>
                </a:solidFill>
                <a:latin typeface="Carlito" pitchFamily="34" charset="0"/>
                <a:ea typeface="Carlito" pitchFamily="34" charset="-122"/>
                <a:cs typeface="Carlito" pitchFamily="34" charset="-120"/>
              </a:rPr>
              <a:t>(HTML entities)</a:t>
            </a:r>
            <a:endParaRPr lang="en-US" sz="800" dirty="0"/>
          </a:p>
        </p:txBody>
      </p:sp>
      <p:sp>
        <p:nvSpPr>
          <p:cNvPr id="27" name="Text 23"/>
          <p:cNvSpPr/>
          <p:nvPr/>
        </p:nvSpPr>
        <p:spPr>
          <a:xfrm>
            <a:off x="4572000" y="1837730"/>
            <a:ext cx="4107656" cy="316111"/>
          </a:xfrm>
          <a:prstGeom prst="rect">
            <a:avLst/>
          </a:prstGeom>
          <a:solidFill>
            <a:srgbClr val="ECFDF5"/>
          </a:solidFill>
          <a:ln/>
        </p:spPr>
        <p:txBody>
          <a:bodyPr wrap="square" rtlCol="0" anchor="ctr"/>
          <a:lstStyle/>
          <a:p>
            <a:pPr indent="0" marL="0">
              <a:buNone/>
            </a:pPr>
            <a:endParaRPr lang="en-US" dirty="0"/>
          </a:p>
        </p:txBody>
      </p:sp>
      <p:sp>
        <p:nvSpPr>
          <p:cNvPr id="28" name="Text 24"/>
          <p:cNvSpPr/>
          <p:nvPr/>
        </p:nvSpPr>
        <p:spPr>
          <a:xfrm>
            <a:off x="4743450" y="1931491"/>
            <a:ext cx="128588" cy="128588"/>
          </a:xfrm>
          <a:prstGeom prst="rect">
            <a:avLst/>
          </a:prstGeom>
          <a:noFill/>
          <a:ln/>
        </p:spPr>
        <p:txBody>
          <a:bodyPr wrap="none" lIns="0" tIns="0" rIns="0" bIns="0" rtlCol="0" anchor="ctr"/>
          <a:lstStyle/>
          <a:p>
            <a:pPr algn="ctr" indent="0" marL="0">
              <a:buNone/>
            </a:pPr>
            <a:r>
              <a:rPr lang="en-US" sz="1266" dirty="0">
                <a:solidFill>
                  <a:srgbClr val="059669"/>
                </a:solidFill>
                <a:latin typeface="Segoe UI Symbol" pitchFamily="34" charset="0"/>
                <a:ea typeface="Segoe UI Symbol" pitchFamily="34" charset="-122"/>
                <a:cs typeface="Segoe UI Symbol" pitchFamily="34" charset="-120"/>
              </a:rPr>
              <a:t>✓</a:t>
            </a:r>
            <a:endParaRPr lang="en-US" sz="1266" dirty="0"/>
          </a:p>
        </p:txBody>
      </p:sp>
      <p:sp>
        <p:nvSpPr>
          <p:cNvPr id="29" name="Text 25"/>
          <p:cNvSpPr/>
          <p:nvPr/>
        </p:nvSpPr>
        <p:spPr>
          <a:xfrm>
            <a:off x="4957763" y="1923455"/>
            <a:ext cx="477488" cy="144661"/>
          </a:xfrm>
          <a:prstGeom prst="rect">
            <a:avLst/>
          </a:prstGeom>
          <a:noFill/>
          <a:ln/>
        </p:spPr>
        <p:txBody>
          <a:bodyPr wrap="none" lIns="0" tIns="0" rIns="0" bIns="0" rtlCol="0" anchor="t"/>
          <a:lstStyle/>
          <a:p>
            <a:pPr algn="l" indent="0" marL="0">
              <a:lnSpc>
                <a:spcPts val="1139"/>
              </a:lnSpc>
              <a:buNone/>
            </a:pPr>
            <a:r>
              <a:rPr lang="en-US" sz="800" dirty="0">
                <a:solidFill>
                  <a:srgbClr val="065F46"/>
                </a:solidFill>
                <a:latin typeface="Carlito" pitchFamily="34" charset="0"/>
                <a:ea typeface="Carlito" pitchFamily="34" charset="-122"/>
                <a:cs typeface="Carlito" pitchFamily="34" charset="-120"/>
              </a:rPr>
              <a:t>blocked</a:t>
            </a:r>
            <a:endParaRPr lang="en-US" sz="800" dirty="0"/>
          </a:p>
        </p:txBody>
      </p:sp>
      <p:sp>
        <p:nvSpPr>
          <p:cNvPr id="30" name="Text 26"/>
          <p:cNvSpPr/>
          <p:nvPr/>
        </p:nvSpPr>
        <p:spPr>
          <a:xfrm>
            <a:off x="5416525" y="1931491"/>
            <a:ext cx="3091681" cy="136624"/>
          </a:xfrm>
          <a:prstGeom prst="rect">
            <a:avLst/>
          </a:prstGeom>
          <a:noFill/>
          <a:ln/>
        </p:spPr>
        <p:txBody>
          <a:bodyPr wrap="none" lIns="0" tIns="0" rIns="0" bIns="0" rtlCol="0" anchor="t"/>
          <a:lstStyle/>
          <a:p>
            <a:pPr algn="l" indent="0" marL="0">
              <a:lnSpc>
                <a:spcPts val="1013"/>
              </a:lnSpc>
              <a:buNone/>
            </a:pPr>
            <a:r>
              <a:rPr lang="en-US" sz="800" dirty="0">
                <a:solidFill>
                  <a:srgbClr val="64748B"/>
                </a:solidFill>
                <a:latin typeface="Courier New" pitchFamily="34" charset="0"/>
                <a:ea typeface="Courier New" pitchFamily="34" charset="-122"/>
                <a:cs typeface="Courier New" pitchFamily="34" charset="-120"/>
              </a:rPr>
              <a:t>— decodeHtmlEntities</a:t>
            </a:r>
            <a:endParaRPr lang="en-US" sz="800" dirty="0"/>
          </a:p>
        </p:txBody>
      </p:sp>
      <p:sp>
        <p:nvSpPr>
          <p:cNvPr id="31" name="Shape 27"/>
          <p:cNvSpPr/>
          <p:nvPr/>
        </p:nvSpPr>
        <p:spPr>
          <a:xfrm>
            <a:off x="464344" y="2157413"/>
            <a:ext cx="8215313" cy="0"/>
          </a:xfrm>
          <a:prstGeom prst="line">
            <a:avLst/>
          </a:prstGeom>
          <a:noFill/>
          <a:ln w="7144">
            <a:solidFill>
              <a:srgbClr val="7C3AED"/>
            </a:solidFill>
            <a:prstDash val="solid"/>
          </a:ln>
        </p:spPr>
      </p:sp>
      <p:sp>
        <p:nvSpPr>
          <p:cNvPr id="32" name="Text 28"/>
          <p:cNvSpPr/>
          <p:nvPr/>
        </p:nvSpPr>
        <p:spPr>
          <a:xfrm>
            <a:off x="464344" y="2160984"/>
            <a:ext cx="4107656" cy="316111"/>
          </a:xfrm>
          <a:prstGeom prst="rect">
            <a:avLst/>
          </a:prstGeom>
          <a:solidFill>
            <a:srgbClr val="FFF1F2"/>
          </a:solidFill>
          <a:ln/>
        </p:spPr>
        <p:txBody>
          <a:bodyPr wrap="square" rtlCol="0" anchor="ctr"/>
          <a:lstStyle/>
          <a:p>
            <a:pPr indent="0" marL="0">
              <a:buNone/>
            </a:pPr>
            <a:endParaRPr lang="en-US" dirty="0"/>
          </a:p>
        </p:txBody>
      </p:sp>
      <p:sp>
        <p:nvSpPr>
          <p:cNvPr id="33" name="Shape 29"/>
          <p:cNvSpPr/>
          <p:nvPr/>
        </p:nvSpPr>
        <p:spPr>
          <a:xfrm>
            <a:off x="4568428" y="2160984"/>
            <a:ext cx="0" cy="316111"/>
          </a:xfrm>
          <a:prstGeom prst="line">
            <a:avLst/>
          </a:prstGeom>
          <a:noFill/>
          <a:ln w="7144">
            <a:solidFill>
              <a:srgbClr val="7C3AED"/>
            </a:solidFill>
            <a:prstDash val="solid"/>
          </a:ln>
        </p:spPr>
      </p:sp>
      <p:sp>
        <p:nvSpPr>
          <p:cNvPr id="34" name="Text 30"/>
          <p:cNvSpPr/>
          <p:nvPr/>
        </p:nvSpPr>
        <p:spPr>
          <a:xfrm>
            <a:off x="635794" y="2254746"/>
            <a:ext cx="128588" cy="128588"/>
          </a:xfrm>
          <a:prstGeom prst="rect">
            <a:avLst/>
          </a:prstGeom>
          <a:noFill/>
          <a:ln/>
        </p:spPr>
        <p:txBody>
          <a:bodyPr wrap="none" lIns="0" tIns="0" rIns="0" bIns="0" rtlCol="0" anchor="ctr"/>
          <a:lstStyle/>
          <a:p>
            <a:pPr algn="ctr" indent="0" marL="0">
              <a:buNone/>
            </a:pPr>
            <a:r>
              <a:rPr lang="en-US" sz="1266" dirty="0">
                <a:solidFill>
                  <a:srgbClr val="E11D48"/>
                </a:solidFill>
                <a:latin typeface="Segoe UI Symbol" pitchFamily="34" charset="0"/>
                <a:ea typeface="Segoe UI Symbol" pitchFamily="34" charset="-122"/>
                <a:cs typeface="Segoe UI Symbol" pitchFamily="34" charset="-120"/>
              </a:rPr>
              <a:t>✕</a:t>
            </a:r>
            <a:endParaRPr lang="en-US" sz="1266" dirty="0"/>
          </a:p>
        </p:txBody>
      </p:sp>
      <p:sp>
        <p:nvSpPr>
          <p:cNvPr id="35" name="Text 31"/>
          <p:cNvSpPr/>
          <p:nvPr/>
        </p:nvSpPr>
        <p:spPr>
          <a:xfrm>
            <a:off x="850106" y="2246709"/>
            <a:ext cx="790099" cy="144661"/>
          </a:xfrm>
          <a:prstGeom prst="rect">
            <a:avLst/>
          </a:prstGeom>
          <a:noFill/>
          <a:ln/>
        </p:spPr>
        <p:txBody>
          <a:bodyPr wrap="none" lIns="0" tIns="0" rIns="0" bIns="0" rtlCol="0" anchor="t"/>
          <a:lstStyle/>
          <a:p>
            <a:pPr algn="l" indent="0" marL="0">
              <a:lnSpc>
                <a:spcPts val="1139"/>
              </a:lnSpc>
              <a:buNone/>
            </a:pPr>
            <a:r>
              <a:rPr lang="en-US" sz="800" dirty="0">
                <a:solidFill>
                  <a:srgbClr val="9F1239"/>
                </a:solidFill>
                <a:latin typeface="Courier New" pitchFamily="34" charset="0"/>
                <a:ea typeface="Courier New" pitchFamily="34" charset="-122"/>
                <a:cs typeface="Courier New" pitchFamily="34" charset="-120"/>
              </a:rPr>
              <a:t>ＭａＭＲＭ</a:t>
            </a:r>
            <a:endParaRPr lang="en-US" sz="800" dirty="0"/>
          </a:p>
        </p:txBody>
      </p:sp>
      <p:sp>
        <p:nvSpPr>
          <p:cNvPr id="36" name="Text 32"/>
          <p:cNvSpPr/>
          <p:nvPr/>
        </p:nvSpPr>
        <p:spPr>
          <a:xfrm>
            <a:off x="1435894" y="2254746"/>
            <a:ext cx="2957513" cy="136624"/>
          </a:xfrm>
          <a:prstGeom prst="rect">
            <a:avLst/>
          </a:prstGeom>
          <a:noFill/>
          <a:ln/>
        </p:spPr>
        <p:txBody>
          <a:bodyPr wrap="square" lIns="0" tIns="0" rIns="0" bIns="0" rtlCol="0" anchor="t"/>
          <a:lstStyle/>
          <a:p>
            <a:pPr algn="l" indent="0" marL="0">
              <a:lnSpc>
                <a:spcPts val="1013"/>
              </a:lnSpc>
              <a:buNone/>
            </a:pPr>
            <a:r>
              <a:rPr lang="en-US" sz="800" dirty="0">
                <a:solidFill>
                  <a:srgbClr val="64748B"/>
                </a:solidFill>
                <a:latin typeface="Carlito" pitchFamily="34" charset="0"/>
                <a:ea typeface="Carlito" pitchFamily="34" charset="-122"/>
                <a:cs typeface="Carlito" pitchFamily="34" charset="-120"/>
              </a:rPr>
              <a:t>(full-width Unicode)</a:t>
            </a:r>
            <a:endParaRPr lang="en-US" sz="800" dirty="0"/>
          </a:p>
        </p:txBody>
      </p:sp>
      <p:sp>
        <p:nvSpPr>
          <p:cNvPr id="37" name="Text 33"/>
          <p:cNvSpPr/>
          <p:nvPr/>
        </p:nvSpPr>
        <p:spPr>
          <a:xfrm>
            <a:off x="4572000" y="2160984"/>
            <a:ext cx="4107656" cy="316111"/>
          </a:xfrm>
          <a:prstGeom prst="rect">
            <a:avLst/>
          </a:prstGeom>
          <a:solidFill>
            <a:srgbClr val="ECFDF5"/>
          </a:solidFill>
          <a:ln/>
        </p:spPr>
        <p:txBody>
          <a:bodyPr wrap="square" rtlCol="0" anchor="ctr"/>
          <a:lstStyle/>
          <a:p>
            <a:pPr indent="0" marL="0">
              <a:buNone/>
            </a:pPr>
            <a:endParaRPr lang="en-US" dirty="0"/>
          </a:p>
        </p:txBody>
      </p:sp>
      <p:sp>
        <p:nvSpPr>
          <p:cNvPr id="38" name="Text 34"/>
          <p:cNvSpPr/>
          <p:nvPr/>
        </p:nvSpPr>
        <p:spPr>
          <a:xfrm>
            <a:off x="4743450" y="2254746"/>
            <a:ext cx="128588" cy="128588"/>
          </a:xfrm>
          <a:prstGeom prst="rect">
            <a:avLst/>
          </a:prstGeom>
          <a:noFill/>
          <a:ln/>
        </p:spPr>
        <p:txBody>
          <a:bodyPr wrap="none" lIns="0" tIns="0" rIns="0" bIns="0" rtlCol="0" anchor="ctr"/>
          <a:lstStyle/>
          <a:p>
            <a:pPr algn="ctr" indent="0" marL="0">
              <a:buNone/>
            </a:pPr>
            <a:r>
              <a:rPr lang="en-US" sz="1266" dirty="0">
                <a:solidFill>
                  <a:srgbClr val="059669"/>
                </a:solidFill>
                <a:latin typeface="Segoe UI Symbol" pitchFamily="34" charset="0"/>
                <a:ea typeface="Segoe UI Symbol" pitchFamily="34" charset="-122"/>
                <a:cs typeface="Segoe UI Symbol" pitchFamily="34" charset="-120"/>
              </a:rPr>
              <a:t>✓</a:t>
            </a:r>
            <a:endParaRPr lang="en-US" sz="1266" dirty="0"/>
          </a:p>
        </p:txBody>
      </p:sp>
      <p:sp>
        <p:nvSpPr>
          <p:cNvPr id="39" name="Text 35"/>
          <p:cNvSpPr/>
          <p:nvPr/>
        </p:nvSpPr>
        <p:spPr>
          <a:xfrm>
            <a:off x="4957763" y="2246709"/>
            <a:ext cx="477488" cy="144661"/>
          </a:xfrm>
          <a:prstGeom prst="rect">
            <a:avLst/>
          </a:prstGeom>
          <a:noFill/>
          <a:ln/>
        </p:spPr>
        <p:txBody>
          <a:bodyPr wrap="none" lIns="0" tIns="0" rIns="0" bIns="0" rtlCol="0" anchor="t"/>
          <a:lstStyle/>
          <a:p>
            <a:pPr algn="l" indent="0" marL="0">
              <a:lnSpc>
                <a:spcPts val="1139"/>
              </a:lnSpc>
              <a:buNone/>
            </a:pPr>
            <a:r>
              <a:rPr lang="en-US" sz="800" dirty="0">
                <a:solidFill>
                  <a:srgbClr val="065F46"/>
                </a:solidFill>
                <a:latin typeface="Carlito" pitchFamily="34" charset="0"/>
                <a:ea typeface="Carlito" pitchFamily="34" charset="-122"/>
                <a:cs typeface="Carlito" pitchFamily="34" charset="-120"/>
              </a:rPr>
              <a:t>blocked</a:t>
            </a:r>
            <a:endParaRPr lang="en-US" sz="800" dirty="0"/>
          </a:p>
        </p:txBody>
      </p:sp>
      <p:sp>
        <p:nvSpPr>
          <p:cNvPr id="40" name="Text 36"/>
          <p:cNvSpPr/>
          <p:nvPr/>
        </p:nvSpPr>
        <p:spPr>
          <a:xfrm>
            <a:off x="5416525" y="2254746"/>
            <a:ext cx="3091681" cy="136624"/>
          </a:xfrm>
          <a:prstGeom prst="rect">
            <a:avLst/>
          </a:prstGeom>
          <a:noFill/>
          <a:ln/>
        </p:spPr>
        <p:txBody>
          <a:bodyPr wrap="none" lIns="0" tIns="0" rIns="0" bIns="0" rtlCol="0" anchor="t"/>
          <a:lstStyle/>
          <a:p>
            <a:pPr algn="l" indent="0" marL="0">
              <a:lnSpc>
                <a:spcPts val="1013"/>
              </a:lnSpc>
              <a:buNone/>
            </a:pPr>
            <a:r>
              <a:rPr lang="en-US" sz="800" dirty="0">
                <a:solidFill>
                  <a:srgbClr val="64748B"/>
                </a:solidFill>
                <a:latin typeface="Courier New" pitchFamily="34" charset="0"/>
                <a:ea typeface="Courier New" pitchFamily="34" charset="-122"/>
                <a:cs typeface="Courier New" pitchFamily="34" charset="-120"/>
              </a:rPr>
              <a:t>— normalize NFKC</a:t>
            </a:r>
            <a:endParaRPr lang="en-US" sz="800" dirty="0"/>
          </a:p>
        </p:txBody>
      </p:sp>
      <p:sp>
        <p:nvSpPr>
          <p:cNvPr id="41" name="Shape 37"/>
          <p:cNvSpPr/>
          <p:nvPr/>
        </p:nvSpPr>
        <p:spPr>
          <a:xfrm>
            <a:off x="464344" y="2480667"/>
            <a:ext cx="8215313" cy="0"/>
          </a:xfrm>
          <a:prstGeom prst="line">
            <a:avLst/>
          </a:prstGeom>
          <a:noFill/>
          <a:ln w="7144">
            <a:solidFill>
              <a:srgbClr val="7C3AED"/>
            </a:solidFill>
            <a:prstDash val="solid"/>
          </a:ln>
        </p:spPr>
      </p:sp>
      <p:sp>
        <p:nvSpPr>
          <p:cNvPr id="42" name="Text 38"/>
          <p:cNvSpPr/>
          <p:nvPr/>
        </p:nvSpPr>
        <p:spPr>
          <a:xfrm>
            <a:off x="464344" y="2484239"/>
            <a:ext cx="4107656" cy="316111"/>
          </a:xfrm>
          <a:prstGeom prst="rect">
            <a:avLst/>
          </a:prstGeom>
          <a:solidFill>
            <a:srgbClr val="FFF1F2"/>
          </a:solidFill>
          <a:ln/>
        </p:spPr>
        <p:txBody>
          <a:bodyPr wrap="square" rtlCol="0" anchor="ctr"/>
          <a:lstStyle/>
          <a:p>
            <a:pPr indent="0" marL="0">
              <a:buNone/>
            </a:pPr>
            <a:endParaRPr lang="en-US" dirty="0"/>
          </a:p>
        </p:txBody>
      </p:sp>
      <p:sp>
        <p:nvSpPr>
          <p:cNvPr id="43" name="Shape 39"/>
          <p:cNvSpPr/>
          <p:nvPr/>
        </p:nvSpPr>
        <p:spPr>
          <a:xfrm>
            <a:off x="4568428" y="2484239"/>
            <a:ext cx="0" cy="316111"/>
          </a:xfrm>
          <a:prstGeom prst="line">
            <a:avLst/>
          </a:prstGeom>
          <a:noFill/>
          <a:ln w="7144">
            <a:solidFill>
              <a:srgbClr val="7C3AED"/>
            </a:solidFill>
            <a:prstDash val="solid"/>
          </a:ln>
        </p:spPr>
      </p:sp>
      <p:sp>
        <p:nvSpPr>
          <p:cNvPr id="44" name="Text 40"/>
          <p:cNvSpPr/>
          <p:nvPr/>
        </p:nvSpPr>
        <p:spPr>
          <a:xfrm>
            <a:off x="635794" y="2578001"/>
            <a:ext cx="128588" cy="128588"/>
          </a:xfrm>
          <a:prstGeom prst="rect">
            <a:avLst/>
          </a:prstGeom>
          <a:noFill/>
          <a:ln/>
        </p:spPr>
        <p:txBody>
          <a:bodyPr wrap="none" lIns="0" tIns="0" rIns="0" bIns="0" rtlCol="0" anchor="ctr"/>
          <a:lstStyle/>
          <a:p>
            <a:pPr algn="ctr" indent="0" marL="0">
              <a:buNone/>
            </a:pPr>
            <a:r>
              <a:rPr lang="en-US" sz="1266" dirty="0">
                <a:solidFill>
                  <a:srgbClr val="E11D48"/>
                </a:solidFill>
                <a:latin typeface="Segoe UI Symbol" pitchFamily="34" charset="0"/>
                <a:ea typeface="Segoe UI Symbol" pitchFamily="34" charset="-122"/>
                <a:cs typeface="Segoe UI Symbol" pitchFamily="34" charset="-120"/>
              </a:rPr>
              <a:t>✕</a:t>
            </a:r>
            <a:endParaRPr lang="en-US" sz="1266" dirty="0"/>
          </a:p>
        </p:txBody>
      </p:sp>
      <p:sp>
        <p:nvSpPr>
          <p:cNvPr id="45" name="Text 41"/>
          <p:cNvSpPr/>
          <p:nvPr/>
        </p:nvSpPr>
        <p:spPr>
          <a:xfrm>
            <a:off x="850106" y="2569964"/>
            <a:ext cx="1020788" cy="144661"/>
          </a:xfrm>
          <a:prstGeom prst="rect">
            <a:avLst/>
          </a:prstGeom>
          <a:noFill/>
          <a:ln/>
        </p:spPr>
        <p:txBody>
          <a:bodyPr wrap="none" lIns="0" tIns="0" rIns="0" bIns="0" rtlCol="0" anchor="t"/>
          <a:lstStyle/>
          <a:p>
            <a:pPr algn="l" indent="0" marL="0">
              <a:lnSpc>
                <a:spcPts val="1139"/>
              </a:lnSpc>
              <a:buNone/>
            </a:pPr>
            <a:r>
              <a:rPr lang="en-US" sz="800" dirty="0">
                <a:solidFill>
                  <a:srgbClr val="9F1239"/>
                </a:solidFill>
                <a:latin typeface="Courier New" pitchFamily="34" charset="0"/>
                <a:ea typeface="Courier New" pitchFamily="34" charset="-122"/>
                <a:cs typeface="Courier New" pitchFamily="34" charset="-120"/>
              </a:rPr>
              <a:t>UNION/**/SELECT</a:t>
            </a:r>
            <a:endParaRPr lang="en-US" sz="800" dirty="0"/>
          </a:p>
        </p:txBody>
      </p:sp>
      <p:sp>
        <p:nvSpPr>
          <p:cNvPr id="46" name="Text 42"/>
          <p:cNvSpPr/>
          <p:nvPr/>
        </p:nvSpPr>
        <p:spPr>
          <a:xfrm>
            <a:off x="1806811" y="2578001"/>
            <a:ext cx="2586596" cy="136624"/>
          </a:xfrm>
          <a:prstGeom prst="rect">
            <a:avLst/>
          </a:prstGeom>
          <a:noFill/>
          <a:ln/>
        </p:spPr>
        <p:txBody>
          <a:bodyPr wrap="none" lIns="0" tIns="0" rIns="0" bIns="0" rtlCol="0" anchor="t"/>
          <a:lstStyle/>
          <a:p>
            <a:pPr algn="l" indent="0" marL="0">
              <a:lnSpc>
                <a:spcPts val="1013"/>
              </a:lnSpc>
              <a:buNone/>
            </a:pPr>
            <a:r>
              <a:rPr lang="en-US" sz="800" dirty="0">
                <a:solidFill>
                  <a:srgbClr val="64748B"/>
                </a:solidFill>
                <a:latin typeface="Carlito" pitchFamily="34" charset="0"/>
                <a:ea typeface="Carlito" pitchFamily="34" charset="-122"/>
                <a:cs typeface="Carlito" pitchFamily="34" charset="-120"/>
              </a:rPr>
              <a:t>(SQL comment)</a:t>
            </a:r>
            <a:endParaRPr lang="en-US" sz="800" dirty="0"/>
          </a:p>
        </p:txBody>
      </p:sp>
      <p:sp>
        <p:nvSpPr>
          <p:cNvPr id="47" name="Text 43"/>
          <p:cNvSpPr/>
          <p:nvPr/>
        </p:nvSpPr>
        <p:spPr>
          <a:xfrm>
            <a:off x="4572000" y="2484239"/>
            <a:ext cx="4107656" cy="316111"/>
          </a:xfrm>
          <a:prstGeom prst="rect">
            <a:avLst/>
          </a:prstGeom>
          <a:solidFill>
            <a:srgbClr val="ECFDF5"/>
          </a:solidFill>
          <a:ln/>
        </p:spPr>
        <p:txBody>
          <a:bodyPr wrap="square" rtlCol="0" anchor="ctr"/>
          <a:lstStyle/>
          <a:p>
            <a:pPr indent="0" marL="0">
              <a:buNone/>
            </a:pPr>
            <a:endParaRPr lang="en-US" dirty="0"/>
          </a:p>
        </p:txBody>
      </p:sp>
      <p:sp>
        <p:nvSpPr>
          <p:cNvPr id="48" name="Text 44"/>
          <p:cNvSpPr/>
          <p:nvPr/>
        </p:nvSpPr>
        <p:spPr>
          <a:xfrm>
            <a:off x="4743450" y="2578001"/>
            <a:ext cx="128588" cy="128588"/>
          </a:xfrm>
          <a:prstGeom prst="rect">
            <a:avLst/>
          </a:prstGeom>
          <a:noFill/>
          <a:ln/>
        </p:spPr>
        <p:txBody>
          <a:bodyPr wrap="none" lIns="0" tIns="0" rIns="0" bIns="0" rtlCol="0" anchor="ctr"/>
          <a:lstStyle/>
          <a:p>
            <a:pPr algn="ctr" indent="0" marL="0">
              <a:buNone/>
            </a:pPr>
            <a:r>
              <a:rPr lang="en-US" sz="1266" dirty="0">
                <a:solidFill>
                  <a:srgbClr val="059669"/>
                </a:solidFill>
                <a:latin typeface="Segoe UI Symbol" pitchFamily="34" charset="0"/>
                <a:ea typeface="Segoe UI Symbol" pitchFamily="34" charset="-122"/>
                <a:cs typeface="Segoe UI Symbol" pitchFamily="34" charset="-120"/>
              </a:rPr>
              <a:t>✓</a:t>
            </a:r>
            <a:endParaRPr lang="en-US" sz="1266" dirty="0"/>
          </a:p>
        </p:txBody>
      </p:sp>
      <p:sp>
        <p:nvSpPr>
          <p:cNvPr id="49" name="Text 45"/>
          <p:cNvSpPr/>
          <p:nvPr/>
        </p:nvSpPr>
        <p:spPr>
          <a:xfrm>
            <a:off x="4957763" y="2569964"/>
            <a:ext cx="477488" cy="144661"/>
          </a:xfrm>
          <a:prstGeom prst="rect">
            <a:avLst/>
          </a:prstGeom>
          <a:noFill/>
          <a:ln/>
        </p:spPr>
        <p:txBody>
          <a:bodyPr wrap="none" lIns="0" tIns="0" rIns="0" bIns="0" rtlCol="0" anchor="t"/>
          <a:lstStyle/>
          <a:p>
            <a:pPr algn="l" indent="0" marL="0">
              <a:lnSpc>
                <a:spcPts val="1139"/>
              </a:lnSpc>
              <a:buNone/>
            </a:pPr>
            <a:r>
              <a:rPr lang="en-US" sz="800" dirty="0">
                <a:solidFill>
                  <a:srgbClr val="065F46"/>
                </a:solidFill>
                <a:latin typeface="Carlito" pitchFamily="34" charset="0"/>
                <a:ea typeface="Carlito" pitchFamily="34" charset="-122"/>
                <a:cs typeface="Carlito" pitchFamily="34" charset="-120"/>
              </a:rPr>
              <a:t>blocked</a:t>
            </a:r>
            <a:endParaRPr lang="en-US" sz="800" dirty="0"/>
          </a:p>
        </p:txBody>
      </p:sp>
      <p:sp>
        <p:nvSpPr>
          <p:cNvPr id="50" name="Text 46"/>
          <p:cNvSpPr/>
          <p:nvPr/>
        </p:nvSpPr>
        <p:spPr>
          <a:xfrm>
            <a:off x="5416525" y="2578001"/>
            <a:ext cx="3091681" cy="136624"/>
          </a:xfrm>
          <a:prstGeom prst="rect">
            <a:avLst/>
          </a:prstGeom>
          <a:noFill/>
          <a:ln/>
        </p:spPr>
        <p:txBody>
          <a:bodyPr wrap="none" lIns="0" tIns="0" rIns="0" bIns="0" rtlCol="0" anchor="t"/>
          <a:lstStyle/>
          <a:p>
            <a:pPr algn="l" indent="0" marL="0">
              <a:lnSpc>
                <a:spcPts val="1013"/>
              </a:lnSpc>
              <a:buNone/>
            </a:pPr>
            <a:r>
              <a:rPr lang="en-US" sz="800" dirty="0">
                <a:solidFill>
                  <a:srgbClr val="64748B"/>
                </a:solidFill>
                <a:latin typeface="Courier New" pitchFamily="34" charset="0"/>
                <a:ea typeface="Courier New" pitchFamily="34" charset="-122"/>
                <a:cs typeface="Courier New" pitchFamily="34" charset="-120"/>
              </a:rPr>
              <a:t>— strip /* */</a:t>
            </a:r>
            <a:endParaRPr lang="en-US" sz="800" dirty="0"/>
          </a:p>
        </p:txBody>
      </p:sp>
      <p:sp>
        <p:nvSpPr>
          <p:cNvPr id="51" name="Shape 47"/>
          <p:cNvSpPr/>
          <p:nvPr/>
        </p:nvSpPr>
        <p:spPr>
          <a:xfrm>
            <a:off x="464344" y="2803922"/>
            <a:ext cx="8215313" cy="0"/>
          </a:xfrm>
          <a:prstGeom prst="line">
            <a:avLst/>
          </a:prstGeom>
          <a:noFill/>
          <a:ln w="7144">
            <a:solidFill>
              <a:srgbClr val="7C3AED"/>
            </a:solidFill>
            <a:prstDash val="solid"/>
          </a:ln>
        </p:spPr>
      </p:sp>
      <p:sp>
        <p:nvSpPr>
          <p:cNvPr id="52" name="Text 48"/>
          <p:cNvSpPr/>
          <p:nvPr/>
        </p:nvSpPr>
        <p:spPr>
          <a:xfrm>
            <a:off x="464344" y="2807494"/>
            <a:ext cx="4107656" cy="316111"/>
          </a:xfrm>
          <a:prstGeom prst="rect">
            <a:avLst/>
          </a:prstGeom>
          <a:solidFill>
            <a:srgbClr val="FFF1F2"/>
          </a:solidFill>
          <a:ln/>
        </p:spPr>
        <p:txBody>
          <a:bodyPr wrap="square" rtlCol="0" anchor="ctr"/>
          <a:lstStyle/>
          <a:p>
            <a:pPr indent="0" marL="0">
              <a:buNone/>
            </a:pPr>
            <a:endParaRPr lang="en-US" dirty="0"/>
          </a:p>
        </p:txBody>
      </p:sp>
      <p:sp>
        <p:nvSpPr>
          <p:cNvPr id="53" name="Shape 49"/>
          <p:cNvSpPr/>
          <p:nvPr/>
        </p:nvSpPr>
        <p:spPr>
          <a:xfrm>
            <a:off x="4568428" y="2807494"/>
            <a:ext cx="0" cy="316111"/>
          </a:xfrm>
          <a:prstGeom prst="line">
            <a:avLst/>
          </a:prstGeom>
          <a:noFill/>
          <a:ln w="7144">
            <a:solidFill>
              <a:srgbClr val="7C3AED"/>
            </a:solidFill>
            <a:prstDash val="solid"/>
          </a:ln>
        </p:spPr>
      </p:sp>
      <p:sp>
        <p:nvSpPr>
          <p:cNvPr id="54" name="Text 50"/>
          <p:cNvSpPr/>
          <p:nvPr/>
        </p:nvSpPr>
        <p:spPr>
          <a:xfrm>
            <a:off x="635794" y="2901255"/>
            <a:ext cx="128588" cy="128588"/>
          </a:xfrm>
          <a:prstGeom prst="rect">
            <a:avLst/>
          </a:prstGeom>
          <a:noFill/>
          <a:ln/>
        </p:spPr>
        <p:txBody>
          <a:bodyPr wrap="none" lIns="0" tIns="0" rIns="0" bIns="0" rtlCol="0" anchor="ctr"/>
          <a:lstStyle/>
          <a:p>
            <a:pPr algn="ctr" indent="0" marL="0">
              <a:buNone/>
            </a:pPr>
            <a:r>
              <a:rPr lang="en-US" sz="1266" dirty="0">
                <a:solidFill>
                  <a:srgbClr val="E11D48"/>
                </a:solidFill>
                <a:latin typeface="Segoe UI Symbol" pitchFamily="34" charset="0"/>
                <a:ea typeface="Segoe UI Symbol" pitchFamily="34" charset="-122"/>
                <a:cs typeface="Segoe UI Symbol" pitchFamily="34" charset="-120"/>
              </a:rPr>
              <a:t>✕</a:t>
            </a:r>
            <a:endParaRPr lang="en-US" sz="1266" dirty="0"/>
          </a:p>
        </p:txBody>
      </p:sp>
      <p:sp>
        <p:nvSpPr>
          <p:cNvPr id="55" name="Text 51"/>
          <p:cNvSpPr/>
          <p:nvPr/>
        </p:nvSpPr>
        <p:spPr>
          <a:xfrm>
            <a:off x="850106" y="2893219"/>
            <a:ext cx="816709" cy="144661"/>
          </a:xfrm>
          <a:prstGeom prst="rect">
            <a:avLst/>
          </a:prstGeom>
          <a:noFill/>
          <a:ln/>
        </p:spPr>
        <p:txBody>
          <a:bodyPr wrap="none" lIns="0" tIns="0" rIns="0" bIns="0" rtlCol="0" anchor="t"/>
          <a:lstStyle/>
          <a:p>
            <a:pPr algn="l" indent="0" marL="0">
              <a:lnSpc>
                <a:spcPts val="1139"/>
              </a:lnSpc>
              <a:buNone/>
            </a:pPr>
            <a:r>
              <a:rPr lang="en-US" sz="800" dirty="0">
                <a:solidFill>
                  <a:srgbClr val="9F1239"/>
                </a:solidFill>
                <a:latin typeface="Liberation Sans Narrow" pitchFamily="34" charset="0"/>
                <a:ea typeface="Liberation Sans Narrow" pitchFamily="34" charset="-122"/>
                <a:cs typeface="Liberation Sans Narrow" pitchFamily="34" charset="-120"/>
              </a:rPr>
              <a:t>%2527 OR 1=1</a:t>
            </a:r>
            <a:endParaRPr lang="en-US" sz="800" dirty="0"/>
          </a:p>
        </p:txBody>
      </p:sp>
      <p:sp>
        <p:nvSpPr>
          <p:cNvPr id="56" name="Text 52"/>
          <p:cNvSpPr/>
          <p:nvPr/>
        </p:nvSpPr>
        <p:spPr>
          <a:xfrm>
            <a:off x="1632682" y="2901255"/>
            <a:ext cx="2760725" cy="136624"/>
          </a:xfrm>
          <a:prstGeom prst="rect">
            <a:avLst/>
          </a:prstGeom>
          <a:noFill/>
          <a:ln/>
        </p:spPr>
        <p:txBody>
          <a:bodyPr wrap="none" lIns="0" tIns="0" rIns="0" bIns="0" rtlCol="0" anchor="t"/>
          <a:lstStyle/>
          <a:p>
            <a:pPr algn="l" indent="0" marL="0">
              <a:lnSpc>
                <a:spcPts val="1013"/>
              </a:lnSpc>
              <a:buNone/>
            </a:pPr>
            <a:r>
              <a:rPr lang="en-US" sz="800" dirty="0">
                <a:solidFill>
                  <a:srgbClr val="64748B"/>
                </a:solidFill>
                <a:latin typeface="Carlito" pitchFamily="34" charset="0"/>
                <a:ea typeface="Carlito" pitchFamily="34" charset="-122"/>
                <a:cs typeface="Carlito" pitchFamily="34" charset="-120"/>
              </a:rPr>
              <a:t>(double URL-encoded)</a:t>
            </a:r>
            <a:endParaRPr lang="en-US" sz="800" dirty="0"/>
          </a:p>
        </p:txBody>
      </p:sp>
      <p:sp>
        <p:nvSpPr>
          <p:cNvPr id="57" name="Text 53"/>
          <p:cNvSpPr/>
          <p:nvPr/>
        </p:nvSpPr>
        <p:spPr>
          <a:xfrm>
            <a:off x="4572000" y="2807494"/>
            <a:ext cx="4107656" cy="316111"/>
          </a:xfrm>
          <a:prstGeom prst="rect">
            <a:avLst/>
          </a:prstGeom>
          <a:solidFill>
            <a:srgbClr val="ECFDF5"/>
          </a:solidFill>
          <a:ln/>
        </p:spPr>
        <p:txBody>
          <a:bodyPr wrap="square" rtlCol="0" anchor="ctr"/>
          <a:lstStyle/>
          <a:p>
            <a:pPr indent="0" marL="0">
              <a:buNone/>
            </a:pPr>
            <a:endParaRPr lang="en-US" dirty="0"/>
          </a:p>
        </p:txBody>
      </p:sp>
      <p:sp>
        <p:nvSpPr>
          <p:cNvPr id="58" name="Text 54"/>
          <p:cNvSpPr/>
          <p:nvPr/>
        </p:nvSpPr>
        <p:spPr>
          <a:xfrm>
            <a:off x="4743450" y="2901255"/>
            <a:ext cx="128588" cy="128588"/>
          </a:xfrm>
          <a:prstGeom prst="rect">
            <a:avLst/>
          </a:prstGeom>
          <a:noFill/>
          <a:ln/>
        </p:spPr>
        <p:txBody>
          <a:bodyPr wrap="none" lIns="0" tIns="0" rIns="0" bIns="0" rtlCol="0" anchor="ctr"/>
          <a:lstStyle/>
          <a:p>
            <a:pPr algn="ctr" indent="0" marL="0">
              <a:buNone/>
            </a:pPr>
            <a:r>
              <a:rPr lang="en-US" sz="1266" dirty="0">
                <a:solidFill>
                  <a:srgbClr val="059669"/>
                </a:solidFill>
                <a:latin typeface="Segoe UI Symbol" pitchFamily="34" charset="0"/>
                <a:ea typeface="Segoe UI Symbol" pitchFamily="34" charset="-122"/>
                <a:cs typeface="Segoe UI Symbol" pitchFamily="34" charset="-120"/>
              </a:rPr>
              <a:t>✓</a:t>
            </a:r>
            <a:endParaRPr lang="en-US" sz="1266" dirty="0"/>
          </a:p>
        </p:txBody>
      </p:sp>
      <p:sp>
        <p:nvSpPr>
          <p:cNvPr id="59" name="Text 55"/>
          <p:cNvSpPr/>
          <p:nvPr/>
        </p:nvSpPr>
        <p:spPr>
          <a:xfrm>
            <a:off x="4957763" y="2893219"/>
            <a:ext cx="477488" cy="144661"/>
          </a:xfrm>
          <a:prstGeom prst="rect">
            <a:avLst/>
          </a:prstGeom>
          <a:noFill/>
          <a:ln/>
        </p:spPr>
        <p:txBody>
          <a:bodyPr wrap="none" lIns="0" tIns="0" rIns="0" bIns="0" rtlCol="0" anchor="t"/>
          <a:lstStyle/>
          <a:p>
            <a:pPr algn="l" indent="0" marL="0">
              <a:lnSpc>
                <a:spcPts val="1139"/>
              </a:lnSpc>
              <a:buNone/>
            </a:pPr>
            <a:r>
              <a:rPr lang="en-US" sz="800" dirty="0">
                <a:solidFill>
                  <a:srgbClr val="065F46"/>
                </a:solidFill>
                <a:latin typeface="Carlito" pitchFamily="34" charset="0"/>
                <a:ea typeface="Carlito" pitchFamily="34" charset="-122"/>
                <a:cs typeface="Carlito" pitchFamily="34" charset="-120"/>
              </a:rPr>
              <a:t>blocked</a:t>
            </a:r>
            <a:endParaRPr lang="en-US" sz="800" dirty="0"/>
          </a:p>
        </p:txBody>
      </p:sp>
      <p:sp>
        <p:nvSpPr>
          <p:cNvPr id="60" name="Text 56"/>
          <p:cNvSpPr/>
          <p:nvPr/>
        </p:nvSpPr>
        <p:spPr>
          <a:xfrm>
            <a:off x="5416525" y="2901255"/>
            <a:ext cx="3091681" cy="136624"/>
          </a:xfrm>
          <a:prstGeom prst="rect">
            <a:avLst/>
          </a:prstGeom>
          <a:noFill/>
          <a:ln/>
        </p:spPr>
        <p:txBody>
          <a:bodyPr wrap="none" lIns="0" tIns="0" rIns="0" bIns="0" rtlCol="0" anchor="t"/>
          <a:lstStyle/>
          <a:p>
            <a:pPr algn="l" indent="0" marL="0">
              <a:lnSpc>
                <a:spcPts val="1013"/>
              </a:lnSpc>
              <a:buNone/>
            </a:pPr>
            <a:r>
              <a:rPr lang="en-US" sz="800" dirty="0">
                <a:solidFill>
                  <a:srgbClr val="64748B"/>
                </a:solidFill>
                <a:latin typeface="Courier New" pitchFamily="34" charset="0"/>
                <a:ea typeface="Courier New" pitchFamily="34" charset="-122"/>
                <a:cs typeface="Courier New" pitchFamily="34" charset="-120"/>
              </a:rPr>
              <a:t>— recursive decode</a:t>
            </a:r>
            <a:endParaRPr lang="en-US" sz="800" dirty="0"/>
          </a:p>
        </p:txBody>
      </p:sp>
      <p:sp>
        <p:nvSpPr>
          <p:cNvPr id="61" name="Shape 57"/>
          <p:cNvSpPr/>
          <p:nvPr/>
        </p:nvSpPr>
        <p:spPr>
          <a:xfrm>
            <a:off x="464344" y="3127177"/>
            <a:ext cx="8215313" cy="0"/>
          </a:xfrm>
          <a:prstGeom prst="line">
            <a:avLst/>
          </a:prstGeom>
          <a:noFill/>
          <a:ln w="7144">
            <a:solidFill>
              <a:srgbClr val="7C3AED"/>
            </a:solidFill>
            <a:prstDash val="solid"/>
          </a:ln>
        </p:spPr>
      </p:sp>
      <p:sp>
        <p:nvSpPr>
          <p:cNvPr id="62" name="Text 58"/>
          <p:cNvSpPr/>
          <p:nvPr/>
        </p:nvSpPr>
        <p:spPr>
          <a:xfrm>
            <a:off x="464344" y="3130748"/>
            <a:ext cx="4107656" cy="316111"/>
          </a:xfrm>
          <a:prstGeom prst="rect">
            <a:avLst/>
          </a:prstGeom>
          <a:solidFill>
            <a:srgbClr val="FFF1F2"/>
          </a:solidFill>
          <a:ln/>
        </p:spPr>
        <p:txBody>
          <a:bodyPr wrap="square" rtlCol="0" anchor="ctr"/>
          <a:lstStyle/>
          <a:p>
            <a:pPr indent="0" marL="0">
              <a:buNone/>
            </a:pPr>
            <a:endParaRPr lang="en-US" dirty="0"/>
          </a:p>
        </p:txBody>
      </p:sp>
      <p:sp>
        <p:nvSpPr>
          <p:cNvPr id="63" name="Shape 59"/>
          <p:cNvSpPr/>
          <p:nvPr/>
        </p:nvSpPr>
        <p:spPr>
          <a:xfrm>
            <a:off x="4568428" y="3130748"/>
            <a:ext cx="0" cy="316111"/>
          </a:xfrm>
          <a:prstGeom prst="line">
            <a:avLst/>
          </a:prstGeom>
          <a:noFill/>
          <a:ln w="7144">
            <a:solidFill>
              <a:srgbClr val="7C3AED"/>
            </a:solidFill>
            <a:prstDash val="solid"/>
          </a:ln>
        </p:spPr>
      </p:sp>
      <p:sp>
        <p:nvSpPr>
          <p:cNvPr id="64" name="Text 60"/>
          <p:cNvSpPr/>
          <p:nvPr/>
        </p:nvSpPr>
        <p:spPr>
          <a:xfrm>
            <a:off x="635794" y="3224510"/>
            <a:ext cx="128588" cy="128588"/>
          </a:xfrm>
          <a:prstGeom prst="rect">
            <a:avLst/>
          </a:prstGeom>
          <a:noFill/>
          <a:ln/>
        </p:spPr>
        <p:txBody>
          <a:bodyPr wrap="none" lIns="0" tIns="0" rIns="0" bIns="0" rtlCol="0" anchor="ctr"/>
          <a:lstStyle/>
          <a:p>
            <a:pPr algn="ctr" indent="0" marL="0">
              <a:buNone/>
            </a:pPr>
            <a:r>
              <a:rPr lang="en-US" sz="1266" dirty="0">
                <a:solidFill>
                  <a:srgbClr val="E11D48"/>
                </a:solidFill>
                <a:latin typeface="Segoe UI Symbol" pitchFamily="34" charset="0"/>
                <a:ea typeface="Segoe UI Symbol" pitchFamily="34" charset="-122"/>
                <a:cs typeface="Segoe UI Symbol" pitchFamily="34" charset="-120"/>
              </a:rPr>
              <a:t>✕</a:t>
            </a:r>
            <a:endParaRPr lang="en-US" sz="1266" dirty="0"/>
          </a:p>
        </p:txBody>
      </p:sp>
      <p:sp>
        <p:nvSpPr>
          <p:cNvPr id="65" name="Text 61"/>
          <p:cNvSpPr/>
          <p:nvPr/>
        </p:nvSpPr>
        <p:spPr>
          <a:xfrm>
            <a:off x="850106" y="3216473"/>
            <a:ext cx="1088814" cy="144661"/>
          </a:xfrm>
          <a:prstGeom prst="rect">
            <a:avLst/>
          </a:prstGeom>
          <a:noFill/>
          <a:ln/>
        </p:spPr>
        <p:txBody>
          <a:bodyPr wrap="none" lIns="0" tIns="0" rIns="0" bIns="0" rtlCol="0" anchor="t"/>
          <a:lstStyle/>
          <a:p>
            <a:pPr algn="l" indent="0" marL="0">
              <a:lnSpc>
                <a:spcPts val="1139"/>
              </a:lnSpc>
              <a:buNone/>
            </a:pPr>
            <a:r>
              <a:rPr lang="en-US" sz="800" dirty="0">
                <a:solidFill>
                  <a:srgbClr val="9F1239"/>
                </a:solidFill>
                <a:latin typeface="Courier New" pitchFamily="34" charset="0"/>
                <a:ea typeface="Courier New" pitchFamily="34" charset="-122"/>
                <a:cs typeface="Courier New" pitchFamily="34" charset="-120"/>
              </a:rPr>
              <a:t>UNION SELECT</a:t>
            </a:r>
            <a:endParaRPr lang="en-US" sz="800" dirty="0"/>
          </a:p>
        </p:txBody>
      </p:sp>
      <p:sp>
        <p:nvSpPr>
          <p:cNvPr id="66" name="Text 62"/>
          <p:cNvSpPr/>
          <p:nvPr/>
        </p:nvSpPr>
        <p:spPr>
          <a:xfrm>
            <a:off x="1864854" y="3224510"/>
            <a:ext cx="2528553" cy="136624"/>
          </a:xfrm>
          <a:prstGeom prst="rect">
            <a:avLst/>
          </a:prstGeom>
          <a:noFill/>
          <a:ln/>
        </p:spPr>
        <p:txBody>
          <a:bodyPr wrap="none" lIns="0" tIns="0" rIns="0" bIns="0" rtlCol="0" anchor="t"/>
          <a:lstStyle/>
          <a:p>
            <a:pPr algn="l" indent="0" marL="0">
              <a:lnSpc>
                <a:spcPts val="1013"/>
              </a:lnSpc>
              <a:buNone/>
            </a:pPr>
            <a:r>
              <a:rPr lang="en-US" sz="800" dirty="0">
                <a:solidFill>
                  <a:srgbClr val="64748B"/>
                </a:solidFill>
                <a:latin typeface="Carlito" pitchFamily="34" charset="0"/>
                <a:ea typeface="Carlito" pitchFamily="34" charset="-122"/>
                <a:cs typeface="Carlito" pitchFamily="34" charset="-120"/>
              </a:rPr>
              <a:t>(whitespace pad)</a:t>
            </a:r>
            <a:endParaRPr lang="en-US" sz="800" dirty="0"/>
          </a:p>
        </p:txBody>
      </p:sp>
      <p:sp>
        <p:nvSpPr>
          <p:cNvPr id="67" name="Text 63"/>
          <p:cNvSpPr/>
          <p:nvPr/>
        </p:nvSpPr>
        <p:spPr>
          <a:xfrm>
            <a:off x="4572000" y="3130748"/>
            <a:ext cx="4107656" cy="316111"/>
          </a:xfrm>
          <a:prstGeom prst="rect">
            <a:avLst/>
          </a:prstGeom>
          <a:solidFill>
            <a:srgbClr val="ECFDF5"/>
          </a:solidFill>
          <a:ln/>
        </p:spPr>
        <p:txBody>
          <a:bodyPr wrap="square" rtlCol="0" anchor="ctr"/>
          <a:lstStyle/>
          <a:p>
            <a:pPr indent="0" marL="0">
              <a:buNone/>
            </a:pPr>
            <a:endParaRPr lang="en-US" dirty="0"/>
          </a:p>
        </p:txBody>
      </p:sp>
      <p:sp>
        <p:nvSpPr>
          <p:cNvPr id="68" name="Text 64"/>
          <p:cNvSpPr/>
          <p:nvPr/>
        </p:nvSpPr>
        <p:spPr>
          <a:xfrm>
            <a:off x="4743450" y="3224510"/>
            <a:ext cx="128588" cy="128588"/>
          </a:xfrm>
          <a:prstGeom prst="rect">
            <a:avLst/>
          </a:prstGeom>
          <a:noFill/>
          <a:ln/>
        </p:spPr>
        <p:txBody>
          <a:bodyPr wrap="none" lIns="0" tIns="0" rIns="0" bIns="0" rtlCol="0" anchor="ctr"/>
          <a:lstStyle/>
          <a:p>
            <a:pPr algn="ctr" indent="0" marL="0">
              <a:buNone/>
            </a:pPr>
            <a:r>
              <a:rPr lang="en-US" sz="1266" dirty="0">
                <a:solidFill>
                  <a:srgbClr val="059669"/>
                </a:solidFill>
                <a:latin typeface="Segoe UI Symbol" pitchFamily="34" charset="0"/>
                <a:ea typeface="Segoe UI Symbol" pitchFamily="34" charset="-122"/>
                <a:cs typeface="Segoe UI Symbol" pitchFamily="34" charset="-120"/>
              </a:rPr>
              <a:t>✓</a:t>
            </a:r>
            <a:endParaRPr lang="en-US" sz="1266" dirty="0"/>
          </a:p>
        </p:txBody>
      </p:sp>
      <p:sp>
        <p:nvSpPr>
          <p:cNvPr id="69" name="Text 65"/>
          <p:cNvSpPr/>
          <p:nvPr/>
        </p:nvSpPr>
        <p:spPr>
          <a:xfrm>
            <a:off x="4957763" y="3216473"/>
            <a:ext cx="477488" cy="144661"/>
          </a:xfrm>
          <a:prstGeom prst="rect">
            <a:avLst/>
          </a:prstGeom>
          <a:noFill/>
          <a:ln/>
        </p:spPr>
        <p:txBody>
          <a:bodyPr wrap="none" lIns="0" tIns="0" rIns="0" bIns="0" rtlCol="0" anchor="t"/>
          <a:lstStyle/>
          <a:p>
            <a:pPr algn="l" indent="0" marL="0">
              <a:lnSpc>
                <a:spcPts val="1139"/>
              </a:lnSpc>
              <a:buNone/>
            </a:pPr>
            <a:r>
              <a:rPr lang="en-US" sz="800" dirty="0">
                <a:solidFill>
                  <a:srgbClr val="065F46"/>
                </a:solidFill>
                <a:latin typeface="Carlito" pitchFamily="34" charset="0"/>
                <a:ea typeface="Carlito" pitchFamily="34" charset="-122"/>
                <a:cs typeface="Carlito" pitchFamily="34" charset="-120"/>
              </a:rPr>
              <a:t>blocked</a:t>
            </a:r>
            <a:endParaRPr lang="en-US" sz="800" dirty="0"/>
          </a:p>
        </p:txBody>
      </p:sp>
      <p:sp>
        <p:nvSpPr>
          <p:cNvPr id="70" name="Text 66"/>
          <p:cNvSpPr/>
          <p:nvPr/>
        </p:nvSpPr>
        <p:spPr>
          <a:xfrm>
            <a:off x="5416525" y="3224510"/>
            <a:ext cx="3091681" cy="136624"/>
          </a:xfrm>
          <a:prstGeom prst="rect">
            <a:avLst/>
          </a:prstGeom>
          <a:noFill/>
          <a:ln/>
        </p:spPr>
        <p:txBody>
          <a:bodyPr wrap="none" lIns="0" tIns="0" rIns="0" bIns="0" rtlCol="0" anchor="t"/>
          <a:lstStyle/>
          <a:p>
            <a:pPr algn="l" indent="0" marL="0">
              <a:lnSpc>
                <a:spcPts val="1013"/>
              </a:lnSpc>
              <a:buNone/>
            </a:pPr>
            <a:r>
              <a:rPr lang="en-US" sz="800" dirty="0">
                <a:solidFill>
                  <a:srgbClr val="64748B"/>
                </a:solidFill>
                <a:latin typeface="Courier New" pitchFamily="34" charset="0"/>
                <a:ea typeface="Courier New" pitchFamily="34" charset="-122"/>
                <a:cs typeface="Courier New" pitchFamily="34" charset="-120"/>
              </a:rPr>
              <a:t>— collapse whitespace</a:t>
            </a:r>
            <a:endParaRPr lang="en-US" sz="800" dirty="0"/>
          </a:p>
        </p:txBody>
      </p:sp>
      <p:pic>
        <p:nvPicPr>
          <p:cNvPr id="71" name="Image 2" descr="preencoded.png">    </p:cNvPr>
          <p:cNvPicPr>
            <a:picLocks noChangeAspect="1"/>
          </p:cNvPicPr>
          <p:nvPr/>
        </p:nvPicPr>
        <p:blipFill>
          <a:blip r:embed="rId3"/>
          <a:stretch>
            <a:fillRect/>
          </a:stretch>
        </p:blipFill>
        <p:spPr>
          <a:xfrm>
            <a:off x="2713509" y="3625453"/>
            <a:ext cx="3716871" cy="346472"/>
          </a:xfrm>
          <a:prstGeom prst="rect">
            <a:avLst/>
          </a:prstGeom>
        </p:spPr>
      </p:pic>
      <p:sp>
        <p:nvSpPr>
          <p:cNvPr id="72" name="Text 67"/>
          <p:cNvSpPr/>
          <p:nvPr/>
        </p:nvSpPr>
        <p:spPr>
          <a:xfrm>
            <a:off x="2717081" y="3629025"/>
            <a:ext cx="3709727" cy="339328"/>
          </a:xfrm>
          <a:prstGeom prst="roundRect">
            <a:avLst>
              <a:gd name="adj" fmla="val 28067379"/>
            </a:avLst>
          </a:prstGeom>
          <a:noFill/>
          <a:ln w="7144">
            <a:solidFill>
              <a:srgbClr val="7C3AED"/>
            </a:solidFill>
            <a:prstDash val="solid"/>
          </a:ln>
        </p:spPr>
        <p:txBody>
          <a:bodyPr wrap="square" rtlCol="0" anchor="ctr"/>
          <a:lstStyle/>
          <a:p>
            <a:pPr indent="0" marL="0">
              <a:buNone/>
            </a:pPr>
            <a:endParaRPr lang="en-US" dirty="0"/>
          </a:p>
        </p:txBody>
      </p:sp>
      <p:sp>
        <p:nvSpPr>
          <p:cNvPr id="73" name="Text 68"/>
          <p:cNvSpPr/>
          <p:nvPr/>
        </p:nvSpPr>
        <p:spPr>
          <a:xfrm>
            <a:off x="2892103" y="3727252"/>
            <a:ext cx="142875" cy="142875"/>
          </a:xfrm>
          <a:prstGeom prst="rect">
            <a:avLst/>
          </a:prstGeom>
          <a:noFill/>
          <a:ln/>
        </p:spPr>
        <p:txBody>
          <a:bodyPr wrap="none" lIns="0" tIns="0" rIns="0" bIns="0" rtlCol="0" anchor="ctr"/>
          <a:lstStyle/>
          <a:p>
            <a:pPr algn="ctr" indent="0" marL="0">
              <a:buNone/>
            </a:pPr>
            <a:r>
              <a:rPr lang="en-US" sz="1406" dirty="0">
                <a:solidFill>
                  <a:srgbClr val="7C3AED"/>
                </a:solidFill>
                <a:latin typeface="Segoe UI Symbol" pitchFamily="34" charset="0"/>
                <a:ea typeface="Segoe UI Symbol" pitchFamily="34" charset="-122"/>
                <a:cs typeface="Segoe UI Symbol" pitchFamily="34" charset="-120"/>
              </a:rPr>
              <a:t>⛨</a:t>
            </a:r>
            <a:endParaRPr lang="en-US" sz="1406" dirty="0"/>
          </a:p>
        </p:txBody>
      </p:sp>
      <p:sp>
        <p:nvSpPr>
          <p:cNvPr id="74" name="Text 69"/>
          <p:cNvSpPr/>
          <p:nvPr/>
        </p:nvSpPr>
        <p:spPr>
          <a:xfrm>
            <a:off x="3120703" y="3718322"/>
            <a:ext cx="3131083" cy="160734"/>
          </a:xfrm>
          <a:prstGeom prst="rect">
            <a:avLst/>
          </a:prstGeom>
          <a:noFill/>
          <a:ln/>
        </p:spPr>
        <p:txBody>
          <a:bodyPr wrap="square" lIns="0" tIns="0" rIns="0" bIns="0" rtlCol="0" anchor="t"/>
          <a:lstStyle/>
          <a:p>
            <a:pPr algn="l" indent="0" marL="0">
              <a:lnSpc>
                <a:spcPts val="1266"/>
              </a:lnSpc>
              <a:buNone/>
            </a:pPr>
            <a:r>
              <a:rPr lang="en-US" sz="844" dirty="0">
                <a:solidFill>
                  <a:srgbClr val="7C3AED"/>
                </a:solidFill>
                <a:latin typeface="Liberation Sans Narrow" pitchFamily="34" charset="0"/>
                <a:ea typeface="Liberation Sans Narrow" pitchFamily="34" charset="-122"/>
                <a:cs typeface="Liberation Sans Narrow" pitchFamily="34" charset="-120"/>
              </a:rPr>
              <a:t>8</a:t>
            </a:r>
            <a:pPr algn="l" indent="0" marL="0">
              <a:lnSpc>
                <a:spcPts val="1266"/>
              </a:lnSpc>
              <a:buNone/>
            </a:pPr>
            <a:r>
              <a:rPr lang="en-US" sz="844" dirty="0">
                <a:solidFill>
                  <a:srgbClr val="1E1932"/>
                </a:solidFill>
                <a:latin typeface="Carlito" pitchFamily="34" charset="0"/>
                <a:ea typeface="Carlito" pitchFamily="34" charset="-122"/>
                <a:cs typeface="Carlito" pitchFamily="34" charset="-120"/>
              </a:rPr>
              <a:t> evasion techniques defeated · </a:t>
            </a:r>
            <a:pPr algn="l" indent="0" marL="0">
              <a:lnSpc>
                <a:spcPts val="1266"/>
              </a:lnSpc>
              <a:buNone/>
            </a:pPr>
            <a:r>
              <a:rPr lang="en-US" sz="844" dirty="0">
                <a:solidFill>
                  <a:srgbClr val="EC4899"/>
                </a:solidFill>
                <a:latin typeface="Liberation Sans Narrow" pitchFamily="34" charset="0"/>
                <a:ea typeface="Liberation Sans Narrow" pitchFamily="34" charset="-122"/>
                <a:cs typeface="Liberation Sans Narrow" pitchFamily="34" charset="-120"/>
              </a:rPr>
              <a:t>28/28</a:t>
            </a:r>
            <a:pPr algn="l" indent="0" marL="0">
              <a:lnSpc>
                <a:spcPts val="1266"/>
              </a:lnSpc>
              <a:buNone/>
            </a:pPr>
            <a:r>
              <a:rPr lang="en-US" sz="844" dirty="0">
                <a:solidFill>
                  <a:srgbClr val="1E1932"/>
                </a:solidFill>
                <a:latin typeface="Carlito" pitchFamily="34" charset="0"/>
                <a:ea typeface="Carlito" pitchFamily="34" charset="-122"/>
                <a:cs typeface="Carlito" pitchFamily="34" charset="-120"/>
              </a:rPr>
              <a:t> tests passing</a:t>
            </a:r>
            <a:endParaRPr lang="en-US" sz="844"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0" b="0"/>
          <a:stretch/>
        </p:blipFill>
        <p:spPr>
          <a:xfrm>
            <a:off x="0" y="0"/>
            <a:ext cx="9144000" cy="5143500"/>
          </a:xfrm>
          <a:prstGeom prst="rect">
            <a:avLst/>
          </a:prstGeom>
        </p:spPr>
      </p:pic>
      <p:pic>
        <p:nvPicPr>
          <p:cNvPr id="3" name="Image 1" descr="preencoded.png">    </p:cNvPr>
          <p:cNvPicPr>
            <a:picLocks noChangeAspect="1"/>
          </p:cNvPicPr>
          <p:nvPr/>
        </p:nvPicPr>
        <p:blipFill>
          <a:blip r:embed="rId2"/>
          <a:stretch>
            <a:fillRect/>
          </a:stretch>
        </p:blipFill>
        <p:spPr>
          <a:xfrm>
            <a:off x="0" y="0"/>
            <a:ext cx="9144000" cy="5143500"/>
          </a:xfrm>
          <a:prstGeom prst="rect">
            <a:avLst/>
          </a:prstGeom>
        </p:spPr>
      </p:pic>
      <p:sp>
        <p:nvSpPr>
          <p:cNvPr id="4" name="Text 0"/>
          <p:cNvSpPr/>
          <p:nvPr/>
        </p:nvSpPr>
        <p:spPr>
          <a:xfrm>
            <a:off x="434340" y="391335"/>
            <a:ext cx="1249330" cy="196025"/>
          </a:xfrm>
          <a:prstGeom prst="roundRect">
            <a:avLst>
              <a:gd name="adj" fmla="val 4854215"/>
            </a:avLst>
          </a:prstGeom>
          <a:solidFill>
            <a:srgbClr val="EDE9FE"/>
          </a:solidFill>
          <a:ln/>
        </p:spPr>
        <p:txBody>
          <a:bodyPr wrap="square" rtlCol="0" anchor="ctr"/>
          <a:lstStyle/>
          <a:p>
            <a:pPr indent="0" marL="0">
              <a:buNone/>
            </a:pPr>
            <a:endParaRPr lang="en-US" dirty="0"/>
          </a:p>
        </p:txBody>
      </p:sp>
      <p:sp>
        <p:nvSpPr>
          <p:cNvPr id="5" name="Text 1"/>
          <p:cNvSpPr/>
          <p:nvPr/>
        </p:nvSpPr>
        <p:spPr>
          <a:xfrm>
            <a:off x="678656" y="437555"/>
            <a:ext cx="896429" cy="129679"/>
          </a:xfrm>
          <a:prstGeom prst="rect">
            <a:avLst/>
          </a:prstGeom>
          <a:noFill/>
          <a:ln/>
        </p:spPr>
        <p:txBody>
          <a:bodyPr wrap="none" lIns="0" tIns="0" rIns="0" bIns="0" rtlCol="0" anchor="t"/>
          <a:lstStyle/>
          <a:p>
            <a:pPr algn="l" indent="0" marL="0">
              <a:lnSpc>
                <a:spcPts val="928"/>
              </a:lnSpc>
              <a:buNone/>
            </a:pPr>
            <a:r>
              <a:rPr lang="en-US" sz="619" spc="25" kern="0" dirty="0">
                <a:solidFill>
                  <a:srgbClr val="7C3AED"/>
                </a:solidFill>
                <a:latin typeface="Liberation Sans Narrow" pitchFamily="34" charset="0"/>
                <a:ea typeface="Liberation Sans Narrow" pitchFamily="34" charset="-122"/>
                <a:cs typeface="Liberation Sans Narrow" pitchFamily="34" charset="-120"/>
              </a:rPr>
              <a:t>PHASE 6 · RESULTS</a:t>
            </a:r>
            <a:endParaRPr lang="en-US" sz="619" dirty="0"/>
          </a:p>
        </p:txBody>
      </p:sp>
      <p:sp>
        <p:nvSpPr>
          <p:cNvPr id="6" name="Text 2"/>
          <p:cNvSpPr/>
          <p:nvPr/>
        </p:nvSpPr>
        <p:spPr>
          <a:xfrm>
            <a:off x="542925" y="442913"/>
            <a:ext cx="92869" cy="92869"/>
          </a:xfrm>
          <a:prstGeom prst="rect">
            <a:avLst/>
          </a:prstGeom>
          <a:noFill/>
          <a:ln/>
        </p:spPr>
        <p:txBody>
          <a:bodyPr wrap="none" lIns="0" tIns="0" rIns="0" bIns="0" rtlCol="0" anchor="ctr"/>
          <a:lstStyle/>
          <a:p>
            <a:pPr algn="ctr" indent="0" marL="0">
              <a:buNone/>
            </a:pPr>
            <a:r>
              <a:rPr lang="en-US" sz="914" dirty="0">
                <a:solidFill>
                  <a:srgbClr val="7C3AED"/>
                </a:solidFill>
                <a:latin typeface="Segoe UI Symbol" pitchFamily="34" charset="0"/>
                <a:ea typeface="Segoe UI Symbol" pitchFamily="34" charset="-122"/>
                <a:cs typeface="Segoe UI Symbol" pitchFamily="34" charset="-120"/>
              </a:rPr>
              <a:t>▦</a:t>
            </a:r>
            <a:endParaRPr lang="en-US" sz="914" dirty="0"/>
          </a:p>
        </p:txBody>
      </p:sp>
      <p:sp>
        <p:nvSpPr>
          <p:cNvPr id="7" name="Text 3"/>
          <p:cNvSpPr/>
          <p:nvPr/>
        </p:nvSpPr>
        <p:spPr>
          <a:xfrm>
            <a:off x="457200" y="662583"/>
            <a:ext cx="1540621" cy="370332"/>
          </a:xfrm>
          <a:prstGeom prst="rect">
            <a:avLst/>
          </a:prstGeom>
          <a:noFill/>
          <a:ln/>
        </p:spPr>
        <p:txBody>
          <a:bodyPr wrap="none" lIns="0" tIns="0" rIns="0" bIns="0" rtlCol="0" anchor="t"/>
          <a:lstStyle/>
          <a:p>
            <a:pPr algn="l" indent="0" marL="0">
              <a:lnSpc>
                <a:spcPts val="2700"/>
              </a:lnSpc>
              <a:buNone/>
            </a:pPr>
            <a:r>
              <a:rPr lang="en-US" sz="1800" b="1" spc="-18" kern="0" dirty="0">
                <a:solidFill>
                  <a:srgbClr val="7C3AED"/>
                </a:solidFill>
                <a:latin typeface="Carlito" pitchFamily="34" charset="0"/>
                <a:ea typeface="Carlito" pitchFamily="34" charset="-122"/>
                <a:cs typeface="Carlito" pitchFamily="34" charset="-120"/>
              </a:rPr>
              <a:t>Results</a:t>
            </a:r>
            <a:endParaRPr lang="en-US" sz="1800" dirty="0"/>
          </a:p>
        </p:txBody>
      </p:sp>
      <p:sp>
        <p:nvSpPr>
          <p:cNvPr id="8" name="Text 4"/>
          <p:cNvSpPr/>
          <p:nvPr/>
        </p:nvSpPr>
        <p:spPr>
          <a:xfrm>
            <a:off x="7703819" y="428625"/>
            <a:ext cx="982981" cy="104727"/>
          </a:xfrm>
          <a:prstGeom prst="rect">
            <a:avLst/>
          </a:prstGeom>
          <a:noFill/>
          <a:ln/>
        </p:spPr>
        <p:txBody>
          <a:bodyPr wrap="none" lIns="0" tIns="0" rIns="0" bIns="0" rtlCol="0" anchor="t">
            <a:normAutofit/>
          </a:bodyPr>
          <a:lstStyle/>
          <a:p>
            <a:pPr algn="r" indent="0" marL="0">
              <a:lnSpc>
                <a:spcPts val="928"/>
              </a:lnSpc>
              <a:buNone/>
            </a:pPr>
            <a:r>
              <a:rPr lang="en-US" sz="800" dirty="0">
                <a:solidFill>
                  <a:srgbClr val="94A3B8"/>
                </a:solidFill>
                <a:latin typeface="Courier New" pitchFamily="34" charset="0"/>
                <a:ea typeface="Courier New" pitchFamily="34" charset="-122"/>
                <a:cs typeface="Courier New" pitchFamily="34" charset="-120"/>
              </a:rPr>
              <a:t>TEST SUITE</a:t>
            </a:r>
            <a:endParaRPr lang="en-US" sz="800" dirty="0"/>
          </a:p>
        </p:txBody>
      </p:sp>
      <p:sp>
        <p:nvSpPr>
          <p:cNvPr id="9" name="Text 5"/>
          <p:cNvSpPr/>
          <p:nvPr/>
        </p:nvSpPr>
        <p:spPr>
          <a:xfrm>
            <a:off x="7703819" y="560784"/>
            <a:ext cx="982981" cy="164592"/>
          </a:xfrm>
          <a:prstGeom prst="rect">
            <a:avLst/>
          </a:prstGeom>
          <a:noFill/>
          <a:ln/>
        </p:spPr>
        <p:txBody>
          <a:bodyPr wrap="none" lIns="0" tIns="0" rIns="0" bIns="0" rtlCol="0" anchor="t"/>
          <a:lstStyle/>
          <a:p>
            <a:pPr algn="r" indent="0" marL="0">
              <a:lnSpc>
                <a:spcPts val="1097"/>
              </a:lnSpc>
              <a:buNone/>
            </a:pPr>
            <a:r>
              <a:rPr lang="en-US" sz="800" dirty="0">
                <a:solidFill>
                  <a:srgbClr val="10B981"/>
                </a:solidFill>
                <a:latin typeface="Liberation Sans Narrow" pitchFamily="34" charset="0"/>
                <a:ea typeface="Liberation Sans Narrow" pitchFamily="34" charset="-122"/>
                <a:cs typeface="Liberation Sans Narrow" pitchFamily="34" charset="-120"/>
              </a:rPr>
              <a:t>28 / 28 passing</a:t>
            </a:r>
            <a:endParaRPr lang="en-US" sz="800" dirty="0"/>
          </a:p>
        </p:txBody>
      </p:sp>
      <p:sp>
        <p:nvSpPr>
          <p:cNvPr id="10" name="Text 6"/>
          <p:cNvSpPr/>
          <p:nvPr/>
        </p:nvSpPr>
        <p:spPr>
          <a:xfrm>
            <a:off x="460772" y="1151930"/>
            <a:ext cx="2659819" cy="835819"/>
          </a:xfrm>
          <a:prstGeom prst="roundRect">
            <a:avLst>
              <a:gd name="adj" fmla="val 18234"/>
            </a:avLst>
          </a:prstGeom>
          <a:solidFill>
            <a:srgbClr val="FFFFFF"/>
          </a:solidFill>
          <a:ln w="7144">
            <a:solidFill>
              <a:srgbClr val="7C3AED"/>
            </a:solidFill>
            <a:prstDash val="solid"/>
          </a:ln>
          <a:effectLst>
            <a:outerShdw sx="100000" sy="100000" kx="0" ky="0" algn="bl" rotWithShape="0" blurRad="114300" dist="19050" dir="5400000">
              <a:srgbClr val="7C3AED">
                <a:alpha val="6000"/>
              </a:srgbClr>
            </a:outerShdw>
          </a:effectLst>
        </p:spPr>
        <p:txBody>
          <a:bodyPr wrap="square" rtlCol="0" anchor="ctr"/>
          <a:lstStyle/>
          <a:p>
            <a:pPr indent="0" marL="0">
              <a:buNone/>
            </a:pPr>
            <a:endParaRPr lang="en-US" dirty="0"/>
          </a:p>
        </p:txBody>
      </p:sp>
      <p:sp>
        <p:nvSpPr>
          <p:cNvPr id="11" name="Text 7"/>
          <p:cNvSpPr/>
          <p:nvPr/>
        </p:nvSpPr>
        <p:spPr>
          <a:xfrm>
            <a:off x="621506" y="1324273"/>
            <a:ext cx="2338350" cy="329756"/>
          </a:xfrm>
          <a:prstGeom prst="rect">
            <a:avLst/>
          </a:prstGeom>
          <a:noFill/>
          <a:ln/>
        </p:spPr>
        <p:txBody>
          <a:bodyPr wrap="none" lIns="0" tIns="0" rIns="0" bIns="0" rtlCol="0" anchor="t">
            <a:normAutofit/>
          </a:bodyPr>
          <a:lstStyle/>
          <a:p>
            <a:pPr algn="l" indent="0" marL="0">
              <a:lnSpc>
                <a:spcPts val="2475"/>
              </a:lnSpc>
              <a:buNone/>
            </a:pPr>
            <a:r>
              <a:rPr lang="en-US" sz="2475" b="1" dirty="0">
                <a:solidFill>
                  <a:srgbClr val="7C3AED"/>
                </a:solidFill>
                <a:latin typeface="Liberation Sans Narrow" pitchFamily="34" charset="0"/>
                <a:ea typeface="Liberation Sans Narrow" pitchFamily="34" charset="-122"/>
                <a:cs typeface="Liberation Sans Narrow" pitchFamily="34" charset="-120"/>
              </a:rPr>
              <a:t>50+</a:t>
            </a:r>
            <a:endParaRPr lang="en-US" sz="2475" dirty="0"/>
          </a:p>
        </p:txBody>
      </p:sp>
      <p:sp>
        <p:nvSpPr>
          <p:cNvPr id="12" name="Text 8"/>
          <p:cNvSpPr/>
          <p:nvPr/>
        </p:nvSpPr>
        <p:spPr>
          <a:xfrm>
            <a:off x="621506" y="1681460"/>
            <a:ext cx="2448078" cy="164592"/>
          </a:xfrm>
          <a:prstGeom prst="rect">
            <a:avLst/>
          </a:prstGeom>
          <a:noFill/>
          <a:ln/>
        </p:spPr>
        <p:txBody>
          <a:bodyPr wrap="square" lIns="0" tIns="0" rIns="0" bIns="0" rtlCol="0" anchor="t"/>
          <a:lstStyle/>
          <a:p>
            <a:pPr algn="l" indent="0" marL="0">
              <a:lnSpc>
                <a:spcPts val="1055"/>
              </a:lnSpc>
              <a:buNone/>
            </a:pPr>
            <a:r>
              <a:rPr lang="en-US" sz="800" dirty="0">
                <a:solidFill>
                  <a:srgbClr val="475569"/>
                </a:solidFill>
                <a:latin typeface="Carlito" pitchFamily="34" charset="0"/>
                <a:ea typeface="Carlito" pitchFamily="34" charset="-122"/>
                <a:cs typeface="Carlito" pitchFamily="34" charset="-120"/>
              </a:rPr>
              <a:t>regex rules across </a:t>
            </a:r>
            <a:pPr algn="l" indent="0" marL="0">
              <a:lnSpc>
                <a:spcPts val="1055"/>
              </a:lnSpc>
              <a:buNone/>
            </a:pPr>
            <a:r>
              <a:rPr lang="en-US" sz="800" dirty="0">
                <a:solidFill>
                  <a:srgbClr val="334155"/>
                </a:solidFill>
                <a:latin typeface="Liberation Sans Narrow" pitchFamily="34" charset="0"/>
                <a:ea typeface="Liberation Sans Narrow" pitchFamily="34" charset="-122"/>
                <a:cs typeface="Liberation Sans Narrow" pitchFamily="34" charset="-120"/>
              </a:rPr>
              <a:t>4 attack families</a:t>
            </a:r>
            <a:endParaRPr lang="en-US" sz="800" dirty="0"/>
          </a:p>
        </p:txBody>
      </p:sp>
      <p:sp>
        <p:nvSpPr>
          <p:cNvPr id="13" name="Text 9"/>
          <p:cNvSpPr/>
          <p:nvPr/>
        </p:nvSpPr>
        <p:spPr>
          <a:xfrm>
            <a:off x="3242035" y="1151930"/>
            <a:ext cx="2659819" cy="835819"/>
          </a:xfrm>
          <a:prstGeom prst="roundRect">
            <a:avLst>
              <a:gd name="adj" fmla="val 18234"/>
            </a:avLst>
          </a:prstGeom>
          <a:solidFill>
            <a:srgbClr val="FFFFFF"/>
          </a:solidFill>
          <a:ln w="7144">
            <a:solidFill>
              <a:srgbClr val="7C3AED"/>
            </a:solidFill>
            <a:prstDash val="solid"/>
          </a:ln>
          <a:effectLst>
            <a:outerShdw sx="100000" sy="100000" kx="0" ky="0" algn="bl" rotWithShape="0" blurRad="114300" dist="19050" dir="5400000">
              <a:srgbClr val="7C3AED">
                <a:alpha val="6000"/>
              </a:srgbClr>
            </a:outerShdw>
          </a:effectLst>
        </p:spPr>
        <p:txBody>
          <a:bodyPr wrap="square" rtlCol="0" anchor="ctr"/>
          <a:lstStyle/>
          <a:p>
            <a:pPr indent="0" marL="0">
              <a:buNone/>
            </a:pPr>
            <a:endParaRPr lang="en-US" dirty="0"/>
          </a:p>
        </p:txBody>
      </p:sp>
      <p:sp>
        <p:nvSpPr>
          <p:cNvPr id="14" name="Text 10"/>
          <p:cNvSpPr/>
          <p:nvPr/>
        </p:nvSpPr>
        <p:spPr>
          <a:xfrm>
            <a:off x="3402769" y="1324273"/>
            <a:ext cx="2338350" cy="329756"/>
          </a:xfrm>
          <a:prstGeom prst="rect">
            <a:avLst/>
          </a:prstGeom>
          <a:noFill/>
          <a:ln/>
        </p:spPr>
        <p:txBody>
          <a:bodyPr wrap="none" lIns="0" tIns="0" rIns="0" bIns="0" rtlCol="0" anchor="t">
            <a:normAutofit/>
          </a:bodyPr>
          <a:lstStyle/>
          <a:p>
            <a:pPr algn="l" indent="0" marL="0">
              <a:lnSpc>
                <a:spcPts val="2475"/>
              </a:lnSpc>
              <a:buNone/>
            </a:pPr>
            <a:r>
              <a:rPr lang="en-US" sz="2475" b="1" dirty="0">
                <a:solidFill>
                  <a:srgbClr val="EC4899"/>
                </a:solidFill>
                <a:latin typeface="Liberation Sans Narrow" pitchFamily="34" charset="0"/>
                <a:ea typeface="Liberation Sans Narrow" pitchFamily="34" charset="-122"/>
                <a:cs typeface="Liberation Sans Narrow" pitchFamily="34" charset="-120"/>
              </a:rPr>
              <a:t>8</a:t>
            </a:r>
            <a:endParaRPr lang="en-US" sz="2475" dirty="0"/>
          </a:p>
        </p:txBody>
      </p:sp>
      <p:sp>
        <p:nvSpPr>
          <p:cNvPr id="15" name="Text 11"/>
          <p:cNvSpPr/>
          <p:nvPr/>
        </p:nvSpPr>
        <p:spPr>
          <a:xfrm>
            <a:off x="3402769" y="1681460"/>
            <a:ext cx="2448078" cy="164592"/>
          </a:xfrm>
          <a:prstGeom prst="rect">
            <a:avLst/>
          </a:prstGeom>
          <a:noFill/>
          <a:ln/>
        </p:spPr>
        <p:txBody>
          <a:bodyPr wrap="square" lIns="0" tIns="0" rIns="0" bIns="0" rtlCol="0" anchor="t"/>
          <a:lstStyle/>
          <a:p>
            <a:pPr algn="l" indent="0" marL="0">
              <a:lnSpc>
                <a:spcPts val="1055"/>
              </a:lnSpc>
              <a:buNone/>
            </a:pPr>
            <a:r>
              <a:rPr lang="en-US" sz="800" dirty="0">
                <a:solidFill>
                  <a:srgbClr val="475569"/>
                </a:solidFill>
                <a:latin typeface="Carlito" pitchFamily="34" charset="0"/>
                <a:ea typeface="Carlito" pitchFamily="34" charset="-122"/>
                <a:cs typeface="Carlito" pitchFamily="34" charset="-120"/>
              </a:rPr>
              <a:t>evasion techniques defeated</a:t>
            </a:r>
            <a:endParaRPr lang="en-US" sz="800" dirty="0"/>
          </a:p>
        </p:txBody>
      </p:sp>
      <p:sp>
        <p:nvSpPr>
          <p:cNvPr id="16" name="Text 12"/>
          <p:cNvSpPr/>
          <p:nvPr/>
        </p:nvSpPr>
        <p:spPr>
          <a:xfrm>
            <a:off x="6023297" y="1151930"/>
            <a:ext cx="2659931" cy="835819"/>
          </a:xfrm>
          <a:prstGeom prst="roundRect">
            <a:avLst>
              <a:gd name="adj" fmla="val 18234"/>
            </a:avLst>
          </a:prstGeom>
          <a:solidFill>
            <a:srgbClr val="FFFFFF"/>
          </a:solidFill>
          <a:ln w="7144">
            <a:solidFill>
              <a:srgbClr val="7C3AED"/>
            </a:solidFill>
            <a:prstDash val="solid"/>
          </a:ln>
          <a:effectLst>
            <a:outerShdw sx="100000" sy="100000" kx="0" ky="0" algn="bl" rotWithShape="0" blurRad="114300" dist="19050" dir="5400000">
              <a:srgbClr val="7C3AED">
                <a:alpha val="6000"/>
              </a:srgbClr>
            </a:outerShdw>
          </a:effectLst>
        </p:spPr>
        <p:txBody>
          <a:bodyPr wrap="square" rtlCol="0" anchor="ctr"/>
          <a:lstStyle/>
          <a:p>
            <a:pPr indent="0" marL="0">
              <a:buNone/>
            </a:pPr>
            <a:endParaRPr lang="en-US" dirty="0"/>
          </a:p>
        </p:txBody>
      </p:sp>
      <p:sp>
        <p:nvSpPr>
          <p:cNvPr id="17" name="Text 13"/>
          <p:cNvSpPr/>
          <p:nvPr/>
        </p:nvSpPr>
        <p:spPr>
          <a:xfrm>
            <a:off x="6184032" y="1324273"/>
            <a:ext cx="2338462" cy="329756"/>
          </a:xfrm>
          <a:prstGeom prst="rect">
            <a:avLst/>
          </a:prstGeom>
          <a:noFill/>
          <a:ln/>
        </p:spPr>
        <p:txBody>
          <a:bodyPr wrap="none" lIns="0" tIns="0" rIns="0" bIns="0" rtlCol="0" anchor="t">
            <a:normAutofit/>
          </a:bodyPr>
          <a:lstStyle/>
          <a:p>
            <a:pPr algn="l" indent="0" marL="0">
              <a:lnSpc>
                <a:spcPts val="2475"/>
              </a:lnSpc>
              <a:buNone/>
            </a:pPr>
            <a:r>
              <a:rPr lang="en-US" sz="2475" b="1" dirty="0">
                <a:solidFill>
                  <a:srgbClr val="10B981"/>
                </a:solidFill>
                <a:latin typeface="Liberation Sans Narrow" pitchFamily="34" charset="0"/>
                <a:ea typeface="Liberation Sans Narrow" pitchFamily="34" charset="-122"/>
                <a:cs typeface="Liberation Sans Narrow" pitchFamily="34" charset="-120"/>
              </a:rPr>
              <a:t>28/28</a:t>
            </a:r>
            <a:endParaRPr lang="en-US" sz="2475" dirty="0"/>
          </a:p>
        </p:txBody>
      </p:sp>
      <p:sp>
        <p:nvSpPr>
          <p:cNvPr id="18" name="Text 14"/>
          <p:cNvSpPr/>
          <p:nvPr/>
        </p:nvSpPr>
        <p:spPr>
          <a:xfrm>
            <a:off x="6184032" y="1681460"/>
            <a:ext cx="2338462" cy="164592"/>
          </a:xfrm>
          <a:prstGeom prst="rect">
            <a:avLst/>
          </a:prstGeom>
          <a:noFill/>
          <a:ln/>
        </p:spPr>
        <p:txBody>
          <a:bodyPr wrap="none" lIns="0" tIns="0" rIns="0" bIns="0" rtlCol="0" anchor="t"/>
          <a:lstStyle/>
          <a:p>
            <a:pPr algn="l" indent="0" marL="0">
              <a:lnSpc>
                <a:spcPts val="1055"/>
              </a:lnSpc>
              <a:buNone/>
            </a:pPr>
            <a:r>
              <a:rPr lang="en-US" sz="800" dirty="0">
                <a:solidFill>
                  <a:srgbClr val="475569"/>
                </a:solidFill>
                <a:latin typeface="Carlito" pitchFamily="34" charset="0"/>
                <a:ea typeface="Carlito" pitchFamily="34" charset="-122"/>
                <a:cs typeface="Carlito" pitchFamily="34" charset="-120"/>
              </a:rPr>
              <a:t>automated tests passing</a:t>
            </a:r>
            <a:endParaRPr lang="en-US" sz="800" dirty="0"/>
          </a:p>
        </p:txBody>
      </p:sp>
      <p:sp>
        <p:nvSpPr>
          <p:cNvPr id="19" name="Text 15"/>
          <p:cNvSpPr/>
          <p:nvPr/>
        </p:nvSpPr>
        <p:spPr>
          <a:xfrm>
            <a:off x="460772" y="2109192"/>
            <a:ext cx="2659819" cy="835819"/>
          </a:xfrm>
          <a:prstGeom prst="roundRect">
            <a:avLst>
              <a:gd name="adj" fmla="val 18234"/>
            </a:avLst>
          </a:prstGeom>
          <a:solidFill>
            <a:srgbClr val="FFFFFF"/>
          </a:solidFill>
          <a:ln w="7144">
            <a:solidFill>
              <a:srgbClr val="7C3AED"/>
            </a:solidFill>
            <a:prstDash val="solid"/>
          </a:ln>
          <a:effectLst>
            <a:outerShdw sx="100000" sy="100000" kx="0" ky="0" algn="bl" rotWithShape="0" blurRad="114300" dist="19050" dir="5400000">
              <a:srgbClr val="7C3AED">
                <a:alpha val="6000"/>
              </a:srgbClr>
            </a:outerShdw>
          </a:effectLst>
        </p:spPr>
        <p:txBody>
          <a:bodyPr wrap="square" rtlCol="0" anchor="ctr"/>
          <a:lstStyle/>
          <a:p>
            <a:pPr indent="0" marL="0">
              <a:buNone/>
            </a:pPr>
            <a:endParaRPr lang="en-US" dirty="0"/>
          </a:p>
        </p:txBody>
      </p:sp>
      <p:sp>
        <p:nvSpPr>
          <p:cNvPr id="20" name="Text 16"/>
          <p:cNvSpPr/>
          <p:nvPr/>
        </p:nvSpPr>
        <p:spPr>
          <a:xfrm>
            <a:off x="621506" y="2281535"/>
            <a:ext cx="2338350" cy="329756"/>
          </a:xfrm>
          <a:prstGeom prst="rect">
            <a:avLst/>
          </a:prstGeom>
          <a:noFill/>
          <a:ln/>
        </p:spPr>
        <p:txBody>
          <a:bodyPr wrap="none" lIns="0" tIns="0" rIns="0" bIns="0" rtlCol="0" anchor="t">
            <a:normAutofit/>
          </a:bodyPr>
          <a:lstStyle/>
          <a:p>
            <a:pPr algn="l" indent="0" marL="0">
              <a:lnSpc>
                <a:spcPts val="2475"/>
              </a:lnSpc>
              <a:buNone/>
            </a:pPr>
            <a:r>
              <a:rPr lang="en-US" sz="2475" b="1" dirty="0">
                <a:solidFill>
                  <a:srgbClr val="F59E0B"/>
                </a:solidFill>
                <a:latin typeface="Liberation Sans Narrow" pitchFamily="34" charset="0"/>
                <a:ea typeface="Liberation Sans Narrow" pitchFamily="34" charset="-122"/>
                <a:cs typeface="Liberation Sans Narrow" pitchFamily="34" charset="-120"/>
              </a:rPr>
              <a:t>18</a:t>
            </a:r>
            <a:endParaRPr lang="en-US" sz="2475" dirty="0"/>
          </a:p>
        </p:txBody>
      </p:sp>
      <p:sp>
        <p:nvSpPr>
          <p:cNvPr id="21" name="Text 17"/>
          <p:cNvSpPr/>
          <p:nvPr/>
        </p:nvSpPr>
        <p:spPr>
          <a:xfrm>
            <a:off x="621506" y="2638723"/>
            <a:ext cx="2448078" cy="164592"/>
          </a:xfrm>
          <a:prstGeom prst="rect">
            <a:avLst/>
          </a:prstGeom>
          <a:noFill/>
          <a:ln/>
        </p:spPr>
        <p:txBody>
          <a:bodyPr wrap="square" lIns="0" tIns="0" rIns="0" bIns="0" rtlCol="0" anchor="t"/>
          <a:lstStyle/>
          <a:p>
            <a:pPr algn="l" indent="0" marL="0">
              <a:lnSpc>
                <a:spcPts val="1055"/>
              </a:lnSpc>
              <a:buNone/>
            </a:pPr>
            <a:r>
              <a:rPr lang="en-US" sz="800" dirty="0">
                <a:solidFill>
                  <a:srgbClr val="475569"/>
                </a:solidFill>
                <a:latin typeface="Carlito" pitchFamily="34" charset="0"/>
                <a:ea typeface="Carlito" pitchFamily="34" charset="-122"/>
                <a:cs typeface="Carlito" pitchFamily="34" charset="-120"/>
              </a:rPr>
              <a:t>demo users </a:t>
            </a:r>
            <a:pPr algn="l" indent="0" marL="0">
              <a:lnSpc>
                <a:spcPts val="1055"/>
              </a:lnSpc>
              <a:buNone/>
            </a:pPr>
            <a:r>
              <a:rPr lang="en-US" sz="800" dirty="0">
                <a:solidFill>
                  <a:srgbClr val="64748B"/>
                </a:solidFill>
                <a:latin typeface="Liberation Sans Narrow" pitchFamily="34" charset="0"/>
                <a:ea typeface="Liberation Sans Narrow" pitchFamily="34" charset="-122"/>
                <a:cs typeface="Liberation Sans Narrow" pitchFamily="34" charset="-120"/>
              </a:rPr>
              <a:t>(SHA-256 hashed)</a:t>
            </a:r>
            <a:endParaRPr lang="en-US" sz="800" dirty="0"/>
          </a:p>
        </p:txBody>
      </p:sp>
      <p:sp>
        <p:nvSpPr>
          <p:cNvPr id="22" name="Text 18"/>
          <p:cNvSpPr/>
          <p:nvPr/>
        </p:nvSpPr>
        <p:spPr>
          <a:xfrm>
            <a:off x="3242035" y="2109192"/>
            <a:ext cx="2659819" cy="835819"/>
          </a:xfrm>
          <a:prstGeom prst="roundRect">
            <a:avLst>
              <a:gd name="adj" fmla="val 18234"/>
            </a:avLst>
          </a:prstGeom>
          <a:solidFill>
            <a:srgbClr val="FFFFFF"/>
          </a:solidFill>
          <a:ln w="7144">
            <a:solidFill>
              <a:srgbClr val="7C3AED"/>
            </a:solidFill>
            <a:prstDash val="solid"/>
          </a:ln>
          <a:effectLst>
            <a:outerShdw sx="100000" sy="100000" kx="0" ky="0" algn="bl" rotWithShape="0" blurRad="114300" dist="19050" dir="5400000">
              <a:srgbClr val="7C3AED">
                <a:alpha val="6000"/>
              </a:srgbClr>
            </a:outerShdw>
          </a:effectLst>
        </p:spPr>
        <p:txBody>
          <a:bodyPr wrap="square" rtlCol="0" anchor="ctr"/>
          <a:lstStyle/>
          <a:p>
            <a:pPr indent="0" marL="0">
              <a:buNone/>
            </a:pPr>
            <a:endParaRPr lang="en-US" dirty="0"/>
          </a:p>
        </p:txBody>
      </p:sp>
      <p:sp>
        <p:nvSpPr>
          <p:cNvPr id="23" name="Text 19"/>
          <p:cNvSpPr/>
          <p:nvPr/>
        </p:nvSpPr>
        <p:spPr>
          <a:xfrm>
            <a:off x="3402769" y="2281535"/>
            <a:ext cx="2338350" cy="329756"/>
          </a:xfrm>
          <a:prstGeom prst="rect">
            <a:avLst/>
          </a:prstGeom>
          <a:noFill/>
          <a:ln/>
        </p:spPr>
        <p:txBody>
          <a:bodyPr wrap="none" lIns="0" tIns="0" rIns="0" bIns="0" rtlCol="0" anchor="t">
            <a:normAutofit/>
          </a:bodyPr>
          <a:lstStyle/>
          <a:p>
            <a:pPr algn="l" indent="0" marL="0">
              <a:lnSpc>
                <a:spcPts val="2475"/>
              </a:lnSpc>
              <a:buNone/>
            </a:pPr>
            <a:r>
              <a:rPr lang="en-US" sz="2475" b="1" dirty="0">
                <a:solidFill>
                  <a:srgbClr val="0EA5E9"/>
                </a:solidFill>
                <a:latin typeface="Liberation Sans Narrow" pitchFamily="34" charset="0"/>
                <a:ea typeface="Liberation Sans Narrow" pitchFamily="34" charset="-122"/>
                <a:cs typeface="Liberation Sans Narrow" pitchFamily="34" charset="-120"/>
              </a:rPr>
              <a:t>500</a:t>
            </a:r>
            <a:endParaRPr lang="en-US" sz="2475" dirty="0"/>
          </a:p>
        </p:txBody>
      </p:sp>
      <p:sp>
        <p:nvSpPr>
          <p:cNvPr id="24" name="Text 20"/>
          <p:cNvSpPr/>
          <p:nvPr/>
        </p:nvSpPr>
        <p:spPr>
          <a:xfrm>
            <a:off x="3402769" y="2638723"/>
            <a:ext cx="2448078" cy="164592"/>
          </a:xfrm>
          <a:prstGeom prst="rect">
            <a:avLst/>
          </a:prstGeom>
          <a:noFill/>
          <a:ln/>
        </p:spPr>
        <p:txBody>
          <a:bodyPr wrap="square" lIns="0" tIns="0" rIns="0" bIns="0" rtlCol="0" anchor="t"/>
          <a:lstStyle/>
          <a:p>
            <a:pPr algn="l" indent="0" marL="0">
              <a:lnSpc>
                <a:spcPts val="1055"/>
              </a:lnSpc>
              <a:buNone/>
            </a:pPr>
            <a:r>
              <a:rPr lang="en-US" sz="800" dirty="0">
                <a:solidFill>
                  <a:srgbClr val="475569"/>
                </a:solidFill>
                <a:latin typeface="Carlito" pitchFamily="34" charset="0"/>
                <a:ea typeface="Carlito" pitchFamily="34" charset="-122"/>
                <a:cs typeface="Carlito" pitchFamily="34" charset="-120"/>
              </a:rPr>
              <a:t>events cached in-memory ring buffer</a:t>
            </a:r>
            <a:endParaRPr lang="en-US" sz="800" dirty="0"/>
          </a:p>
        </p:txBody>
      </p:sp>
      <p:sp>
        <p:nvSpPr>
          <p:cNvPr id="25" name="Text 21"/>
          <p:cNvSpPr/>
          <p:nvPr/>
        </p:nvSpPr>
        <p:spPr>
          <a:xfrm>
            <a:off x="6023297" y="2109192"/>
            <a:ext cx="2659931" cy="835819"/>
          </a:xfrm>
          <a:prstGeom prst="roundRect">
            <a:avLst>
              <a:gd name="adj" fmla="val 18234"/>
            </a:avLst>
          </a:prstGeom>
          <a:solidFill>
            <a:srgbClr val="FFFFFF"/>
          </a:solidFill>
          <a:ln w="7144">
            <a:solidFill>
              <a:srgbClr val="7C3AED"/>
            </a:solidFill>
            <a:prstDash val="solid"/>
          </a:ln>
          <a:effectLst>
            <a:outerShdw sx="100000" sy="100000" kx="0" ky="0" algn="bl" rotWithShape="0" blurRad="114300" dist="19050" dir="5400000">
              <a:srgbClr val="7C3AED">
                <a:alpha val="6000"/>
              </a:srgbClr>
            </a:outerShdw>
          </a:effectLst>
        </p:spPr>
        <p:txBody>
          <a:bodyPr wrap="square" rtlCol="0" anchor="ctr"/>
          <a:lstStyle/>
          <a:p>
            <a:pPr indent="0" marL="0">
              <a:buNone/>
            </a:pPr>
            <a:endParaRPr lang="en-US" dirty="0"/>
          </a:p>
        </p:txBody>
      </p:sp>
      <p:sp>
        <p:nvSpPr>
          <p:cNvPr id="26" name="Text 22"/>
          <p:cNvSpPr/>
          <p:nvPr/>
        </p:nvSpPr>
        <p:spPr>
          <a:xfrm>
            <a:off x="6184032" y="2281535"/>
            <a:ext cx="2338462" cy="329756"/>
          </a:xfrm>
          <a:prstGeom prst="rect">
            <a:avLst/>
          </a:prstGeom>
          <a:noFill/>
          <a:ln/>
        </p:spPr>
        <p:txBody>
          <a:bodyPr wrap="none" lIns="0" tIns="0" rIns="0" bIns="0" rtlCol="0" anchor="t">
            <a:normAutofit/>
          </a:bodyPr>
          <a:lstStyle/>
          <a:p>
            <a:pPr algn="l" indent="0" marL="0">
              <a:lnSpc>
                <a:spcPts val="2475"/>
              </a:lnSpc>
              <a:buNone/>
            </a:pPr>
            <a:r>
              <a:rPr lang="en-US" sz="2475" b="1" dirty="0">
                <a:solidFill>
                  <a:srgbClr val="F43F5E"/>
                </a:solidFill>
                <a:latin typeface="Liberation Sans Narrow" pitchFamily="34" charset="0"/>
                <a:ea typeface="Liberation Sans Narrow" pitchFamily="34" charset="-122"/>
                <a:cs typeface="Liberation Sans Narrow" pitchFamily="34" charset="-120"/>
              </a:rPr>
              <a:t>5</a:t>
            </a:r>
            <a:endParaRPr lang="en-US" sz="2475" dirty="0"/>
          </a:p>
        </p:txBody>
      </p:sp>
      <p:sp>
        <p:nvSpPr>
          <p:cNvPr id="27" name="Text 23"/>
          <p:cNvSpPr/>
          <p:nvPr/>
        </p:nvSpPr>
        <p:spPr>
          <a:xfrm>
            <a:off x="6184032" y="2638723"/>
            <a:ext cx="2338462" cy="164592"/>
          </a:xfrm>
          <a:prstGeom prst="rect">
            <a:avLst/>
          </a:prstGeom>
          <a:noFill/>
          <a:ln/>
        </p:spPr>
        <p:txBody>
          <a:bodyPr wrap="none" lIns="0" tIns="0" rIns="0" bIns="0" rtlCol="0" anchor="t"/>
          <a:lstStyle/>
          <a:p>
            <a:pPr algn="l" indent="0" marL="0">
              <a:lnSpc>
                <a:spcPts val="1055"/>
              </a:lnSpc>
              <a:buNone/>
            </a:pPr>
            <a:r>
              <a:rPr lang="en-US" sz="800" dirty="0">
                <a:solidFill>
                  <a:srgbClr val="475569"/>
                </a:solidFill>
                <a:latin typeface="Carlito" pitchFamily="34" charset="0"/>
                <a:ea typeface="Carlito" pitchFamily="34" charset="-122"/>
                <a:cs typeface="Carlito" pitchFamily="34" charset="-120"/>
              </a:rPr>
              <a:t>admin-only REST APIs</a:t>
            </a:r>
            <a:endParaRPr lang="en-US" sz="800" dirty="0"/>
          </a:p>
        </p:txBody>
      </p:sp>
      <p:sp>
        <p:nvSpPr>
          <p:cNvPr id="28" name="Text 24"/>
          <p:cNvSpPr/>
          <p:nvPr/>
        </p:nvSpPr>
        <p:spPr>
          <a:xfrm>
            <a:off x="457200" y="3118247"/>
            <a:ext cx="128588" cy="128588"/>
          </a:xfrm>
          <a:prstGeom prst="rect">
            <a:avLst/>
          </a:prstGeom>
          <a:noFill/>
          <a:ln/>
        </p:spPr>
        <p:txBody>
          <a:bodyPr wrap="none" lIns="0" tIns="0" rIns="0" bIns="0" rtlCol="0" anchor="ctr"/>
          <a:lstStyle/>
          <a:p>
            <a:pPr algn="ctr" indent="0" marL="0">
              <a:buNone/>
            </a:pPr>
            <a:r>
              <a:rPr lang="en-US" sz="1266" dirty="0">
                <a:solidFill>
                  <a:srgbClr val="10B981"/>
                </a:solidFill>
                <a:latin typeface="Segoe UI Symbol" pitchFamily="34" charset="0"/>
                <a:ea typeface="Segoe UI Symbol" pitchFamily="34" charset="-122"/>
                <a:cs typeface="Segoe UI Symbol" pitchFamily="34" charset="-120"/>
              </a:rPr>
              <a:t>✓</a:t>
            </a:r>
            <a:endParaRPr lang="en-US" sz="1266" dirty="0"/>
          </a:p>
        </p:txBody>
      </p:sp>
      <p:sp>
        <p:nvSpPr>
          <p:cNvPr id="29" name="Text 25"/>
          <p:cNvSpPr/>
          <p:nvPr/>
        </p:nvSpPr>
        <p:spPr>
          <a:xfrm>
            <a:off x="657225" y="3091458"/>
            <a:ext cx="1648923" cy="196739"/>
          </a:xfrm>
          <a:prstGeom prst="rect">
            <a:avLst/>
          </a:prstGeom>
          <a:noFill/>
          <a:ln/>
        </p:spPr>
        <p:txBody>
          <a:bodyPr wrap="none" lIns="0" tIns="0" rIns="0" bIns="0" rtlCol="0" anchor="t"/>
          <a:lstStyle/>
          <a:p>
            <a:pPr algn="l" indent="0" marL="0">
              <a:lnSpc>
                <a:spcPts val="1434"/>
              </a:lnSpc>
              <a:buNone/>
            </a:pPr>
            <a:r>
              <a:rPr lang="en-US" sz="956" b="1" dirty="0">
                <a:solidFill>
                  <a:srgbClr val="1E1932"/>
                </a:solidFill>
                <a:latin typeface="Carlito" pitchFamily="34" charset="0"/>
                <a:ea typeface="Carlito" pitchFamily="34" charset="-122"/>
                <a:cs typeface="Carlito" pitchFamily="34" charset="-120"/>
              </a:rPr>
              <a:t>End-to-end verified</a:t>
            </a:r>
            <a:endParaRPr lang="en-US" sz="956" dirty="0"/>
          </a:p>
        </p:txBody>
      </p:sp>
      <p:pic>
        <p:nvPicPr>
          <p:cNvPr id="30" name="Image 2" descr="preencoded.png">    </p:cNvPr>
          <p:cNvPicPr>
            <a:picLocks noChangeAspect="1"/>
          </p:cNvPicPr>
          <p:nvPr/>
        </p:nvPicPr>
        <p:blipFill>
          <a:blip r:embed="rId3"/>
          <a:stretch>
            <a:fillRect/>
          </a:stretch>
        </p:blipFill>
        <p:spPr>
          <a:xfrm>
            <a:off x="2047801" y="3178969"/>
            <a:ext cx="6638999" cy="7144"/>
          </a:xfrm>
          <a:prstGeom prst="rect">
            <a:avLst/>
          </a:prstGeom>
        </p:spPr>
      </p:pic>
      <p:sp>
        <p:nvSpPr>
          <p:cNvPr id="31" name="Text 26"/>
          <p:cNvSpPr/>
          <p:nvPr/>
        </p:nvSpPr>
        <p:spPr>
          <a:xfrm>
            <a:off x="460772" y="3362920"/>
            <a:ext cx="4064794" cy="289322"/>
          </a:xfrm>
          <a:prstGeom prst="roundRect">
            <a:avLst>
              <a:gd name="adj" fmla="val 39506"/>
            </a:avLst>
          </a:prstGeom>
          <a:solidFill>
            <a:srgbClr val="ECFDF5"/>
          </a:solidFill>
          <a:ln w="7144">
            <a:solidFill>
              <a:srgbClr val="D1FAE5"/>
            </a:solidFill>
            <a:prstDash val="solid"/>
          </a:ln>
        </p:spPr>
        <p:txBody>
          <a:bodyPr wrap="square" rtlCol="0" anchor="ctr"/>
          <a:lstStyle/>
          <a:p>
            <a:pPr indent="0" marL="0">
              <a:buNone/>
            </a:pPr>
            <a:endParaRPr lang="en-US" dirty="0"/>
          </a:p>
        </p:txBody>
      </p:sp>
      <p:sp>
        <p:nvSpPr>
          <p:cNvPr id="32" name="Text 27"/>
          <p:cNvSpPr/>
          <p:nvPr/>
        </p:nvSpPr>
        <p:spPr>
          <a:xfrm>
            <a:off x="564356" y="3443288"/>
            <a:ext cx="128588" cy="128588"/>
          </a:xfrm>
          <a:prstGeom prst="rect">
            <a:avLst/>
          </a:prstGeom>
          <a:noFill/>
          <a:ln/>
        </p:spPr>
        <p:txBody>
          <a:bodyPr wrap="none" lIns="0" tIns="0" rIns="0" bIns="0" rtlCol="0" anchor="ctr"/>
          <a:lstStyle/>
          <a:p>
            <a:pPr algn="ctr" indent="0" marL="0">
              <a:buNone/>
            </a:pPr>
            <a:r>
              <a:rPr lang="en-US" sz="1266" dirty="0">
                <a:solidFill>
                  <a:srgbClr val="10B981"/>
                </a:solidFill>
                <a:latin typeface="Segoe UI Symbol" pitchFamily="34" charset="0"/>
                <a:ea typeface="Segoe UI Symbol" pitchFamily="34" charset="-122"/>
                <a:cs typeface="Segoe UI Symbol" pitchFamily="34" charset="-120"/>
              </a:rPr>
              <a:t>✓</a:t>
            </a:r>
            <a:endParaRPr lang="en-US" sz="1266" dirty="0"/>
          </a:p>
        </p:txBody>
      </p:sp>
      <p:sp>
        <p:nvSpPr>
          <p:cNvPr id="33" name="Text 28"/>
          <p:cNvSpPr/>
          <p:nvPr/>
        </p:nvSpPr>
        <p:spPr>
          <a:xfrm>
            <a:off x="764381" y="3437930"/>
            <a:ext cx="3664744" cy="139303"/>
          </a:xfrm>
          <a:prstGeom prst="rect">
            <a:avLst/>
          </a:prstGeom>
          <a:noFill/>
          <a:ln/>
        </p:spPr>
        <p:txBody>
          <a:bodyPr wrap="square" lIns="0" tIns="0" rIns="0" bIns="0" rtlCol="0" anchor="t"/>
          <a:lstStyle/>
          <a:p>
            <a:pPr algn="l" indent="0" marL="0">
              <a:lnSpc>
                <a:spcPts val="1097"/>
              </a:lnSpc>
              <a:buNone/>
            </a:pPr>
            <a:r>
              <a:rPr lang="en-US" sz="800" dirty="0">
                <a:solidFill>
                  <a:srgbClr val="1E1932"/>
                </a:solidFill>
                <a:latin typeface="Carlito" pitchFamily="34" charset="0"/>
                <a:ea typeface="Carlito" pitchFamily="34" charset="-122"/>
                <a:cs typeface="Carlito" pitchFamily="34" charset="-120"/>
              </a:rPr>
              <a:t>WAF blocks SQLi / XSS / PathTraversal / UAs </a:t>
            </a:r>
            <a:pPr algn="l" indent="0" marL="0">
              <a:lnSpc>
                <a:spcPts val="1097"/>
              </a:lnSpc>
              <a:buNone/>
            </a:pPr>
            <a:r>
              <a:rPr lang="en-US" sz="800" dirty="0">
                <a:solidFill>
                  <a:srgbClr val="64748B"/>
                </a:solidFill>
                <a:latin typeface="Liberation Sans Narrow" pitchFamily="34" charset="0"/>
                <a:ea typeface="Liberation Sans Narrow" pitchFamily="34" charset="-122"/>
                <a:cs typeface="Liberation Sans Narrow" pitchFamily="34" charset="-120"/>
              </a:rPr>
              <a:t>(403)</a:t>
            </a:r>
            <a:endParaRPr lang="en-US" sz="800" dirty="0"/>
          </a:p>
        </p:txBody>
      </p:sp>
      <p:sp>
        <p:nvSpPr>
          <p:cNvPr id="34" name="Text 29"/>
          <p:cNvSpPr/>
          <p:nvPr/>
        </p:nvSpPr>
        <p:spPr>
          <a:xfrm>
            <a:off x="4618434" y="3362920"/>
            <a:ext cx="4064794" cy="289322"/>
          </a:xfrm>
          <a:prstGeom prst="roundRect">
            <a:avLst>
              <a:gd name="adj" fmla="val 39506"/>
            </a:avLst>
          </a:prstGeom>
          <a:solidFill>
            <a:srgbClr val="ECFDF5"/>
          </a:solidFill>
          <a:ln w="7144">
            <a:solidFill>
              <a:srgbClr val="D1FAE5"/>
            </a:solidFill>
            <a:prstDash val="solid"/>
          </a:ln>
        </p:spPr>
        <p:txBody>
          <a:bodyPr wrap="square" rtlCol="0" anchor="ctr"/>
          <a:lstStyle/>
          <a:p>
            <a:pPr indent="0" marL="0">
              <a:buNone/>
            </a:pPr>
            <a:endParaRPr lang="en-US" dirty="0"/>
          </a:p>
        </p:txBody>
      </p:sp>
      <p:sp>
        <p:nvSpPr>
          <p:cNvPr id="35" name="Text 30"/>
          <p:cNvSpPr/>
          <p:nvPr/>
        </p:nvSpPr>
        <p:spPr>
          <a:xfrm>
            <a:off x="4722019" y="3443288"/>
            <a:ext cx="128588" cy="128588"/>
          </a:xfrm>
          <a:prstGeom prst="rect">
            <a:avLst/>
          </a:prstGeom>
          <a:noFill/>
          <a:ln/>
        </p:spPr>
        <p:txBody>
          <a:bodyPr wrap="none" lIns="0" tIns="0" rIns="0" bIns="0" rtlCol="0" anchor="ctr"/>
          <a:lstStyle/>
          <a:p>
            <a:pPr algn="ctr" indent="0" marL="0">
              <a:buNone/>
            </a:pPr>
            <a:r>
              <a:rPr lang="en-US" sz="1266" dirty="0">
                <a:solidFill>
                  <a:srgbClr val="10B981"/>
                </a:solidFill>
                <a:latin typeface="Segoe UI Symbol" pitchFamily="34" charset="0"/>
                <a:ea typeface="Segoe UI Symbol" pitchFamily="34" charset="-122"/>
                <a:cs typeface="Segoe UI Symbol" pitchFamily="34" charset="-120"/>
              </a:rPr>
              <a:t>✓</a:t>
            </a:r>
            <a:endParaRPr lang="en-US" sz="1266" dirty="0"/>
          </a:p>
        </p:txBody>
      </p:sp>
      <p:sp>
        <p:nvSpPr>
          <p:cNvPr id="36" name="Text 31"/>
          <p:cNvSpPr/>
          <p:nvPr/>
        </p:nvSpPr>
        <p:spPr>
          <a:xfrm>
            <a:off x="4922044" y="3437930"/>
            <a:ext cx="3664744" cy="139303"/>
          </a:xfrm>
          <a:prstGeom prst="rect">
            <a:avLst/>
          </a:prstGeom>
          <a:noFill/>
          <a:ln/>
        </p:spPr>
        <p:txBody>
          <a:bodyPr wrap="square" lIns="0" tIns="0" rIns="0" bIns="0" rtlCol="0" anchor="t"/>
          <a:lstStyle/>
          <a:p>
            <a:pPr algn="l" indent="0" marL="0">
              <a:lnSpc>
                <a:spcPts val="1097"/>
              </a:lnSpc>
              <a:buNone/>
            </a:pPr>
            <a:r>
              <a:rPr lang="en-US" sz="800" dirty="0">
                <a:solidFill>
                  <a:srgbClr val="1E1932"/>
                </a:solidFill>
                <a:latin typeface="Carlito" pitchFamily="34" charset="0"/>
                <a:ea typeface="Carlito" pitchFamily="34" charset="-122"/>
                <a:cs typeface="Carlito" pitchFamily="34" charset="-120"/>
              </a:rPr>
              <a:t>Honeypot traps after </a:t>
            </a:r>
            <a:pPr algn="l" indent="0" marL="0">
              <a:lnSpc>
                <a:spcPts val="1097"/>
              </a:lnSpc>
              <a:buNone/>
            </a:pPr>
            <a:r>
              <a:rPr lang="en-US" sz="800" dirty="0">
                <a:solidFill>
                  <a:srgbClr val="1E1932"/>
                </a:solidFill>
                <a:latin typeface="Liberation Sans Narrow" pitchFamily="34" charset="0"/>
                <a:ea typeface="Liberation Sans Narrow" pitchFamily="34" charset="-122"/>
                <a:cs typeface="Liberation Sans Narrow" pitchFamily="34" charset="-120"/>
              </a:rPr>
              <a:t>3 fails</a:t>
            </a:r>
            <a:pPr algn="l" indent="0" marL="0">
              <a:lnSpc>
                <a:spcPts val="1097"/>
              </a:lnSpc>
              <a:buNone/>
            </a:pPr>
            <a:r>
              <a:rPr lang="en-US" sz="800" dirty="0">
                <a:solidFill>
                  <a:srgbClr val="1E1932"/>
                </a:solidFill>
                <a:latin typeface="Carlito" pitchFamily="34" charset="0"/>
                <a:ea typeface="Carlito" pitchFamily="34" charset="-122"/>
                <a:cs typeface="Carlito" pitchFamily="34" charset="-120"/>
              </a:rPr>
              <a:t> → </a:t>
            </a:r>
            <a:pPr algn="l" indent="0" marL="0">
              <a:lnSpc>
                <a:spcPts val="1097"/>
              </a:lnSpc>
              <a:buNone/>
            </a:pPr>
            <a:r>
              <a:rPr lang="en-US" sz="800" dirty="0">
                <a:solidFill>
                  <a:srgbClr val="1E1932"/>
                </a:solidFill>
                <a:latin typeface="Courier New" pitchFamily="34" charset="0"/>
                <a:ea typeface="Courier New" pitchFamily="34" charset="-122"/>
                <a:cs typeface="Courier New" pitchFamily="34" charset="-120"/>
              </a:rPr>
              <a:t>/dashboard</a:t>
            </a:r>
            <a:endParaRPr lang="en-US" sz="800" dirty="0"/>
          </a:p>
        </p:txBody>
      </p:sp>
      <p:sp>
        <p:nvSpPr>
          <p:cNvPr id="37" name="Text 32"/>
          <p:cNvSpPr/>
          <p:nvPr/>
        </p:nvSpPr>
        <p:spPr>
          <a:xfrm>
            <a:off x="460772" y="3745111"/>
            <a:ext cx="4064794" cy="289322"/>
          </a:xfrm>
          <a:prstGeom prst="roundRect">
            <a:avLst>
              <a:gd name="adj" fmla="val 39506"/>
            </a:avLst>
          </a:prstGeom>
          <a:solidFill>
            <a:srgbClr val="ECFDF5"/>
          </a:solidFill>
          <a:ln w="7144">
            <a:solidFill>
              <a:srgbClr val="D1FAE5"/>
            </a:solidFill>
            <a:prstDash val="solid"/>
          </a:ln>
        </p:spPr>
        <p:txBody>
          <a:bodyPr wrap="square" rtlCol="0" anchor="ctr"/>
          <a:lstStyle/>
          <a:p>
            <a:pPr indent="0" marL="0">
              <a:buNone/>
            </a:pPr>
            <a:endParaRPr lang="en-US" dirty="0"/>
          </a:p>
        </p:txBody>
      </p:sp>
      <p:sp>
        <p:nvSpPr>
          <p:cNvPr id="38" name="Text 33"/>
          <p:cNvSpPr/>
          <p:nvPr/>
        </p:nvSpPr>
        <p:spPr>
          <a:xfrm>
            <a:off x="564356" y="3825478"/>
            <a:ext cx="128588" cy="128588"/>
          </a:xfrm>
          <a:prstGeom prst="rect">
            <a:avLst/>
          </a:prstGeom>
          <a:noFill/>
          <a:ln/>
        </p:spPr>
        <p:txBody>
          <a:bodyPr wrap="none" lIns="0" tIns="0" rIns="0" bIns="0" rtlCol="0" anchor="ctr"/>
          <a:lstStyle/>
          <a:p>
            <a:pPr algn="ctr" indent="0" marL="0">
              <a:buNone/>
            </a:pPr>
            <a:r>
              <a:rPr lang="en-US" sz="1266" dirty="0">
                <a:solidFill>
                  <a:srgbClr val="10B981"/>
                </a:solidFill>
                <a:latin typeface="Segoe UI Symbol" pitchFamily="34" charset="0"/>
                <a:ea typeface="Segoe UI Symbol" pitchFamily="34" charset="-122"/>
                <a:cs typeface="Segoe UI Symbol" pitchFamily="34" charset="-120"/>
              </a:rPr>
              <a:t>✓</a:t>
            </a:r>
            <a:endParaRPr lang="en-US" sz="1266" dirty="0"/>
          </a:p>
        </p:txBody>
      </p:sp>
      <p:sp>
        <p:nvSpPr>
          <p:cNvPr id="39" name="Text 34"/>
          <p:cNvSpPr/>
          <p:nvPr/>
        </p:nvSpPr>
        <p:spPr>
          <a:xfrm>
            <a:off x="764381" y="3820120"/>
            <a:ext cx="3664744" cy="139303"/>
          </a:xfrm>
          <a:prstGeom prst="rect">
            <a:avLst/>
          </a:prstGeom>
          <a:noFill/>
          <a:ln/>
        </p:spPr>
        <p:txBody>
          <a:bodyPr wrap="square" lIns="0" tIns="0" rIns="0" bIns="0" rtlCol="0" anchor="t"/>
          <a:lstStyle/>
          <a:p>
            <a:pPr algn="l" indent="0" marL="0">
              <a:lnSpc>
                <a:spcPts val="1097"/>
              </a:lnSpc>
              <a:buNone/>
            </a:pPr>
            <a:r>
              <a:rPr lang="en-US" sz="800" dirty="0">
                <a:solidFill>
                  <a:srgbClr val="1E1932"/>
                </a:solidFill>
                <a:latin typeface="Carlito" pitchFamily="34" charset="0"/>
                <a:ea typeface="Carlito" pitchFamily="34" charset="-122"/>
                <a:cs typeface="Carlito" pitchFamily="34" charset="-120"/>
              </a:rPr>
              <a:t>Deterministic fake profiles per username</a:t>
            </a:r>
            <a:endParaRPr lang="en-US" sz="800" dirty="0"/>
          </a:p>
        </p:txBody>
      </p:sp>
      <p:sp>
        <p:nvSpPr>
          <p:cNvPr id="40" name="Text 35"/>
          <p:cNvSpPr/>
          <p:nvPr/>
        </p:nvSpPr>
        <p:spPr>
          <a:xfrm>
            <a:off x="4618434" y="3745111"/>
            <a:ext cx="4064794" cy="289322"/>
          </a:xfrm>
          <a:prstGeom prst="roundRect">
            <a:avLst>
              <a:gd name="adj" fmla="val 39506"/>
            </a:avLst>
          </a:prstGeom>
          <a:solidFill>
            <a:srgbClr val="ECFDF5"/>
          </a:solidFill>
          <a:ln w="7144">
            <a:solidFill>
              <a:srgbClr val="D1FAE5"/>
            </a:solidFill>
            <a:prstDash val="solid"/>
          </a:ln>
        </p:spPr>
        <p:txBody>
          <a:bodyPr wrap="square" rtlCol="0" anchor="ctr"/>
          <a:lstStyle/>
          <a:p>
            <a:pPr indent="0" marL="0">
              <a:buNone/>
            </a:pPr>
            <a:endParaRPr lang="en-US" dirty="0"/>
          </a:p>
        </p:txBody>
      </p:sp>
      <p:sp>
        <p:nvSpPr>
          <p:cNvPr id="41" name="Text 36"/>
          <p:cNvSpPr/>
          <p:nvPr/>
        </p:nvSpPr>
        <p:spPr>
          <a:xfrm>
            <a:off x="4722019" y="3825478"/>
            <a:ext cx="128588" cy="128588"/>
          </a:xfrm>
          <a:prstGeom prst="rect">
            <a:avLst/>
          </a:prstGeom>
          <a:noFill/>
          <a:ln/>
        </p:spPr>
        <p:txBody>
          <a:bodyPr wrap="none" lIns="0" tIns="0" rIns="0" bIns="0" rtlCol="0" anchor="ctr"/>
          <a:lstStyle/>
          <a:p>
            <a:pPr algn="ctr" indent="0" marL="0">
              <a:buNone/>
            </a:pPr>
            <a:r>
              <a:rPr lang="en-US" sz="1266" dirty="0">
                <a:solidFill>
                  <a:srgbClr val="10B981"/>
                </a:solidFill>
                <a:latin typeface="Segoe UI Symbol" pitchFamily="34" charset="0"/>
                <a:ea typeface="Segoe UI Symbol" pitchFamily="34" charset="-122"/>
                <a:cs typeface="Segoe UI Symbol" pitchFamily="34" charset="-120"/>
              </a:rPr>
              <a:t>✓</a:t>
            </a:r>
            <a:endParaRPr lang="en-US" sz="1266" dirty="0"/>
          </a:p>
        </p:txBody>
      </p:sp>
      <p:sp>
        <p:nvSpPr>
          <p:cNvPr id="42" name="Text 37"/>
          <p:cNvSpPr/>
          <p:nvPr/>
        </p:nvSpPr>
        <p:spPr>
          <a:xfrm>
            <a:off x="4922044" y="3820120"/>
            <a:ext cx="3664744" cy="139303"/>
          </a:xfrm>
          <a:prstGeom prst="rect">
            <a:avLst/>
          </a:prstGeom>
          <a:noFill/>
          <a:ln/>
        </p:spPr>
        <p:txBody>
          <a:bodyPr wrap="square" lIns="0" tIns="0" rIns="0" bIns="0" rtlCol="0" anchor="t"/>
          <a:lstStyle/>
          <a:p>
            <a:pPr algn="l" indent="0" marL="0">
              <a:lnSpc>
                <a:spcPts val="1097"/>
              </a:lnSpc>
              <a:buNone/>
            </a:pPr>
            <a:r>
              <a:rPr lang="en-US" sz="800" dirty="0">
                <a:solidFill>
                  <a:srgbClr val="1E1932"/>
                </a:solidFill>
                <a:latin typeface="Carlito" pitchFamily="34" charset="0"/>
                <a:ea typeface="Carlito" pitchFamily="34" charset="-122"/>
                <a:cs typeface="Carlito" pitchFamily="34" charset="-120"/>
              </a:rPr>
              <a:t>SOC live feed with geo + fingerprinting</a:t>
            </a:r>
            <a:endParaRPr lang="en-US" sz="800" dirty="0"/>
          </a:p>
        </p:txBody>
      </p:sp>
      <p:sp>
        <p:nvSpPr>
          <p:cNvPr id="43" name="Text 38"/>
          <p:cNvSpPr/>
          <p:nvPr/>
        </p:nvSpPr>
        <p:spPr>
          <a:xfrm>
            <a:off x="457200" y="4500563"/>
            <a:ext cx="8229600" cy="310896"/>
          </a:xfrm>
          <a:prstGeom prst="rect">
            <a:avLst/>
          </a:prstGeom>
          <a:noFill/>
          <a:ln/>
        </p:spPr>
        <p:txBody>
          <a:bodyPr wrap="square" lIns="0" tIns="114300" rIns="0" bIns="0" rtlCol="0" anchor="t"/>
          <a:lstStyle/>
          <a:p>
            <a:pPr algn="ctr" indent="0" marL="0">
              <a:lnSpc>
                <a:spcPts val="1013"/>
              </a:lnSpc>
              <a:buNone/>
            </a:pPr>
            <a:r>
              <a:rPr lang="en-US" sz="800" dirty="0">
                <a:solidFill>
                  <a:srgbClr val="94A3B8"/>
                </a:solidFill>
                <a:latin typeface="Carlito" pitchFamily="34" charset="0"/>
                <a:ea typeface="Carlito" pitchFamily="34" charset="-122"/>
                <a:cs typeface="Carlito" pitchFamily="34" charset="-120"/>
              </a:rPr>
              <a:t>Built with </a:t>
            </a:r>
            <a:pPr algn="ctr" indent="0" marL="0">
              <a:lnSpc>
                <a:spcPts val="1013"/>
              </a:lnSpc>
              <a:buNone/>
            </a:pPr>
            <a:r>
              <a:rPr lang="en-US" sz="800" dirty="0">
                <a:solidFill>
                  <a:srgbClr val="64748B"/>
                </a:solidFill>
                <a:latin typeface="Carlito" pitchFamily="34" charset="0"/>
                <a:ea typeface="Carlito" pitchFamily="34" charset="-122"/>
                <a:cs typeface="Carlito" pitchFamily="34" charset="-120"/>
              </a:rPr>
              <a:t>Node.js · Express · Socket.io · cookie-parser</a:t>
            </a:r>
            <a:pPr algn="ctr" indent="0" marL="0">
              <a:lnSpc>
                <a:spcPts val="1013"/>
              </a:lnSpc>
              <a:buNone/>
            </a:pPr>
            <a:r>
              <a:rPr lang="en-US" sz="800" dirty="0">
                <a:solidFill>
                  <a:srgbClr val="94A3B8"/>
                </a:solidFill>
                <a:latin typeface="Carlito" pitchFamily="34" charset="0"/>
                <a:ea typeface="Carlito" pitchFamily="34" charset="-122"/>
                <a:cs typeface="Carlito" pitchFamily="34" charset="-120"/>
              </a:rPr>
              <a:t> — </a:t>
            </a:r>
            <a:pPr algn="ctr" indent="0" marL="0">
              <a:lnSpc>
                <a:spcPts val="1013"/>
              </a:lnSpc>
              <a:buNone/>
            </a:pPr>
            <a:r>
              <a:rPr lang="en-US" sz="800" dirty="0">
                <a:solidFill>
                  <a:srgbClr val="94A3B8"/>
                </a:solidFill>
                <a:latin typeface="Liberation Sans Narrow" pitchFamily="34" charset="0"/>
                <a:ea typeface="Liberation Sans Narrow" pitchFamily="34" charset="-122"/>
                <a:cs typeface="Liberation Sans Narrow" pitchFamily="34" charset="-120"/>
              </a:rPr>
              <a:t>3 dependencies, zero build tools</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0" b="0"/>
          <a:stretch/>
        </p:blipFill>
        <p:spPr>
          <a:xfrm>
            <a:off x="0" y="0"/>
            <a:ext cx="9144000" cy="5143500"/>
          </a:xfrm>
          <a:prstGeom prst="rect">
            <a:avLst/>
          </a:prstGeom>
        </p:spPr>
      </p:pic>
      <p:pic>
        <p:nvPicPr>
          <p:cNvPr id="3" name="Image 1" descr="preencoded.png">    </p:cNvPr>
          <p:cNvPicPr>
            <a:picLocks noChangeAspect="1"/>
          </p:cNvPicPr>
          <p:nvPr/>
        </p:nvPicPr>
        <p:blipFill>
          <a:blip r:embed="rId2"/>
          <a:stretch>
            <a:fillRect/>
          </a:stretch>
        </p:blipFill>
        <p:spPr>
          <a:xfrm>
            <a:off x="0" y="0"/>
            <a:ext cx="9144000" cy="5143500"/>
          </a:xfrm>
          <a:prstGeom prst="rect">
            <a:avLst/>
          </a:prstGeom>
        </p:spPr>
      </p:pic>
      <p:sp>
        <p:nvSpPr>
          <p:cNvPr id="4" name="Text 0"/>
          <p:cNvSpPr/>
          <p:nvPr/>
        </p:nvSpPr>
        <p:spPr>
          <a:xfrm>
            <a:off x="7643813" y="-285750"/>
            <a:ext cx="1500188" cy="1714500"/>
          </a:xfrm>
          <a:prstGeom prst="rect">
            <a:avLst/>
          </a:prstGeom>
          <a:noFill/>
          <a:ln/>
        </p:spPr>
        <p:txBody>
          <a:bodyPr wrap="none" lIns="0" tIns="0" rIns="0" bIns="0" rtlCol="0" anchor="ctr"/>
          <a:lstStyle/>
          <a:p>
            <a:pPr algn="ctr" indent="0" marL="0">
              <a:buNone/>
            </a:pPr>
            <a:r>
              <a:rPr lang="en-US" sz="4800" dirty="0">
                <a:solidFill>
                  <a:srgbClr val="DDD6FE"/>
                </a:solidFill>
                <a:latin typeface="Segoe UI Symbol" pitchFamily="34" charset="0"/>
                <a:ea typeface="Segoe UI Symbol" pitchFamily="34" charset="-122"/>
                <a:cs typeface="Segoe UI Symbol" pitchFamily="34" charset="-120"/>
              </a:rPr>
              <a:t>⛨</a:t>
            </a:r>
            <a:endParaRPr lang="en-US" sz="4800" dirty="0"/>
          </a:p>
        </p:txBody>
      </p:sp>
      <p:pic>
        <p:nvPicPr>
          <p:cNvPr id="5" name="Image 2" descr="preencoded.png">    </p:cNvPr>
          <p:cNvPicPr>
            <a:picLocks noChangeAspect="1"/>
          </p:cNvPicPr>
          <p:nvPr/>
        </p:nvPicPr>
        <p:blipFill>
          <a:blip r:embed="rId3"/>
          <a:stretch>
            <a:fillRect/>
          </a:stretch>
        </p:blipFill>
        <p:spPr>
          <a:xfrm>
            <a:off x="-571500" y="3714750"/>
            <a:ext cx="2000250" cy="2000250"/>
          </a:xfrm>
          <a:prstGeom prst="rect">
            <a:avLst/>
          </a:prstGeom>
        </p:spPr>
      </p:pic>
      <p:sp>
        <p:nvSpPr>
          <p:cNvPr id="6" name="Text 1"/>
          <p:cNvSpPr/>
          <p:nvPr/>
        </p:nvSpPr>
        <p:spPr>
          <a:xfrm>
            <a:off x="-571500" y="3714750"/>
            <a:ext cx="2000250" cy="2000250"/>
          </a:xfrm>
          <a:prstGeom prst="ellipse">
            <a:avLst/>
          </a:prstGeom>
          <a:solidFill>
            <a:srgbClr val="FFFFFF">
              <a:alpha val="0"/>
            </a:srgbClr>
          </a:solidFill>
          <a:ln/>
        </p:spPr>
        <p:txBody>
          <a:bodyPr wrap="square" rtlCol="0" anchor="ctr"/>
          <a:lstStyle/>
          <a:p>
            <a:pPr indent="0" marL="0">
              <a:buNone/>
            </a:pPr>
            <a:endParaRPr lang="en-US" dirty="0"/>
          </a:p>
        </p:txBody>
      </p:sp>
      <p:sp>
        <p:nvSpPr>
          <p:cNvPr id="7" name="Text 2"/>
          <p:cNvSpPr/>
          <p:nvPr/>
        </p:nvSpPr>
        <p:spPr>
          <a:xfrm>
            <a:off x="8404622" y="289322"/>
            <a:ext cx="335756" cy="335756"/>
          </a:xfrm>
          <a:prstGeom prst="roundRect">
            <a:avLst>
              <a:gd name="adj" fmla="val 28365979"/>
            </a:avLst>
          </a:prstGeom>
          <a:solidFill>
            <a:srgbClr val="EDE9FE"/>
          </a:solidFill>
          <a:ln w="7144">
            <a:solidFill>
              <a:srgbClr val="DDD6FE"/>
            </a:solidFill>
            <a:prstDash val="solid"/>
          </a:ln>
        </p:spPr>
        <p:txBody>
          <a:bodyPr wrap="square" rtlCol="0" anchor="ctr"/>
          <a:lstStyle/>
          <a:p>
            <a:pPr indent="0" marL="0">
              <a:buNone/>
            </a:pPr>
            <a:endParaRPr lang="en-US" dirty="0"/>
          </a:p>
        </p:txBody>
      </p:sp>
      <p:sp>
        <p:nvSpPr>
          <p:cNvPr id="8" name="Text 3"/>
          <p:cNvSpPr/>
          <p:nvPr/>
        </p:nvSpPr>
        <p:spPr>
          <a:xfrm>
            <a:off x="8448199" y="332899"/>
            <a:ext cx="248602" cy="248602"/>
          </a:xfrm>
          <a:prstGeom prst="rect">
            <a:avLst/>
          </a:prstGeom>
          <a:noFill/>
          <a:ln/>
        </p:spPr>
        <p:txBody>
          <a:bodyPr wrap="none" lIns="0" tIns="0" rIns="0" bIns="0" rtlCol="0" anchor="ctr"/>
          <a:lstStyle/>
          <a:p>
            <a:pPr algn="ctr" indent="0" marL="0">
              <a:buNone/>
            </a:pPr>
            <a:r>
              <a:rPr lang="en-US" sz="1688" dirty="0">
                <a:solidFill>
                  <a:srgbClr val="7C3AED"/>
                </a:solidFill>
                <a:latin typeface="Segoe UI Symbol" pitchFamily="34" charset="0"/>
                <a:ea typeface="Segoe UI Symbol" pitchFamily="34" charset="-122"/>
                <a:cs typeface="Segoe UI Symbol" pitchFamily="34" charset="-120"/>
              </a:rPr>
              <a:t>⛨</a:t>
            </a:r>
            <a:endParaRPr lang="en-US" sz="1688" dirty="0"/>
          </a:p>
        </p:txBody>
      </p:sp>
      <p:sp>
        <p:nvSpPr>
          <p:cNvPr id="9" name="Text 4"/>
          <p:cNvSpPr/>
          <p:nvPr/>
        </p:nvSpPr>
        <p:spPr>
          <a:xfrm>
            <a:off x="3852959" y="1416351"/>
            <a:ext cx="1437970" cy="196025"/>
          </a:xfrm>
          <a:prstGeom prst="roundRect">
            <a:avLst>
              <a:gd name="adj" fmla="val 4854215"/>
            </a:avLst>
          </a:prstGeom>
          <a:solidFill>
            <a:srgbClr val="FCE7F3"/>
          </a:solidFill>
          <a:ln/>
        </p:spPr>
        <p:txBody>
          <a:bodyPr wrap="square" rtlCol="0" anchor="ctr"/>
          <a:lstStyle/>
          <a:p>
            <a:pPr indent="0" marL="0">
              <a:buNone/>
            </a:pPr>
            <a:endParaRPr lang="en-US" dirty="0"/>
          </a:p>
        </p:txBody>
      </p:sp>
      <p:sp>
        <p:nvSpPr>
          <p:cNvPr id="10" name="Text 5"/>
          <p:cNvSpPr/>
          <p:nvPr/>
        </p:nvSpPr>
        <p:spPr>
          <a:xfrm>
            <a:off x="4097275" y="1462571"/>
            <a:ext cx="1085069" cy="129679"/>
          </a:xfrm>
          <a:prstGeom prst="rect">
            <a:avLst/>
          </a:prstGeom>
          <a:noFill/>
          <a:ln/>
        </p:spPr>
        <p:txBody>
          <a:bodyPr wrap="none" lIns="0" tIns="0" rIns="0" bIns="0" rtlCol="0" anchor="t"/>
          <a:lstStyle/>
          <a:p>
            <a:pPr algn="ctr" indent="0" marL="0">
              <a:lnSpc>
                <a:spcPts val="928"/>
              </a:lnSpc>
              <a:buNone/>
            </a:pPr>
            <a:r>
              <a:rPr lang="en-US" sz="619" spc="25" kern="0" dirty="0">
                <a:solidFill>
                  <a:srgbClr val="EC4899"/>
                </a:solidFill>
                <a:latin typeface="Carlito" pitchFamily="34" charset="0"/>
                <a:ea typeface="Carlito" pitchFamily="34" charset="-122"/>
                <a:cs typeface="Carlito" pitchFamily="34" charset="-120"/>
              </a:rPr>
              <a:t>END OF PRESENTATION</a:t>
            </a:r>
            <a:endParaRPr lang="en-US" sz="619" dirty="0"/>
          </a:p>
        </p:txBody>
      </p:sp>
      <p:sp>
        <p:nvSpPr>
          <p:cNvPr id="11" name="Text 6"/>
          <p:cNvSpPr/>
          <p:nvPr/>
        </p:nvSpPr>
        <p:spPr>
          <a:xfrm>
            <a:off x="3961544" y="1467929"/>
            <a:ext cx="92869" cy="92869"/>
          </a:xfrm>
          <a:prstGeom prst="rect">
            <a:avLst/>
          </a:prstGeom>
          <a:noFill/>
          <a:ln/>
        </p:spPr>
        <p:txBody>
          <a:bodyPr wrap="none" lIns="0" tIns="0" rIns="0" bIns="0" rtlCol="0" anchor="ctr"/>
          <a:lstStyle/>
          <a:p>
            <a:pPr algn="ctr" indent="0" marL="0">
              <a:buNone/>
            </a:pPr>
            <a:r>
              <a:rPr lang="en-US" sz="914" dirty="0">
                <a:solidFill>
                  <a:srgbClr val="EC4899"/>
                </a:solidFill>
                <a:latin typeface="Segoe UI Symbol" pitchFamily="34" charset="0"/>
                <a:ea typeface="Segoe UI Symbol" pitchFamily="34" charset="-122"/>
                <a:cs typeface="Segoe UI Symbol" pitchFamily="34" charset="-120"/>
              </a:rPr>
              <a:t>♥</a:t>
            </a:r>
            <a:endParaRPr lang="en-US" sz="914" dirty="0"/>
          </a:p>
        </p:txBody>
      </p:sp>
      <p:sp>
        <p:nvSpPr>
          <p:cNvPr id="12" name="Text 7"/>
          <p:cNvSpPr/>
          <p:nvPr/>
        </p:nvSpPr>
        <p:spPr>
          <a:xfrm>
            <a:off x="274320" y="1744749"/>
            <a:ext cx="8595248" cy="740664"/>
          </a:xfrm>
          <a:prstGeom prst="rect">
            <a:avLst/>
          </a:prstGeom>
          <a:noFill/>
          <a:ln/>
        </p:spPr>
        <p:txBody>
          <a:bodyPr wrap="none" lIns="0" tIns="0" rIns="0" bIns="0" rtlCol="0" anchor="t"/>
          <a:lstStyle/>
          <a:p>
            <a:pPr algn="ctr" indent="0" marL="0">
              <a:lnSpc>
                <a:spcPts val="5400"/>
              </a:lnSpc>
              <a:buNone/>
            </a:pPr>
            <a:r>
              <a:rPr lang="en-US" sz="5400" b="1" spc="-189" kern="0" dirty="0">
                <a:solidFill>
                  <a:srgbClr val="7C3AED"/>
                </a:solidFill>
                <a:latin typeface="Carlito" pitchFamily="34" charset="0"/>
                <a:ea typeface="Carlito" pitchFamily="34" charset="-122"/>
                <a:cs typeface="Carlito" pitchFamily="34" charset="-120"/>
              </a:rPr>
              <a:t>Thank You</a:t>
            </a:r>
            <a:endParaRPr lang="en-US" sz="5400" dirty="0"/>
          </a:p>
        </p:txBody>
      </p:sp>
      <p:sp>
        <p:nvSpPr>
          <p:cNvPr id="13" name="Text 8"/>
          <p:cNvSpPr/>
          <p:nvPr/>
        </p:nvSpPr>
        <p:spPr>
          <a:xfrm>
            <a:off x="3586916" y="2544849"/>
            <a:ext cx="1970168" cy="324041"/>
          </a:xfrm>
          <a:prstGeom prst="rect">
            <a:avLst/>
          </a:prstGeom>
          <a:noFill/>
          <a:ln/>
        </p:spPr>
        <p:txBody>
          <a:bodyPr wrap="none" lIns="0" tIns="0" rIns="0" bIns="0" rtlCol="0" anchor="t"/>
          <a:lstStyle/>
          <a:p>
            <a:pPr algn="ctr" indent="0" marL="0">
              <a:lnSpc>
                <a:spcPts val="2363"/>
              </a:lnSpc>
              <a:buNone/>
            </a:pPr>
            <a:r>
              <a:rPr lang="en-US" sz="1575" dirty="0">
                <a:solidFill>
                  <a:srgbClr val="475569"/>
                </a:solidFill>
                <a:latin typeface="Carlito" pitchFamily="34" charset="0"/>
                <a:ea typeface="Carlito" pitchFamily="34" charset="-122"/>
                <a:cs typeface="Carlito" pitchFamily="34" charset="-120"/>
              </a:rPr>
              <a:t>Questions &amp; Demo</a:t>
            </a:r>
            <a:endParaRPr lang="en-US" sz="1575" dirty="0"/>
          </a:p>
        </p:txBody>
      </p:sp>
      <p:sp>
        <p:nvSpPr>
          <p:cNvPr id="14" name="Text 9"/>
          <p:cNvSpPr/>
          <p:nvPr/>
        </p:nvSpPr>
        <p:spPr>
          <a:xfrm>
            <a:off x="1252165" y="3105634"/>
            <a:ext cx="2240124" cy="468027"/>
          </a:xfrm>
          <a:prstGeom prst="roundRect">
            <a:avLst>
              <a:gd name="adj" fmla="val 28492"/>
            </a:avLst>
          </a:prstGeom>
          <a:solidFill>
            <a:srgbClr val="FFFFFF"/>
          </a:solidFill>
          <a:ln w="7144">
            <a:solidFill>
              <a:srgbClr val="DDD6FE"/>
            </a:solidFill>
            <a:prstDash val="solid"/>
          </a:ln>
          <a:effectLst>
            <a:outerShdw sx="100000" sy="100000" kx="0" ky="0" algn="bl" rotWithShape="0" blurRad="152400" dist="38100" dir="5400000">
              <a:srgbClr val="7C3AED">
                <a:alpha val="8000"/>
              </a:srgbClr>
            </a:outerShdw>
          </a:effectLst>
        </p:spPr>
        <p:txBody>
          <a:bodyPr wrap="square" rtlCol="0" anchor="ctr"/>
          <a:lstStyle/>
          <a:p>
            <a:pPr indent="0" marL="0">
              <a:buNone/>
            </a:pPr>
            <a:endParaRPr lang="en-US" dirty="0"/>
          </a:p>
        </p:txBody>
      </p:sp>
      <p:sp>
        <p:nvSpPr>
          <p:cNvPr id="15" name="Text 10"/>
          <p:cNvSpPr/>
          <p:nvPr/>
        </p:nvSpPr>
        <p:spPr>
          <a:xfrm>
            <a:off x="1384325" y="3211004"/>
            <a:ext cx="257175" cy="257175"/>
          </a:xfrm>
          <a:prstGeom prst="roundRect">
            <a:avLst>
              <a:gd name="adj" fmla="val 37037"/>
            </a:avLst>
          </a:prstGeom>
          <a:solidFill>
            <a:srgbClr val="EDE9FE"/>
          </a:solidFill>
          <a:ln/>
        </p:spPr>
        <p:txBody>
          <a:bodyPr wrap="square" rtlCol="0" anchor="ctr"/>
          <a:lstStyle/>
          <a:p>
            <a:pPr indent="0" marL="0">
              <a:buNone/>
            </a:pPr>
            <a:endParaRPr lang="en-US" dirty="0"/>
          </a:p>
        </p:txBody>
      </p:sp>
      <p:sp>
        <p:nvSpPr>
          <p:cNvPr id="16" name="Text 11"/>
          <p:cNvSpPr/>
          <p:nvPr/>
        </p:nvSpPr>
        <p:spPr>
          <a:xfrm>
            <a:off x="1409328" y="3236007"/>
            <a:ext cx="207169" cy="207169"/>
          </a:xfrm>
          <a:prstGeom prst="rect">
            <a:avLst/>
          </a:prstGeom>
          <a:noFill/>
          <a:ln/>
        </p:spPr>
        <p:txBody>
          <a:bodyPr wrap="none" lIns="0" tIns="0" rIns="0" bIns="0" rtlCol="0" anchor="ctr"/>
          <a:lstStyle/>
          <a:p>
            <a:pPr algn="ctr" indent="0" marL="0">
              <a:buNone/>
            </a:pPr>
            <a:r>
              <a:rPr lang="en-US" sz="1406" dirty="0">
                <a:solidFill>
                  <a:srgbClr val="7C3AED"/>
                </a:solidFill>
                <a:latin typeface="Segoe UI Symbol" pitchFamily="34" charset="0"/>
                <a:ea typeface="Segoe UI Symbol" pitchFamily="34" charset="-122"/>
                <a:cs typeface="Segoe UI Symbol" pitchFamily="34" charset="-120"/>
              </a:rPr>
              <a:t>⌘</a:t>
            </a:r>
            <a:endParaRPr lang="en-US" sz="1406" dirty="0"/>
          </a:p>
        </p:txBody>
      </p:sp>
      <p:sp>
        <p:nvSpPr>
          <p:cNvPr id="17" name="Text 12"/>
          <p:cNvSpPr/>
          <p:nvPr/>
        </p:nvSpPr>
        <p:spPr>
          <a:xfrm>
            <a:off x="1727225" y="3209218"/>
            <a:ext cx="1632905" cy="122587"/>
          </a:xfrm>
          <a:prstGeom prst="rect">
            <a:avLst/>
          </a:prstGeom>
          <a:noFill/>
          <a:ln/>
        </p:spPr>
        <p:txBody>
          <a:bodyPr wrap="none" lIns="0" tIns="0" rIns="0" bIns="0" rtlCol="0" anchor="t">
            <a:normAutofit/>
          </a:bodyPr>
          <a:lstStyle/>
          <a:p>
            <a:pPr algn="l" indent="0" marL="0">
              <a:lnSpc>
                <a:spcPts val="1181"/>
              </a:lnSpc>
              <a:buNone/>
            </a:pPr>
            <a:r>
              <a:rPr lang="en-US" sz="800" dirty="0">
                <a:solidFill>
                  <a:srgbClr val="7C3AED"/>
                </a:solidFill>
                <a:latin typeface="Courier New" pitchFamily="34" charset="0"/>
                <a:ea typeface="Courier New" pitchFamily="34" charset="-122"/>
                <a:cs typeface="Courier New" pitchFamily="34" charset="-120"/>
              </a:rPr>
              <a:t>/test</a:t>
            </a:r>
            <a:endParaRPr lang="en-US" sz="800" dirty="0"/>
          </a:p>
        </p:txBody>
      </p:sp>
      <p:sp>
        <p:nvSpPr>
          <p:cNvPr id="18" name="Text 13"/>
          <p:cNvSpPr/>
          <p:nvPr/>
        </p:nvSpPr>
        <p:spPr>
          <a:xfrm>
            <a:off x="1727225" y="3359237"/>
            <a:ext cx="1730879" cy="110840"/>
          </a:xfrm>
          <a:prstGeom prst="rect">
            <a:avLst/>
          </a:prstGeom>
          <a:noFill/>
          <a:ln/>
        </p:spPr>
        <p:txBody>
          <a:bodyPr wrap="square" lIns="0" tIns="0" rIns="0" bIns="0" rtlCol="0" anchor="t"/>
          <a:lstStyle/>
          <a:p>
            <a:pPr algn="l" indent="0" marL="0">
              <a:lnSpc>
                <a:spcPts val="873"/>
              </a:lnSpc>
              <a:buNone/>
            </a:pPr>
            <a:r>
              <a:rPr lang="en-US" sz="647" dirty="0">
                <a:solidFill>
                  <a:srgbClr val="64748B"/>
                </a:solidFill>
                <a:latin typeface="Carlito" pitchFamily="34" charset="0"/>
                <a:ea typeface="Carlito" pitchFamily="34" charset="-122"/>
                <a:cs typeface="Carlito" pitchFamily="34" charset="-120"/>
              </a:rPr>
              <a:t>Cyber Range: fire attacks with one click</a:t>
            </a:r>
            <a:endParaRPr lang="en-US" sz="647" dirty="0"/>
          </a:p>
        </p:txBody>
      </p:sp>
      <p:sp>
        <p:nvSpPr>
          <p:cNvPr id="19" name="Text 14"/>
          <p:cNvSpPr/>
          <p:nvPr/>
        </p:nvSpPr>
        <p:spPr>
          <a:xfrm>
            <a:off x="3613733" y="3105634"/>
            <a:ext cx="2241798" cy="468027"/>
          </a:xfrm>
          <a:prstGeom prst="roundRect">
            <a:avLst>
              <a:gd name="adj" fmla="val 28492"/>
            </a:avLst>
          </a:prstGeom>
          <a:solidFill>
            <a:srgbClr val="FFFFFF"/>
          </a:solidFill>
          <a:ln w="7144">
            <a:solidFill>
              <a:srgbClr val="DDD6FE"/>
            </a:solidFill>
            <a:prstDash val="solid"/>
          </a:ln>
          <a:effectLst>
            <a:outerShdw sx="100000" sy="100000" kx="0" ky="0" algn="bl" rotWithShape="0" blurRad="152400" dist="38100" dir="5400000">
              <a:srgbClr val="7C3AED">
                <a:alpha val="8000"/>
              </a:srgbClr>
            </a:outerShdw>
          </a:effectLst>
        </p:spPr>
        <p:txBody>
          <a:bodyPr wrap="square" rtlCol="0" anchor="ctr"/>
          <a:lstStyle/>
          <a:p>
            <a:pPr indent="0" marL="0">
              <a:buNone/>
            </a:pPr>
            <a:endParaRPr lang="en-US" dirty="0"/>
          </a:p>
        </p:txBody>
      </p:sp>
      <p:sp>
        <p:nvSpPr>
          <p:cNvPr id="20" name="Text 15"/>
          <p:cNvSpPr/>
          <p:nvPr/>
        </p:nvSpPr>
        <p:spPr>
          <a:xfrm>
            <a:off x="3745892" y="3211004"/>
            <a:ext cx="257175" cy="257175"/>
          </a:xfrm>
          <a:prstGeom prst="roundRect">
            <a:avLst>
              <a:gd name="adj" fmla="val 37037"/>
            </a:avLst>
          </a:prstGeom>
          <a:solidFill>
            <a:srgbClr val="D1FAE5"/>
          </a:solidFill>
          <a:ln/>
        </p:spPr>
        <p:txBody>
          <a:bodyPr wrap="square" rtlCol="0" anchor="ctr"/>
          <a:lstStyle/>
          <a:p>
            <a:pPr indent="0" marL="0">
              <a:buNone/>
            </a:pPr>
            <a:endParaRPr lang="en-US" dirty="0"/>
          </a:p>
        </p:txBody>
      </p:sp>
      <p:sp>
        <p:nvSpPr>
          <p:cNvPr id="21" name="Text 16"/>
          <p:cNvSpPr/>
          <p:nvPr/>
        </p:nvSpPr>
        <p:spPr>
          <a:xfrm>
            <a:off x="3770895" y="3236007"/>
            <a:ext cx="207169" cy="207169"/>
          </a:xfrm>
          <a:prstGeom prst="rect">
            <a:avLst/>
          </a:prstGeom>
          <a:noFill/>
          <a:ln/>
        </p:spPr>
        <p:txBody>
          <a:bodyPr wrap="none" lIns="0" tIns="0" rIns="0" bIns="0" rtlCol="0" anchor="ctr"/>
          <a:lstStyle/>
          <a:p>
            <a:pPr algn="ctr" indent="0" marL="0">
              <a:buNone/>
            </a:pPr>
            <a:r>
              <a:rPr lang="en-US" sz="1406" dirty="0">
                <a:solidFill>
                  <a:srgbClr val="059669"/>
                </a:solidFill>
                <a:latin typeface="Segoe UI Symbol" pitchFamily="34" charset="0"/>
                <a:ea typeface="Segoe UI Symbol" pitchFamily="34" charset="-122"/>
                <a:cs typeface="Segoe UI Symbol" pitchFamily="34" charset="-120"/>
              </a:rPr>
              <a:t>⛨</a:t>
            </a:r>
            <a:endParaRPr lang="en-US" sz="1406" dirty="0"/>
          </a:p>
        </p:txBody>
      </p:sp>
      <p:sp>
        <p:nvSpPr>
          <p:cNvPr id="22" name="Text 17"/>
          <p:cNvSpPr/>
          <p:nvPr/>
        </p:nvSpPr>
        <p:spPr>
          <a:xfrm>
            <a:off x="4088792" y="3209218"/>
            <a:ext cx="1634579" cy="122587"/>
          </a:xfrm>
          <a:prstGeom prst="rect">
            <a:avLst/>
          </a:prstGeom>
          <a:noFill/>
          <a:ln/>
        </p:spPr>
        <p:txBody>
          <a:bodyPr wrap="none" lIns="0" tIns="0" rIns="0" bIns="0" rtlCol="0" anchor="t">
            <a:normAutofit/>
          </a:bodyPr>
          <a:lstStyle/>
          <a:p>
            <a:pPr algn="l" indent="0" marL="0">
              <a:lnSpc>
                <a:spcPts val="1181"/>
              </a:lnSpc>
              <a:buNone/>
            </a:pPr>
            <a:r>
              <a:rPr lang="en-US" sz="800" dirty="0">
                <a:solidFill>
                  <a:srgbClr val="059669"/>
                </a:solidFill>
                <a:latin typeface="Courier New" pitchFamily="34" charset="0"/>
                <a:ea typeface="Courier New" pitchFamily="34" charset="-122"/>
                <a:cs typeface="Courier New" pitchFamily="34" charset="-120"/>
              </a:rPr>
              <a:t>admin → /soc</a:t>
            </a:r>
            <a:endParaRPr lang="en-US" sz="800" dirty="0"/>
          </a:p>
        </p:txBody>
      </p:sp>
      <p:sp>
        <p:nvSpPr>
          <p:cNvPr id="23" name="Text 18"/>
          <p:cNvSpPr/>
          <p:nvPr/>
        </p:nvSpPr>
        <p:spPr>
          <a:xfrm>
            <a:off x="4088792" y="3359237"/>
            <a:ext cx="1732654" cy="110840"/>
          </a:xfrm>
          <a:prstGeom prst="rect">
            <a:avLst/>
          </a:prstGeom>
          <a:noFill/>
          <a:ln/>
        </p:spPr>
        <p:txBody>
          <a:bodyPr wrap="square" lIns="0" tIns="0" rIns="0" bIns="0" rtlCol="0" anchor="t"/>
          <a:lstStyle/>
          <a:p>
            <a:pPr algn="l" indent="0" marL="0">
              <a:lnSpc>
                <a:spcPts val="873"/>
              </a:lnSpc>
              <a:buNone/>
            </a:pPr>
            <a:r>
              <a:rPr lang="en-US" sz="647" dirty="0">
                <a:solidFill>
                  <a:srgbClr val="64748B"/>
                </a:solidFill>
                <a:latin typeface="Carlito" pitchFamily="34" charset="0"/>
                <a:ea typeface="Carlito" pitchFamily="34" charset="-122"/>
                <a:cs typeface="Carlito" pitchFamily="34" charset="-120"/>
              </a:rPr>
              <a:t>Live SOC dashboard with real-time feed</a:t>
            </a:r>
            <a:endParaRPr lang="en-US" sz="647" dirty="0"/>
          </a:p>
        </p:txBody>
      </p:sp>
      <p:sp>
        <p:nvSpPr>
          <p:cNvPr id="24" name="Text 19"/>
          <p:cNvSpPr/>
          <p:nvPr/>
        </p:nvSpPr>
        <p:spPr>
          <a:xfrm>
            <a:off x="5976975" y="3105634"/>
            <a:ext cx="1914748" cy="468027"/>
          </a:xfrm>
          <a:prstGeom prst="roundRect">
            <a:avLst>
              <a:gd name="adj" fmla="val 28492"/>
            </a:avLst>
          </a:prstGeom>
          <a:solidFill>
            <a:srgbClr val="FFFFFF"/>
          </a:solidFill>
          <a:ln w="7144">
            <a:solidFill>
              <a:srgbClr val="DDD6FE"/>
            </a:solidFill>
            <a:prstDash val="solid"/>
          </a:ln>
          <a:effectLst>
            <a:outerShdw sx="100000" sy="100000" kx="0" ky="0" algn="bl" rotWithShape="0" blurRad="152400" dist="38100" dir="5400000">
              <a:srgbClr val="7C3AED">
                <a:alpha val="8000"/>
              </a:srgbClr>
            </a:outerShdw>
          </a:effectLst>
        </p:spPr>
        <p:txBody>
          <a:bodyPr wrap="square" rtlCol="0" anchor="ctr"/>
          <a:lstStyle/>
          <a:p>
            <a:pPr indent="0" marL="0">
              <a:buNone/>
            </a:pPr>
            <a:endParaRPr lang="en-US" dirty="0"/>
          </a:p>
        </p:txBody>
      </p:sp>
      <p:sp>
        <p:nvSpPr>
          <p:cNvPr id="25" name="Text 20"/>
          <p:cNvSpPr/>
          <p:nvPr/>
        </p:nvSpPr>
        <p:spPr>
          <a:xfrm>
            <a:off x="6109134" y="3211004"/>
            <a:ext cx="257175" cy="257175"/>
          </a:xfrm>
          <a:prstGeom prst="roundRect">
            <a:avLst>
              <a:gd name="adj" fmla="val 37037"/>
            </a:avLst>
          </a:prstGeom>
          <a:solidFill>
            <a:srgbClr val="FCE7F3"/>
          </a:solidFill>
          <a:ln/>
        </p:spPr>
        <p:txBody>
          <a:bodyPr wrap="square" rtlCol="0" anchor="ctr"/>
          <a:lstStyle/>
          <a:p>
            <a:pPr indent="0" marL="0">
              <a:buNone/>
            </a:pPr>
            <a:endParaRPr lang="en-US" dirty="0"/>
          </a:p>
        </p:txBody>
      </p:sp>
      <p:sp>
        <p:nvSpPr>
          <p:cNvPr id="26" name="Text 21"/>
          <p:cNvSpPr/>
          <p:nvPr/>
        </p:nvSpPr>
        <p:spPr>
          <a:xfrm>
            <a:off x="6134137" y="3236007"/>
            <a:ext cx="207169" cy="207169"/>
          </a:xfrm>
          <a:prstGeom prst="rect">
            <a:avLst/>
          </a:prstGeom>
          <a:noFill/>
          <a:ln/>
        </p:spPr>
        <p:txBody>
          <a:bodyPr wrap="none" lIns="0" tIns="0" rIns="0" bIns="0" rtlCol="0" anchor="ctr"/>
          <a:lstStyle/>
          <a:p>
            <a:pPr algn="ctr" indent="0" marL="0">
              <a:buNone/>
            </a:pPr>
            <a:r>
              <a:rPr lang="en-US" sz="1406" dirty="0">
                <a:solidFill>
                  <a:srgbClr val="EC4899"/>
                </a:solidFill>
                <a:latin typeface="Segoe UI Symbol" pitchFamily="34" charset="0"/>
                <a:ea typeface="Segoe UI Symbol" pitchFamily="34" charset="-122"/>
                <a:cs typeface="Segoe UI Symbol" pitchFamily="34" charset="-120"/>
              </a:rPr>
              <a:t>⎘</a:t>
            </a:r>
            <a:endParaRPr lang="en-US" sz="1406" dirty="0"/>
          </a:p>
        </p:txBody>
      </p:sp>
      <p:sp>
        <p:nvSpPr>
          <p:cNvPr id="27" name="Text 22"/>
          <p:cNvSpPr/>
          <p:nvPr/>
        </p:nvSpPr>
        <p:spPr>
          <a:xfrm>
            <a:off x="6452034" y="3209218"/>
            <a:ext cx="1307529" cy="122587"/>
          </a:xfrm>
          <a:prstGeom prst="rect">
            <a:avLst/>
          </a:prstGeom>
          <a:noFill/>
          <a:ln/>
        </p:spPr>
        <p:txBody>
          <a:bodyPr wrap="none" lIns="0" tIns="0" rIns="0" bIns="0" rtlCol="0" anchor="t">
            <a:normAutofit/>
          </a:bodyPr>
          <a:lstStyle/>
          <a:p>
            <a:pPr algn="l" indent="0" marL="0">
              <a:lnSpc>
                <a:spcPts val="1181"/>
              </a:lnSpc>
              <a:buNone/>
            </a:pPr>
            <a:r>
              <a:rPr lang="en-US" sz="800" dirty="0">
                <a:solidFill>
                  <a:srgbClr val="EC4899"/>
                </a:solidFill>
                <a:latin typeface="Liberation Sans Narrow" pitchFamily="34" charset="0"/>
                <a:ea typeface="Liberation Sans Narrow" pitchFamily="34" charset="-122"/>
                <a:cs typeface="Liberation Sans Narrow" pitchFamily="34" charset="-120"/>
              </a:rPr>
              <a:t>Brute-force 4×</a:t>
            </a:r>
            <a:endParaRPr lang="en-US" sz="800" dirty="0"/>
          </a:p>
        </p:txBody>
      </p:sp>
      <p:sp>
        <p:nvSpPr>
          <p:cNvPr id="28" name="Text 23"/>
          <p:cNvSpPr/>
          <p:nvPr/>
        </p:nvSpPr>
        <p:spPr>
          <a:xfrm>
            <a:off x="6452034" y="3359237"/>
            <a:ext cx="1385981" cy="110840"/>
          </a:xfrm>
          <a:prstGeom prst="rect">
            <a:avLst/>
          </a:prstGeom>
          <a:noFill/>
          <a:ln/>
        </p:spPr>
        <p:txBody>
          <a:bodyPr wrap="square" lIns="0" tIns="0" rIns="0" bIns="0" rtlCol="0" anchor="t"/>
          <a:lstStyle/>
          <a:p>
            <a:pPr algn="l" indent="0" marL="0">
              <a:lnSpc>
                <a:spcPts val="873"/>
              </a:lnSpc>
              <a:buNone/>
            </a:pPr>
            <a:r>
              <a:rPr lang="en-US" sz="647" dirty="0">
                <a:solidFill>
                  <a:srgbClr val="64748B"/>
                </a:solidFill>
                <a:latin typeface="Carlito" pitchFamily="34" charset="0"/>
                <a:ea typeface="Carlito" pitchFamily="34" charset="-122"/>
                <a:cs typeface="Carlito" pitchFamily="34" charset="-120"/>
              </a:rPr>
              <a:t>Watch the honeypot trap spring</a:t>
            </a:r>
            <a:endParaRPr lang="en-US" sz="647" dirty="0"/>
          </a:p>
        </p:txBody>
      </p:sp>
      <p:sp>
        <p:nvSpPr>
          <p:cNvPr id="29" name="Text 24"/>
          <p:cNvSpPr/>
          <p:nvPr/>
        </p:nvSpPr>
        <p:spPr>
          <a:xfrm>
            <a:off x="571500" y="4604147"/>
            <a:ext cx="8001000" cy="164592"/>
          </a:xfrm>
          <a:prstGeom prst="rect">
            <a:avLst/>
          </a:prstGeom>
          <a:noFill/>
          <a:ln/>
        </p:spPr>
        <p:txBody>
          <a:bodyPr wrap="square" lIns="0" tIns="0" rIns="0" bIns="0" rtlCol="0" anchor="t"/>
          <a:lstStyle/>
          <a:p>
            <a:pPr algn="ctr" indent="0" marL="0">
              <a:lnSpc>
                <a:spcPts val="1097"/>
              </a:lnSpc>
              <a:buNone/>
            </a:pPr>
            <a:r>
              <a:rPr lang="en-US" sz="800" dirty="0">
                <a:solidFill>
                  <a:srgbClr val="94A3B8"/>
                </a:solidFill>
                <a:latin typeface="Carlito" pitchFamily="34" charset="0"/>
                <a:ea typeface="Carlito" pitchFamily="34" charset="-122"/>
                <a:cs typeface="Carlito" pitchFamily="34" charset="-120"/>
              </a:rPr>
              <a:t>DeceptiWAF · Cybersecurity Project · Kalyani University · 2025</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2026-07-23T06:04:56Z</dcterms:created>
  <dcterms:modified xsi:type="dcterms:W3CDTF">2026-07-23T06:04:56Z</dcterms:modified>
</cp:coreProperties>
</file>